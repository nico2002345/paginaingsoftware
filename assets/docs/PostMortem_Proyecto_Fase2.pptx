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1" roundtripDataSignature="AMtx7mj5uwoUqs17jYtS1dAIlW2WYYzk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0CDD4A-6C10-425E-A22F-08132309E51D}">
  <a:tblStyle styleId="{E60CDD4A-6C10-425E-A22F-08132309E51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customschemas.google.com/relationships/presentationmetadata" Target="metadata"/><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8e20dd7a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8e20dd7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8e20dd7aa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8e20dd7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8e20dd7a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8e20dd7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8e20dd7aa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8e20dd7a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8e20dd7aa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8e20dd7a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8e20dd7aa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8e20dd7a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a8e20dd7aa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a8e20dd7a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8e20dd7aa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a8e20dd7a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8e20dd7aa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a8e20dd7a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8e20dd7aa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8e20dd7a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8e20dd7aa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a8e20dd7a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8e20dd7aa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8e20dd7a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a8e20dd7aa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a8e20dd7a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8e20dd7aa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a8e20dd7aa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8e20dd7aa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8e20dd7a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8e20dd7aa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a8e20dd7aa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8e20dd7aa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8e20dd7aa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8e20dd7aa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a8e20dd7a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8e20dd7aa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8e20dd7aa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8e20dd7aa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8e20dd7aa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8e20dd7aa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a8e20dd7aa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8e20dd7aa_0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a8e20dd7aa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8e20dd7aa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a8e20dd7aa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8e20dd7aa_0_1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8e20dd7a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a8e20dd7aa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a8e20dd7a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8e20dd7aa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a8e20dd7a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a8e20dd7aa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a8e20dd7aa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a8e20dd7aa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a8e20dd7aa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a8e20dd7aa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a8e20dd7a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a8e20dd7aa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a8e20dd7a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a8e20dd7aa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a8e20dd7a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a8e20dd7aa_0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a8e20dd7aa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a8e20dd7aa_0_2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a8e20dd7aa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a8e20dd7aa_0_2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a8e20dd7aa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a8e20dd7aa_0_2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a8e20dd7aa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a8e20dd7aa_0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a8e20dd7aa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a8e20dd7aa_0_2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a8e20dd7aa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a8e20dd7aa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a8e20dd7aa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a8e20dd7aa_0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a8e20dd7aa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8e20dd7aa_0_2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a8e20dd7aa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a8e20dd7aa_0_2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a8e20dd7aa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a8e20dd7aa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a8e20dd7aa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91190153f5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91190153f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a8e20dd7aa_0_2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a8e20dd7aa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91190153f5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91190153f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91190153f5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91190153f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91190153f5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91190153f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91190153f5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91190153f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91190153f5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91190153f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91190153f5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91190153f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91190153f5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91190153f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91190153f5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91190153f5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91190153f5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91190153f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91190153f5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91190153f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91190153f5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91190153f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91190153f5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91190153f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91190153f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91190153f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91190153f5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91190153f5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91190153f5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91190153f5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91190153f5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91190153f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91190153f5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91190153f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9c0be0ffa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a9c0be0ff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91190153f5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91190153f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1190153f5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91190153f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2" name="Shape 12"/>
        <p:cNvGrpSpPr/>
        <p:nvPr/>
      </p:nvGrpSpPr>
      <p:grpSpPr>
        <a:xfrm>
          <a:off x="0" y="0"/>
          <a:ext cx="0" cy="0"/>
          <a:chOff x="0" y="0"/>
          <a:chExt cx="0" cy="0"/>
        </a:xfrm>
      </p:grpSpPr>
      <p:pic>
        <p:nvPicPr>
          <p:cNvPr descr="HD-ShadowLong.png" id="13" name="Google Shape;13;p3"/>
          <p:cNvPicPr preferRelativeResize="0"/>
          <p:nvPr/>
        </p:nvPicPr>
        <p:blipFill rotWithShape="1">
          <a:blip r:embed="rId2">
            <a:alphaModFix/>
          </a:blip>
          <a:srcRect b="0" l="0" r="0" t="0"/>
          <a:stretch/>
        </p:blipFill>
        <p:spPr>
          <a:xfrm>
            <a:off x="1" y="4242851"/>
            <a:ext cx="8968084" cy="275942"/>
          </a:xfrm>
          <a:prstGeom prst="rect">
            <a:avLst/>
          </a:prstGeom>
          <a:noFill/>
          <a:ln>
            <a:noFill/>
          </a:ln>
        </p:spPr>
      </p:pic>
      <p:pic>
        <p:nvPicPr>
          <p:cNvPr descr="HD-ShadowShort.png" id="14" name="Google Shape;14;p3"/>
          <p:cNvPicPr preferRelativeResize="0"/>
          <p:nvPr/>
        </p:nvPicPr>
        <p:blipFill rotWithShape="1">
          <a:blip r:embed="rId3">
            <a:alphaModFix/>
          </a:blip>
          <a:srcRect b="0" l="0" r="0" t="0"/>
          <a:stretch/>
        </p:blipFill>
        <p:spPr>
          <a:xfrm>
            <a:off x="9111716" y="4243845"/>
            <a:ext cx="3077108" cy="276940"/>
          </a:xfrm>
          <a:prstGeom prst="rect">
            <a:avLst/>
          </a:prstGeom>
          <a:noFill/>
          <a:ln>
            <a:noFill/>
          </a:ln>
        </p:spPr>
      </p:pic>
      <p:sp>
        <p:nvSpPr>
          <p:cNvPr id="15" name="Google Shape;15;p3"/>
          <p:cNvSpPr/>
          <p:nvPr/>
        </p:nvSpPr>
        <p:spPr>
          <a:xfrm>
            <a:off x="0" y="2590078"/>
            <a:ext cx="8968085" cy="166033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9111715" y="2590078"/>
            <a:ext cx="3077109" cy="166033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ctrTitle"/>
          </p:nvPr>
        </p:nvSpPr>
        <p:spPr>
          <a:xfrm>
            <a:off x="680322" y="2733709"/>
            <a:ext cx="8144134" cy="1373070"/>
          </a:xfrm>
          <a:prstGeom prst="rect">
            <a:avLst/>
          </a:prstGeom>
          <a:noFill/>
          <a:ln>
            <a:noFill/>
          </a:ln>
        </p:spPr>
        <p:txBody>
          <a:bodyPr anchorCtr="0" anchor="b" bIns="45700" lIns="91425" spcFirstLastPara="1" rIns="91425" wrap="square" tIns="45700">
            <a:noAutofit/>
          </a:bodyPr>
          <a:lstStyle>
            <a:lvl1pPr lvl="0" algn="r">
              <a:lnSpc>
                <a:spcPct val="90000"/>
              </a:lnSpc>
              <a:spcBef>
                <a:spcPts val="0"/>
              </a:spcBef>
              <a:spcAft>
                <a:spcPts val="0"/>
              </a:spcAft>
              <a:buClr>
                <a:schemeClr val="lt1"/>
              </a:buClr>
              <a:buSzPts val="5400"/>
              <a:buFont typeface="Trebuchet M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subTitle"/>
          </p:nvPr>
        </p:nvSpPr>
        <p:spPr>
          <a:xfrm>
            <a:off x="680322" y="4394039"/>
            <a:ext cx="8144134" cy="1117687"/>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9" name="Google Shape;19;p3"/>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2" type="sldNum"/>
          </p:nvPr>
        </p:nvSpPr>
        <p:spPr>
          <a:xfrm>
            <a:off x="9255346" y="2750337"/>
            <a:ext cx="1171888" cy="1356442"/>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 name="Shape 22"/>
        <p:cNvGrpSpPr/>
        <p:nvPr/>
      </p:nvGrpSpPr>
      <p:grpSpPr>
        <a:xfrm>
          <a:off x="0" y="0"/>
          <a:ext cx="0" cy="0"/>
          <a:chOff x="0" y="0"/>
          <a:chExt cx="0" cy="0"/>
        </a:xfrm>
      </p:grpSpPr>
      <p:pic>
        <p:nvPicPr>
          <p:cNvPr descr="HD-ShadowLong.png" id="23" name="Google Shape;23;p4"/>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24" name="Google Shape;24;p4"/>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25" name="Google Shape;25;p4"/>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9" name="Google Shape;29;p4"/>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2" name="Shape 32"/>
        <p:cNvGrpSpPr/>
        <p:nvPr/>
      </p:nvGrpSpPr>
      <p:grpSpPr>
        <a:xfrm>
          <a:off x="0" y="0"/>
          <a:ext cx="0" cy="0"/>
          <a:chOff x="0" y="0"/>
          <a:chExt cx="0" cy="0"/>
        </a:xfrm>
      </p:grpSpPr>
      <p:pic>
        <p:nvPicPr>
          <p:cNvPr descr="HD-ShadowLong.png" id="33" name="Google Shape;33;p5"/>
          <p:cNvPicPr preferRelativeResize="0"/>
          <p:nvPr/>
        </p:nvPicPr>
        <p:blipFill rotWithShape="1">
          <a:blip r:embed="rId2">
            <a:alphaModFix/>
          </a:blip>
          <a:srcRect b="0" l="0" r="0" t="0"/>
          <a:stretch/>
        </p:blipFill>
        <p:spPr>
          <a:xfrm>
            <a:off x="-1" y="4086907"/>
            <a:ext cx="10437812" cy="321164"/>
          </a:xfrm>
          <a:prstGeom prst="rect">
            <a:avLst/>
          </a:prstGeom>
          <a:noFill/>
          <a:ln>
            <a:noFill/>
          </a:ln>
        </p:spPr>
      </p:pic>
      <p:pic>
        <p:nvPicPr>
          <p:cNvPr descr="HD-ShadowShort.png" id="34" name="Google Shape;34;p5"/>
          <p:cNvPicPr preferRelativeResize="0"/>
          <p:nvPr/>
        </p:nvPicPr>
        <p:blipFill rotWithShape="1">
          <a:blip r:embed="rId3">
            <a:alphaModFix/>
          </a:blip>
          <a:srcRect b="0" l="0" r="0" t="0"/>
          <a:stretch/>
        </p:blipFill>
        <p:spPr>
          <a:xfrm>
            <a:off x="10585824" y="4087901"/>
            <a:ext cx="1602997" cy="144270"/>
          </a:xfrm>
          <a:prstGeom prst="rect">
            <a:avLst/>
          </a:prstGeom>
          <a:noFill/>
          <a:ln>
            <a:noFill/>
          </a:ln>
        </p:spPr>
      </p:pic>
      <p:sp>
        <p:nvSpPr>
          <p:cNvPr id="35" name="Google Shape;35;p5"/>
          <p:cNvSpPr/>
          <p:nvPr/>
        </p:nvSpPr>
        <p:spPr>
          <a:xfrm>
            <a:off x="-2" y="2726267"/>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a:off x="10585825" y="2726267"/>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txBox="1"/>
          <p:nvPr>
            <p:ph type="title"/>
          </p:nvPr>
        </p:nvSpPr>
        <p:spPr>
          <a:xfrm>
            <a:off x="680322" y="2869895"/>
            <a:ext cx="9613860" cy="109078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ph idx="1" type="body"/>
          </p:nvPr>
        </p:nvSpPr>
        <p:spPr>
          <a:xfrm>
            <a:off x="680322" y="4232171"/>
            <a:ext cx="9613860" cy="170401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000"/>
              <a:buNone/>
              <a:defRPr sz="20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39" name="Google Shape;39;p5"/>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2" type="sldNum"/>
          </p:nvPr>
        </p:nvSpPr>
        <p:spPr>
          <a:xfrm>
            <a:off x="10729455" y="286989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2" name="Shape 42"/>
        <p:cNvGrpSpPr/>
        <p:nvPr/>
      </p:nvGrpSpPr>
      <p:grpSpPr>
        <a:xfrm>
          <a:off x="0" y="0"/>
          <a:ext cx="0" cy="0"/>
          <a:chOff x="0" y="0"/>
          <a:chExt cx="0" cy="0"/>
        </a:xfrm>
      </p:grpSpPr>
      <p:pic>
        <p:nvPicPr>
          <p:cNvPr descr="HD-ShadowLong.png" id="43" name="Google Shape;43;p6"/>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44" name="Google Shape;44;p6"/>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45" name="Google Shape;45;p6"/>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6"/>
          <p:cNvSpPr txBox="1"/>
          <p:nvPr>
            <p:ph idx="1" type="body"/>
          </p:nvPr>
        </p:nvSpPr>
        <p:spPr>
          <a:xfrm>
            <a:off x="680320" y="2336873"/>
            <a:ext cx="4698358"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9" name="Google Shape;49;p6"/>
          <p:cNvSpPr txBox="1"/>
          <p:nvPr>
            <p:ph idx="2" type="body"/>
          </p:nvPr>
        </p:nvSpPr>
        <p:spPr>
          <a:xfrm>
            <a:off x="5594123" y="2336873"/>
            <a:ext cx="4700058"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0" name="Google Shape;50;p6"/>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3" name="Shape 53"/>
        <p:cNvGrpSpPr/>
        <p:nvPr/>
      </p:nvGrpSpPr>
      <p:grpSpPr>
        <a:xfrm>
          <a:off x="0" y="0"/>
          <a:ext cx="0" cy="0"/>
          <a:chOff x="0" y="0"/>
          <a:chExt cx="0" cy="0"/>
        </a:xfrm>
      </p:grpSpPr>
      <p:pic>
        <p:nvPicPr>
          <p:cNvPr descr="HD-ShadowLong.png" id="54" name="Google Shape;54;p7"/>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55" name="Google Shape;55;p7"/>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56" name="Google Shape;56;p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txBox="1"/>
          <p:nvPr>
            <p:ph type="title"/>
          </p:nvPr>
        </p:nvSpPr>
        <p:spPr>
          <a:xfrm>
            <a:off x="680319" y="753229"/>
            <a:ext cx="9613863" cy="108093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7"/>
          <p:cNvSpPr txBox="1"/>
          <p:nvPr>
            <p:ph idx="1" type="body"/>
          </p:nvPr>
        </p:nvSpPr>
        <p:spPr>
          <a:xfrm>
            <a:off x="906350" y="2336873"/>
            <a:ext cx="4472327" cy="69313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60" name="Google Shape;60;p7"/>
          <p:cNvSpPr txBox="1"/>
          <p:nvPr>
            <p:ph idx="2" type="body"/>
          </p:nvPr>
        </p:nvSpPr>
        <p:spPr>
          <a:xfrm>
            <a:off x="680322" y="3030008"/>
            <a:ext cx="4698355" cy="290617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1" name="Google Shape;61;p7"/>
          <p:cNvSpPr txBox="1"/>
          <p:nvPr>
            <p:ph idx="3" type="body"/>
          </p:nvPr>
        </p:nvSpPr>
        <p:spPr>
          <a:xfrm>
            <a:off x="5820154" y="2336873"/>
            <a:ext cx="4474028" cy="69207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62" name="Google Shape;62;p7"/>
          <p:cNvSpPr txBox="1"/>
          <p:nvPr>
            <p:ph idx="4" type="body"/>
          </p:nvPr>
        </p:nvSpPr>
        <p:spPr>
          <a:xfrm>
            <a:off x="5594123" y="3030008"/>
            <a:ext cx="4700059" cy="290617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3" name="Google Shape;63;p7"/>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7"/>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6" name="Shape 66"/>
        <p:cNvGrpSpPr/>
        <p:nvPr/>
      </p:nvGrpSpPr>
      <p:grpSpPr>
        <a:xfrm>
          <a:off x="0" y="0"/>
          <a:ext cx="0" cy="0"/>
          <a:chOff x="0" y="0"/>
          <a:chExt cx="0" cy="0"/>
        </a:xfrm>
      </p:grpSpPr>
      <p:pic>
        <p:nvPicPr>
          <p:cNvPr descr="HD-ShadowLong.png" id="67" name="Google Shape;67;p8"/>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68" name="Google Shape;68;p8"/>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69" name="Google Shape;69;p8"/>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8"/>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8"/>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8"/>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8"/>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75" name="Shape 75"/>
        <p:cNvGrpSpPr/>
        <p:nvPr/>
      </p:nvGrpSpPr>
      <p:grpSpPr>
        <a:xfrm>
          <a:off x="0" y="0"/>
          <a:ext cx="0" cy="0"/>
          <a:chOff x="0" y="0"/>
          <a:chExt cx="0" cy="0"/>
        </a:xfrm>
      </p:grpSpPr>
      <p:pic>
        <p:nvPicPr>
          <p:cNvPr descr="HD-ShadowShort.png" id="76" name="Google Shape;76;p9"/>
          <p:cNvPicPr preferRelativeResize="0"/>
          <p:nvPr/>
        </p:nvPicPr>
        <p:blipFill rotWithShape="1">
          <a:blip r:embed="rId2">
            <a:alphaModFix/>
          </a:blip>
          <a:srcRect b="0" l="0" r="0" t="0"/>
          <a:stretch/>
        </p:blipFill>
        <p:spPr>
          <a:xfrm>
            <a:off x="10585826" y="1971234"/>
            <a:ext cx="1602997" cy="144270"/>
          </a:xfrm>
          <a:prstGeom prst="rect">
            <a:avLst/>
          </a:prstGeom>
          <a:noFill/>
          <a:ln>
            <a:noFill/>
          </a:ln>
        </p:spPr>
      </p:pic>
      <p:sp>
        <p:nvSpPr>
          <p:cNvPr id="77" name="Google Shape;77;p9"/>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81" name="Shape 81"/>
        <p:cNvGrpSpPr/>
        <p:nvPr/>
      </p:nvGrpSpPr>
      <p:grpSpPr>
        <a:xfrm>
          <a:off x="0" y="0"/>
          <a:ext cx="0" cy="0"/>
          <a:chOff x="0" y="0"/>
          <a:chExt cx="0" cy="0"/>
        </a:xfrm>
      </p:grpSpPr>
      <p:pic>
        <p:nvPicPr>
          <p:cNvPr descr="HD-ShadowLong.png" id="82" name="Google Shape;82;p10"/>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83" name="Google Shape;83;p10"/>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84" name="Google Shape;84;p10"/>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0"/>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0"/>
          <p:cNvSpPr txBox="1"/>
          <p:nvPr>
            <p:ph type="title"/>
          </p:nvPr>
        </p:nvSpPr>
        <p:spPr>
          <a:xfrm>
            <a:off x="680321" y="753227"/>
            <a:ext cx="9613859" cy="10809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txBox="1"/>
          <p:nvPr>
            <p:ph idx="1" type="body"/>
          </p:nvPr>
        </p:nvSpPr>
        <p:spPr>
          <a:xfrm>
            <a:off x="4685846" y="2336873"/>
            <a:ext cx="5608336" cy="35993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8" name="Google Shape;88;p10"/>
          <p:cNvSpPr txBox="1"/>
          <p:nvPr>
            <p:ph idx="2" type="body"/>
          </p:nvPr>
        </p:nvSpPr>
        <p:spPr>
          <a:xfrm>
            <a:off x="680322" y="2336872"/>
            <a:ext cx="3790078" cy="359931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10"/>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92" name="Shape 92"/>
        <p:cNvGrpSpPr/>
        <p:nvPr/>
      </p:nvGrpSpPr>
      <p:grpSpPr>
        <a:xfrm>
          <a:off x="0" y="0"/>
          <a:ext cx="0" cy="0"/>
          <a:chOff x="0" y="0"/>
          <a:chExt cx="0" cy="0"/>
        </a:xfrm>
      </p:grpSpPr>
      <p:pic>
        <p:nvPicPr>
          <p:cNvPr descr="HD-ShadowLong.png" id="93" name="Google Shape;93;p11"/>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94" name="Google Shape;94;p11"/>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95" name="Google Shape;95;p11"/>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txBox="1"/>
          <p:nvPr>
            <p:ph type="title"/>
          </p:nvPr>
        </p:nvSpPr>
        <p:spPr>
          <a:xfrm>
            <a:off x="680323" y="753228"/>
            <a:ext cx="9613857"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1"/>
          <p:cNvSpPr/>
          <p:nvPr>
            <p:ph idx="2" type="pic"/>
          </p:nvPr>
        </p:nvSpPr>
        <p:spPr>
          <a:xfrm>
            <a:off x="4868333" y="2336874"/>
            <a:ext cx="5425849" cy="3599312"/>
          </a:xfrm>
          <a:prstGeom prst="rect">
            <a:avLst/>
          </a:prstGeom>
          <a:noFill/>
          <a:ln>
            <a:noFill/>
          </a:ln>
          <a:effectLst>
            <a:outerShdw blurRad="76200" rotWithShape="0" algn="tl" dir="5040000" dist="63500">
              <a:srgbClr val="000000">
                <a:alpha val="40784"/>
              </a:srgbClr>
            </a:outerShdw>
          </a:effectLst>
        </p:spPr>
      </p:sp>
      <p:sp>
        <p:nvSpPr>
          <p:cNvPr id="99" name="Google Shape;99;p11"/>
          <p:cNvSpPr txBox="1"/>
          <p:nvPr>
            <p:ph idx="1" type="body"/>
          </p:nvPr>
        </p:nvSpPr>
        <p:spPr>
          <a:xfrm>
            <a:off x="680323" y="2336873"/>
            <a:ext cx="3876256" cy="359931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00" name="Google Shape;100;p11"/>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1"/>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1"/>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103" name="Shape 103"/>
        <p:cNvGrpSpPr/>
        <p:nvPr/>
      </p:nvGrpSpPr>
      <p:grpSpPr>
        <a:xfrm>
          <a:off x="0" y="0"/>
          <a:ext cx="0" cy="0"/>
          <a:chOff x="0" y="0"/>
          <a:chExt cx="0" cy="0"/>
        </a:xfrm>
      </p:grpSpPr>
      <p:pic>
        <p:nvPicPr>
          <p:cNvPr descr="HD-ShadowLong.png" id="104" name="Google Shape;104;p12"/>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05" name="Google Shape;105;p12"/>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06" name="Google Shape;106;p12"/>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2"/>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2"/>
          <p:cNvSpPr txBox="1"/>
          <p:nvPr>
            <p:ph type="title"/>
          </p:nvPr>
        </p:nvSpPr>
        <p:spPr>
          <a:xfrm>
            <a:off x="680322" y="4711616"/>
            <a:ext cx="9613859" cy="45305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400"/>
              <a:buFont typeface="Trebuchet M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 name="Google Shape;109;p12"/>
          <p:cNvSpPr/>
          <p:nvPr>
            <p:ph idx="2" type="pic"/>
          </p:nvPr>
        </p:nvSpPr>
        <p:spPr>
          <a:xfrm>
            <a:off x="680322" y="609597"/>
            <a:ext cx="9613859" cy="3589575"/>
          </a:xfrm>
          <a:prstGeom prst="rect">
            <a:avLst/>
          </a:prstGeom>
          <a:noFill/>
          <a:ln>
            <a:noFill/>
          </a:ln>
          <a:effectLst>
            <a:outerShdw blurRad="76200" rotWithShape="0" algn="tl" dir="5040000" dist="63500">
              <a:srgbClr val="000000">
                <a:alpha val="40784"/>
              </a:srgbClr>
            </a:outerShdw>
          </a:effectLst>
        </p:spPr>
      </p:sp>
      <p:sp>
        <p:nvSpPr>
          <p:cNvPr id="110" name="Google Shape;110;p12"/>
          <p:cNvSpPr txBox="1"/>
          <p:nvPr>
            <p:ph idx="1" type="body"/>
          </p:nvPr>
        </p:nvSpPr>
        <p:spPr>
          <a:xfrm>
            <a:off x="680319" y="5169583"/>
            <a:ext cx="9613862" cy="62297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1" name="Google Shape;111;p12"/>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2"/>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2"/>
          <p:cNvSpPr txBox="1"/>
          <p:nvPr>
            <p:ph idx="12" type="sldNum"/>
          </p:nvPr>
        </p:nvSpPr>
        <p:spPr>
          <a:xfrm>
            <a:off x="10729455" y="4711309"/>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114" name="Shape 114"/>
        <p:cNvGrpSpPr/>
        <p:nvPr/>
      </p:nvGrpSpPr>
      <p:grpSpPr>
        <a:xfrm>
          <a:off x="0" y="0"/>
          <a:ext cx="0" cy="0"/>
          <a:chOff x="0" y="0"/>
          <a:chExt cx="0" cy="0"/>
        </a:xfrm>
      </p:grpSpPr>
      <p:pic>
        <p:nvPicPr>
          <p:cNvPr descr="HD-ShadowLong.png" id="115" name="Google Shape;115;p13"/>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16" name="Google Shape;116;p13"/>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17" name="Google Shape;117;p13"/>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txBox="1"/>
          <p:nvPr>
            <p:ph type="title"/>
          </p:nvPr>
        </p:nvSpPr>
        <p:spPr>
          <a:xfrm>
            <a:off x="680322" y="609597"/>
            <a:ext cx="9613858" cy="35927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13"/>
          <p:cNvSpPr txBox="1"/>
          <p:nvPr>
            <p:ph idx="1" type="body"/>
          </p:nvPr>
        </p:nvSpPr>
        <p:spPr>
          <a:xfrm>
            <a:off x="680322" y="4711615"/>
            <a:ext cx="9613859" cy="10907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21" name="Google Shape;121;p13"/>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13"/>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3"/>
          <p:cNvSpPr txBox="1"/>
          <p:nvPr>
            <p:ph idx="12" type="sldNum"/>
          </p:nvPr>
        </p:nvSpPr>
        <p:spPr>
          <a:xfrm>
            <a:off x="10729455" y="471161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124" name="Shape 124"/>
        <p:cNvGrpSpPr/>
        <p:nvPr/>
      </p:nvGrpSpPr>
      <p:grpSpPr>
        <a:xfrm>
          <a:off x="0" y="0"/>
          <a:ext cx="0" cy="0"/>
          <a:chOff x="0" y="0"/>
          <a:chExt cx="0" cy="0"/>
        </a:xfrm>
      </p:grpSpPr>
      <p:pic>
        <p:nvPicPr>
          <p:cNvPr descr="HD-ShadowLong.png" id="125" name="Google Shape;125;p14"/>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26" name="Google Shape;126;p14"/>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27" name="Google Shape;127;p14"/>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txBox="1"/>
          <p:nvPr>
            <p:ph type="title"/>
          </p:nvPr>
        </p:nvSpPr>
        <p:spPr>
          <a:xfrm>
            <a:off x="1127856" y="609598"/>
            <a:ext cx="8718877" cy="30360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14"/>
          <p:cNvSpPr txBox="1"/>
          <p:nvPr>
            <p:ph idx="1" type="body"/>
          </p:nvPr>
        </p:nvSpPr>
        <p:spPr>
          <a:xfrm>
            <a:off x="1402288" y="3653379"/>
            <a:ext cx="815657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1" name="Google Shape;131;p14"/>
          <p:cNvSpPr txBox="1"/>
          <p:nvPr>
            <p:ph idx="2" type="body"/>
          </p:nvPr>
        </p:nvSpPr>
        <p:spPr>
          <a:xfrm>
            <a:off x="680322" y="4711615"/>
            <a:ext cx="9613859" cy="10907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2" name="Google Shape;132;p14"/>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4"/>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txBox="1"/>
          <p:nvPr>
            <p:ph idx="12" type="sldNum"/>
          </p:nvPr>
        </p:nvSpPr>
        <p:spPr>
          <a:xfrm>
            <a:off x="10729455" y="470992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
        <p:nvSpPr>
          <p:cNvPr id="135" name="Google Shape;135;p14"/>
          <p:cNvSpPr txBox="1"/>
          <p:nvPr/>
        </p:nvSpPr>
        <p:spPr>
          <a:xfrm>
            <a:off x="583572" y="74811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7200"/>
              <a:buFont typeface="Trebuchet MS"/>
              <a:buNone/>
            </a:pPr>
            <a:r>
              <a:rPr b="0" i="0" lang="es-CO" sz="7200" u="none" cap="none" strike="noStrike">
                <a:solidFill>
                  <a:schemeClr val="lt1"/>
                </a:solidFill>
                <a:latin typeface="Trebuchet MS"/>
                <a:ea typeface="Trebuchet MS"/>
                <a:cs typeface="Trebuchet MS"/>
                <a:sym typeface="Trebuchet MS"/>
              </a:rPr>
              <a:t>“</a:t>
            </a:r>
            <a:endParaRPr/>
          </a:p>
        </p:txBody>
      </p:sp>
      <p:sp>
        <p:nvSpPr>
          <p:cNvPr id="136" name="Google Shape;136;p14"/>
          <p:cNvSpPr txBox="1"/>
          <p:nvPr/>
        </p:nvSpPr>
        <p:spPr>
          <a:xfrm>
            <a:off x="9662809" y="3033524"/>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7200"/>
              <a:buFont typeface="Trebuchet MS"/>
              <a:buNone/>
            </a:pPr>
            <a:r>
              <a:rPr b="0" i="0" lang="es-CO" sz="7200" u="none" cap="none" strike="noStrike">
                <a:solidFill>
                  <a:schemeClr val="lt1"/>
                </a:solidFill>
                <a:latin typeface="Trebuchet MS"/>
                <a:ea typeface="Trebuchet MS"/>
                <a:cs typeface="Trebuchet MS"/>
                <a:sym typeface="Trebuchet MS"/>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37" name="Shape 137"/>
        <p:cNvGrpSpPr/>
        <p:nvPr/>
      </p:nvGrpSpPr>
      <p:grpSpPr>
        <a:xfrm>
          <a:off x="0" y="0"/>
          <a:ext cx="0" cy="0"/>
          <a:chOff x="0" y="0"/>
          <a:chExt cx="0" cy="0"/>
        </a:xfrm>
      </p:grpSpPr>
      <p:pic>
        <p:nvPicPr>
          <p:cNvPr descr="HD-ShadowLong.png" id="138" name="Google Shape;138;p15"/>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39" name="Google Shape;139;p15"/>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40" name="Google Shape;140;p15"/>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5"/>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5"/>
          <p:cNvSpPr txBox="1"/>
          <p:nvPr>
            <p:ph type="title"/>
          </p:nvPr>
        </p:nvSpPr>
        <p:spPr>
          <a:xfrm>
            <a:off x="680319" y="4711615"/>
            <a:ext cx="9613862" cy="5885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15"/>
          <p:cNvSpPr txBox="1"/>
          <p:nvPr>
            <p:ph idx="1" type="body"/>
          </p:nvPr>
        </p:nvSpPr>
        <p:spPr>
          <a:xfrm>
            <a:off x="680320" y="5300149"/>
            <a:ext cx="9613862" cy="50225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44" name="Google Shape;144;p15"/>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15"/>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5"/>
          <p:cNvSpPr txBox="1"/>
          <p:nvPr>
            <p:ph idx="12" type="sldNum"/>
          </p:nvPr>
        </p:nvSpPr>
        <p:spPr>
          <a:xfrm>
            <a:off x="10729455" y="470992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3">
  <p:cSld name="Columna 3">
    <p:spTree>
      <p:nvGrpSpPr>
        <p:cNvPr id="147" name="Shape 147"/>
        <p:cNvGrpSpPr/>
        <p:nvPr/>
      </p:nvGrpSpPr>
      <p:grpSpPr>
        <a:xfrm>
          <a:off x="0" y="0"/>
          <a:ext cx="0" cy="0"/>
          <a:chOff x="0" y="0"/>
          <a:chExt cx="0" cy="0"/>
        </a:xfrm>
      </p:grpSpPr>
      <p:pic>
        <p:nvPicPr>
          <p:cNvPr descr="HD-ShadowLong.png" id="148" name="Google Shape;148;p16"/>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49" name="Google Shape;149;p16"/>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50" name="Google Shape;150;p16"/>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txBox="1"/>
          <p:nvPr>
            <p:ph type="title"/>
          </p:nvPr>
        </p:nvSpPr>
        <p:spPr>
          <a:xfrm>
            <a:off x="669222" y="753228"/>
            <a:ext cx="9624960"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16"/>
          <p:cNvSpPr txBox="1"/>
          <p:nvPr>
            <p:ph idx="1" type="body"/>
          </p:nvPr>
        </p:nvSpPr>
        <p:spPr>
          <a:xfrm>
            <a:off x="660946" y="2336873"/>
            <a:ext cx="3070034"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54" name="Google Shape;154;p16"/>
          <p:cNvSpPr txBox="1"/>
          <p:nvPr>
            <p:ph idx="2" type="body"/>
          </p:nvPr>
        </p:nvSpPr>
        <p:spPr>
          <a:xfrm>
            <a:off x="680322" y="3022673"/>
            <a:ext cx="3049702"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55" name="Google Shape;155;p16"/>
          <p:cNvSpPr txBox="1"/>
          <p:nvPr>
            <p:ph idx="3" type="body"/>
          </p:nvPr>
        </p:nvSpPr>
        <p:spPr>
          <a:xfrm>
            <a:off x="3956025" y="2336873"/>
            <a:ext cx="3063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56" name="Google Shape;156;p16"/>
          <p:cNvSpPr txBox="1"/>
          <p:nvPr>
            <p:ph idx="4" type="body"/>
          </p:nvPr>
        </p:nvSpPr>
        <p:spPr>
          <a:xfrm>
            <a:off x="3945470" y="3022673"/>
            <a:ext cx="3063240"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57" name="Google Shape;157;p16"/>
          <p:cNvSpPr txBox="1"/>
          <p:nvPr>
            <p:ph idx="5" type="body"/>
          </p:nvPr>
        </p:nvSpPr>
        <p:spPr>
          <a:xfrm>
            <a:off x="7224156" y="2336873"/>
            <a:ext cx="307002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58" name="Google Shape;158;p16"/>
          <p:cNvSpPr txBox="1"/>
          <p:nvPr>
            <p:ph idx="6" type="body"/>
          </p:nvPr>
        </p:nvSpPr>
        <p:spPr>
          <a:xfrm>
            <a:off x="7224156" y="3022673"/>
            <a:ext cx="3070025"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59" name="Google Shape;159;p16"/>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16"/>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16"/>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a de imagen 3">
  <p:cSld name="Columna de imagen 3">
    <p:spTree>
      <p:nvGrpSpPr>
        <p:cNvPr id="162" name="Shape 162"/>
        <p:cNvGrpSpPr/>
        <p:nvPr/>
      </p:nvGrpSpPr>
      <p:grpSpPr>
        <a:xfrm>
          <a:off x="0" y="0"/>
          <a:ext cx="0" cy="0"/>
          <a:chOff x="0" y="0"/>
          <a:chExt cx="0" cy="0"/>
        </a:xfrm>
      </p:grpSpPr>
      <p:pic>
        <p:nvPicPr>
          <p:cNvPr descr="HD-ShadowLong.png" id="163" name="Google Shape;163;p17"/>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64" name="Google Shape;164;p17"/>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65" name="Google Shape;165;p1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7"/>
          <p:cNvSpPr txBox="1"/>
          <p:nvPr>
            <p:ph type="title"/>
          </p:nvPr>
        </p:nvSpPr>
        <p:spPr>
          <a:xfrm>
            <a:off x="680322" y="753228"/>
            <a:ext cx="9613860"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17"/>
          <p:cNvSpPr txBox="1"/>
          <p:nvPr>
            <p:ph idx="1" type="body"/>
          </p:nvPr>
        </p:nvSpPr>
        <p:spPr>
          <a:xfrm>
            <a:off x="680318" y="4297503"/>
            <a:ext cx="304970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69" name="Google Shape;169;p17"/>
          <p:cNvSpPr/>
          <p:nvPr>
            <p:ph idx="2" type="pic"/>
          </p:nvPr>
        </p:nvSpPr>
        <p:spPr>
          <a:xfrm>
            <a:off x="680318" y="2336873"/>
            <a:ext cx="3049705"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0" name="Google Shape;170;p17"/>
          <p:cNvSpPr txBox="1"/>
          <p:nvPr>
            <p:ph idx="3" type="body"/>
          </p:nvPr>
        </p:nvSpPr>
        <p:spPr>
          <a:xfrm>
            <a:off x="680318" y="4873765"/>
            <a:ext cx="3049705"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1" name="Google Shape;171;p17"/>
          <p:cNvSpPr txBox="1"/>
          <p:nvPr>
            <p:ph idx="4" type="body"/>
          </p:nvPr>
        </p:nvSpPr>
        <p:spPr>
          <a:xfrm>
            <a:off x="3945471" y="4297503"/>
            <a:ext cx="3063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2" name="Google Shape;172;p17"/>
          <p:cNvSpPr/>
          <p:nvPr>
            <p:ph idx="5" type="pic"/>
          </p:nvPr>
        </p:nvSpPr>
        <p:spPr>
          <a:xfrm>
            <a:off x="3945470" y="2336873"/>
            <a:ext cx="3063240"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3" name="Google Shape;173;p17"/>
          <p:cNvSpPr txBox="1"/>
          <p:nvPr>
            <p:ph idx="6" type="body"/>
          </p:nvPr>
        </p:nvSpPr>
        <p:spPr>
          <a:xfrm>
            <a:off x="3944117" y="4873764"/>
            <a:ext cx="3067297"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4" name="Google Shape;174;p17"/>
          <p:cNvSpPr txBox="1"/>
          <p:nvPr>
            <p:ph idx="7" type="body"/>
          </p:nvPr>
        </p:nvSpPr>
        <p:spPr>
          <a:xfrm>
            <a:off x="7230678" y="4297503"/>
            <a:ext cx="306350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5" name="Google Shape;175;p17"/>
          <p:cNvSpPr/>
          <p:nvPr>
            <p:ph idx="8" type="pic"/>
          </p:nvPr>
        </p:nvSpPr>
        <p:spPr>
          <a:xfrm>
            <a:off x="7230677" y="2336873"/>
            <a:ext cx="3063505"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6" name="Google Shape;176;p17"/>
          <p:cNvSpPr txBox="1"/>
          <p:nvPr>
            <p:ph idx="9" type="body"/>
          </p:nvPr>
        </p:nvSpPr>
        <p:spPr>
          <a:xfrm>
            <a:off x="7230553" y="4873762"/>
            <a:ext cx="3067563"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7" name="Google Shape;177;p17"/>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17"/>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17"/>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80" name="Shape 180"/>
        <p:cNvGrpSpPr/>
        <p:nvPr/>
      </p:nvGrpSpPr>
      <p:grpSpPr>
        <a:xfrm>
          <a:off x="0" y="0"/>
          <a:ext cx="0" cy="0"/>
          <a:chOff x="0" y="0"/>
          <a:chExt cx="0" cy="0"/>
        </a:xfrm>
      </p:grpSpPr>
      <p:pic>
        <p:nvPicPr>
          <p:cNvPr descr="HD-ShadowLong.png" id="181" name="Google Shape;181;p18"/>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82" name="Google Shape;182;p18"/>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83" name="Google Shape;183;p18"/>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8"/>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3600"/>
              <a:buFont typeface="Trebuchet M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18"/>
          <p:cNvSpPr txBox="1"/>
          <p:nvPr>
            <p:ph idx="1" type="body"/>
          </p:nvPr>
        </p:nvSpPr>
        <p:spPr>
          <a:xfrm rot="5400000">
            <a:off x="3687594" y="-670400"/>
            <a:ext cx="3599316" cy="961386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87" name="Google Shape;187;p18"/>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8"/>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18"/>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90" name="Shape 190"/>
        <p:cNvGrpSpPr/>
        <p:nvPr/>
      </p:nvGrpSpPr>
      <p:grpSpPr>
        <a:xfrm>
          <a:off x="0" y="0"/>
          <a:ext cx="0" cy="0"/>
          <a:chOff x="0" y="0"/>
          <a:chExt cx="0" cy="0"/>
        </a:xfrm>
      </p:grpSpPr>
      <p:sp>
        <p:nvSpPr>
          <p:cNvPr id="191" name="Google Shape;191;p19"/>
          <p:cNvSpPr/>
          <p:nvPr/>
        </p:nvSpPr>
        <p:spPr>
          <a:xfrm rot="5400000">
            <a:off x="8116207" y="1869395"/>
            <a:ext cx="5106988"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rot="5400000">
            <a:off x="9868202" y="5372403"/>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
          <p:cNvSpPr txBox="1"/>
          <p:nvPr>
            <p:ph type="title"/>
          </p:nvPr>
        </p:nvSpPr>
        <p:spPr>
          <a:xfrm rot="5400000">
            <a:off x="8489252" y="2249576"/>
            <a:ext cx="4353760" cy="1073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19"/>
          <p:cNvSpPr txBox="1"/>
          <p:nvPr>
            <p:ph idx="1" type="body"/>
          </p:nvPr>
        </p:nvSpPr>
        <p:spPr>
          <a:xfrm rot="5400000">
            <a:off x="2452030" y="-1162110"/>
            <a:ext cx="5326589" cy="88700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5" name="Google Shape;195;p19"/>
          <p:cNvSpPr txBox="1"/>
          <p:nvPr>
            <p:ph idx="10" type="dt"/>
          </p:nvPr>
        </p:nvSpPr>
        <p:spPr>
          <a:xfrm>
            <a:off x="6807126"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19"/>
          <p:cNvSpPr txBox="1"/>
          <p:nvPr>
            <p:ph idx="11" type="ftr"/>
          </p:nvPr>
        </p:nvSpPr>
        <p:spPr>
          <a:xfrm>
            <a:off x="680321" y="5936188"/>
            <a:ext cx="61268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19"/>
          <p:cNvSpPr txBox="1"/>
          <p:nvPr>
            <p:ph idx="12" type="sldNum"/>
          </p:nvPr>
        </p:nvSpPr>
        <p:spPr>
          <a:xfrm>
            <a:off x="10097550" y="5398633"/>
            <a:ext cx="1154151" cy="1090789"/>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b="0" i="0" sz="3600" u="none" cap="none" strike="noStrike">
                <a:solidFill>
                  <a:schemeClr val="lt1"/>
                </a:solidFill>
                <a:latin typeface="Trebuchet MS"/>
                <a:ea typeface="Trebuchet MS"/>
                <a:cs typeface="Trebuchet MS"/>
                <a:sym typeface="Trebuchet MS"/>
              </a:defRPr>
            </a:lvl1pPr>
            <a:lvl2pPr indent="0" lvl="1" marL="0" algn="ctr">
              <a:spcBef>
                <a:spcPts val="0"/>
              </a:spcBef>
              <a:buNone/>
              <a:defRPr b="0" i="0" sz="3600" u="none" cap="none" strike="noStrike">
                <a:solidFill>
                  <a:schemeClr val="lt1"/>
                </a:solidFill>
                <a:latin typeface="Trebuchet MS"/>
                <a:ea typeface="Trebuchet MS"/>
                <a:cs typeface="Trebuchet MS"/>
                <a:sym typeface="Trebuchet MS"/>
              </a:defRPr>
            </a:lvl2pPr>
            <a:lvl3pPr indent="0" lvl="2" marL="0" algn="ctr">
              <a:spcBef>
                <a:spcPts val="0"/>
              </a:spcBef>
              <a:buNone/>
              <a:defRPr b="0" i="0" sz="3600" u="none" cap="none" strike="noStrike">
                <a:solidFill>
                  <a:schemeClr val="lt1"/>
                </a:solidFill>
                <a:latin typeface="Trebuchet MS"/>
                <a:ea typeface="Trebuchet MS"/>
                <a:cs typeface="Trebuchet MS"/>
                <a:sym typeface="Trebuchet MS"/>
              </a:defRPr>
            </a:lvl3pPr>
            <a:lvl4pPr indent="0" lvl="3" marL="0" algn="ctr">
              <a:spcBef>
                <a:spcPts val="0"/>
              </a:spcBef>
              <a:buNone/>
              <a:defRPr b="0" i="0" sz="3600" u="none" cap="none" strike="noStrike">
                <a:solidFill>
                  <a:schemeClr val="lt1"/>
                </a:solidFill>
                <a:latin typeface="Trebuchet MS"/>
                <a:ea typeface="Trebuchet MS"/>
                <a:cs typeface="Trebuchet MS"/>
                <a:sym typeface="Trebuchet MS"/>
              </a:defRPr>
            </a:lvl4pPr>
            <a:lvl5pPr indent="0" lvl="4" marL="0" algn="ctr">
              <a:spcBef>
                <a:spcPts val="0"/>
              </a:spcBef>
              <a:buNone/>
              <a:defRPr b="0" i="0" sz="3600" u="none" cap="none" strike="noStrike">
                <a:solidFill>
                  <a:schemeClr val="lt1"/>
                </a:solidFill>
                <a:latin typeface="Trebuchet MS"/>
                <a:ea typeface="Trebuchet MS"/>
                <a:cs typeface="Trebuchet MS"/>
                <a:sym typeface="Trebuchet MS"/>
              </a:defRPr>
            </a:lvl5pPr>
            <a:lvl6pPr indent="0" lvl="5" marL="0" algn="ctr">
              <a:spcBef>
                <a:spcPts val="0"/>
              </a:spcBef>
              <a:buNone/>
              <a:defRPr b="0" i="0" sz="3600" u="none" cap="none" strike="noStrike">
                <a:solidFill>
                  <a:schemeClr val="lt1"/>
                </a:solidFill>
                <a:latin typeface="Trebuchet MS"/>
                <a:ea typeface="Trebuchet MS"/>
                <a:cs typeface="Trebuchet MS"/>
                <a:sym typeface="Trebuchet MS"/>
              </a:defRPr>
            </a:lvl6pPr>
            <a:lvl7pPr indent="0" lvl="6" marL="0" algn="ctr">
              <a:spcBef>
                <a:spcPts val="0"/>
              </a:spcBef>
              <a:buNone/>
              <a:defRPr b="0" i="0" sz="3600" u="none" cap="none" strike="noStrike">
                <a:solidFill>
                  <a:schemeClr val="lt1"/>
                </a:solidFill>
                <a:latin typeface="Trebuchet MS"/>
                <a:ea typeface="Trebuchet MS"/>
                <a:cs typeface="Trebuchet MS"/>
                <a:sym typeface="Trebuchet MS"/>
              </a:defRPr>
            </a:lvl7pPr>
            <a:lvl8pPr indent="0" lvl="7" marL="0" algn="ctr">
              <a:spcBef>
                <a:spcPts val="0"/>
              </a:spcBef>
              <a:buNone/>
              <a:defRPr b="0" i="0" sz="3600" u="none" cap="none" strike="noStrike">
                <a:solidFill>
                  <a:schemeClr val="lt1"/>
                </a:solidFill>
                <a:latin typeface="Trebuchet MS"/>
                <a:ea typeface="Trebuchet MS"/>
                <a:cs typeface="Trebuchet MS"/>
                <a:sym typeface="Trebuchet MS"/>
              </a:defRPr>
            </a:lvl8pPr>
            <a:lvl9pPr indent="0" lvl="8" marL="0" algn="ctr">
              <a:spcBef>
                <a:spcPts val="0"/>
              </a:spcBef>
              <a:buNone/>
              <a:defRPr b="0" i="0" sz="3600" u="none" cap="none" strike="noStrike">
                <a:solidFill>
                  <a:schemeClr val="lt1"/>
                </a:solidFill>
                <a:latin typeface="Trebuchet MS"/>
                <a:ea typeface="Trebuchet MS"/>
                <a:cs typeface="Trebuchet MS"/>
                <a:sym typeface="Trebuchet MS"/>
              </a:defRPr>
            </a:lvl9pPr>
          </a:lstStyle>
          <a:p>
            <a:pPr indent="0" lvl="0" marL="0" rtl="0" algn="ct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5" name="Shape 5"/>
        <p:cNvGrpSpPr/>
        <p:nvPr/>
      </p:nvGrpSpPr>
      <p:grpSpPr>
        <a:xfrm>
          <a:off x="0" y="0"/>
          <a:ext cx="0" cy="0"/>
          <a:chOff x="0" y="0"/>
          <a:chExt cx="0" cy="0"/>
        </a:xfrm>
      </p:grpSpPr>
      <p:pic>
        <p:nvPicPr>
          <p:cNvPr descr="hashOverlay-FullResolve.png" id="6" name="Google Shape;6;p2"/>
          <p:cNvPicPr preferRelativeResize="0"/>
          <p:nvPr/>
        </p:nvPicPr>
        <p:blipFill rotWithShape="1">
          <a:blip r:embed="rId1">
            <a:alphaModFix amt="10000"/>
          </a:blip>
          <a:srcRect b="0" l="0" r="0" t="0"/>
          <a:stretch/>
        </p:blipFill>
        <p:spPr>
          <a:xfrm>
            <a:off x="0" y="0"/>
            <a:ext cx="12192000" cy="6858000"/>
          </a:xfrm>
          <a:prstGeom prst="rect">
            <a:avLst/>
          </a:prstGeom>
          <a:noFill/>
          <a:ln>
            <a:noFill/>
          </a:ln>
        </p:spPr>
      </p:pic>
      <p:sp>
        <p:nvSpPr>
          <p:cNvPr id="7" name="Google Shape;7;p2"/>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Trebuchet MS"/>
              <a:buNone/>
              <a:defRPr b="0" i="0" sz="3600" u="none" cap="none" strike="noStrik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lt1"/>
              </a:buClr>
              <a:buSzPts val="2400"/>
              <a:buFont typeface="Arial"/>
              <a:buChar char="•"/>
              <a:defRPr b="0" i="0" sz="2400" u="none" cap="none" strike="noStrike">
                <a:solidFill>
                  <a:schemeClr val="lt1"/>
                </a:solidFill>
                <a:latin typeface="Trebuchet MS"/>
                <a:ea typeface="Trebuchet MS"/>
                <a:cs typeface="Trebuchet MS"/>
                <a:sym typeface="Trebuchet MS"/>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Trebuchet MS"/>
                <a:ea typeface="Trebuchet MS"/>
                <a:cs typeface="Trebuchet MS"/>
                <a:sym typeface="Trebuchet MS"/>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rebuchet MS"/>
                <a:ea typeface="Trebuchet MS"/>
                <a:cs typeface="Trebuchet MS"/>
                <a:sym typeface="Trebuchet MS"/>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Trebuchet MS"/>
                <a:ea typeface="Trebuchet MS"/>
                <a:cs typeface="Trebuchet MS"/>
                <a:sym typeface="Trebuchet MS"/>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Trebuchet MS"/>
                <a:ea typeface="Trebuchet MS"/>
                <a:cs typeface="Trebuchet MS"/>
                <a:sym typeface="Trebuchet MS"/>
              </a:defRPr>
            </a:lvl5pPr>
            <a:lvl6pPr indent="-317500" lvl="5" marL="27432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6pPr>
            <a:lvl7pPr indent="-317500" lvl="6" marL="32004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7pPr>
            <a:lvl8pPr indent="-317500" lvl="7" marL="36576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8pPr>
            <a:lvl9pPr indent="-317500" lvl="8" marL="41148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9pPr>
          </a:lstStyle>
          <a:p/>
        </p:txBody>
      </p:sp>
      <p:sp>
        <p:nvSpPr>
          <p:cNvPr id="9" name="Google Shape;9;p2"/>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9pPr>
          </a:lstStyle>
          <a:p/>
        </p:txBody>
      </p:sp>
      <p:sp>
        <p:nvSpPr>
          <p:cNvPr id="10" name="Google Shape;10;p2"/>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9pPr>
          </a:lstStyle>
          <a:p/>
        </p:txBody>
      </p:sp>
      <p:sp>
        <p:nvSpPr>
          <p:cNvPr id="11" name="Google Shape;11;p2"/>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3600" u="none" cap="none" strike="noStrike">
                <a:solidFill>
                  <a:schemeClr val="lt1"/>
                </a:solidFill>
                <a:latin typeface="Trebuchet MS"/>
                <a:ea typeface="Trebuchet MS"/>
                <a:cs typeface="Trebuchet MS"/>
                <a:sym typeface="Trebuchet MS"/>
              </a:defRPr>
            </a:lvl1pPr>
            <a:lvl2pPr indent="0" lvl="1" marL="0" marR="0" rtl="0" algn="l">
              <a:spcBef>
                <a:spcPts val="0"/>
              </a:spcBef>
              <a:buNone/>
              <a:defRPr b="0" i="0" sz="3600" u="none" cap="none" strike="noStrike">
                <a:solidFill>
                  <a:schemeClr val="lt1"/>
                </a:solidFill>
                <a:latin typeface="Trebuchet MS"/>
                <a:ea typeface="Trebuchet MS"/>
                <a:cs typeface="Trebuchet MS"/>
                <a:sym typeface="Trebuchet MS"/>
              </a:defRPr>
            </a:lvl2pPr>
            <a:lvl3pPr indent="0" lvl="2" marL="0" marR="0" rtl="0" algn="l">
              <a:spcBef>
                <a:spcPts val="0"/>
              </a:spcBef>
              <a:buNone/>
              <a:defRPr b="0" i="0" sz="3600" u="none" cap="none" strike="noStrike">
                <a:solidFill>
                  <a:schemeClr val="lt1"/>
                </a:solidFill>
                <a:latin typeface="Trebuchet MS"/>
                <a:ea typeface="Trebuchet MS"/>
                <a:cs typeface="Trebuchet MS"/>
                <a:sym typeface="Trebuchet MS"/>
              </a:defRPr>
            </a:lvl3pPr>
            <a:lvl4pPr indent="0" lvl="3" marL="0" marR="0" rtl="0" algn="l">
              <a:spcBef>
                <a:spcPts val="0"/>
              </a:spcBef>
              <a:buNone/>
              <a:defRPr b="0" i="0" sz="3600" u="none" cap="none" strike="noStrike">
                <a:solidFill>
                  <a:schemeClr val="lt1"/>
                </a:solidFill>
                <a:latin typeface="Trebuchet MS"/>
                <a:ea typeface="Trebuchet MS"/>
                <a:cs typeface="Trebuchet MS"/>
                <a:sym typeface="Trebuchet MS"/>
              </a:defRPr>
            </a:lvl4pPr>
            <a:lvl5pPr indent="0" lvl="4" marL="0" marR="0" rtl="0" algn="l">
              <a:spcBef>
                <a:spcPts val="0"/>
              </a:spcBef>
              <a:buNone/>
              <a:defRPr b="0" i="0" sz="3600" u="none" cap="none" strike="noStrike">
                <a:solidFill>
                  <a:schemeClr val="lt1"/>
                </a:solidFill>
                <a:latin typeface="Trebuchet MS"/>
                <a:ea typeface="Trebuchet MS"/>
                <a:cs typeface="Trebuchet MS"/>
                <a:sym typeface="Trebuchet MS"/>
              </a:defRPr>
            </a:lvl5pPr>
            <a:lvl6pPr indent="0" lvl="5" marL="0" marR="0" rtl="0" algn="l">
              <a:spcBef>
                <a:spcPts val="0"/>
              </a:spcBef>
              <a:buNone/>
              <a:defRPr b="0" i="0" sz="3600" u="none" cap="none" strike="noStrike">
                <a:solidFill>
                  <a:schemeClr val="lt1"/>
                </a:solidFill>
                <a:latin typeface="Trebuchet MS"/>
                <a:ea typeface="Trebuchet MS"/>
                <a:cs typeface="Trebuchet MS"/>
                <a:sym typeface="Trebuchet MS"/>
              </a:defRPr>
            </a:lvl6pPr>
            <a:lvl7pPr indent="0" lvl="6" marL="0" marR="0" rtl="0" algn="l">
              <a:spcBef>
                <a:spcPts val="0"/>
              </a:spcBef>
              <a:buNone/>
              <a:defRPr b="0" i="0" sz="3600" u="none" cap="none" strike="noStrike">
                <a:solidFill>
                  <a:schemeClr val="lt1"/>
                </a:solidFill>
                <a:latin typeface="Trebuchet MS"/>
                <a:ea typeface="Trebuchet MS"/>
                <a:cs typeface="Trebuchet MS"/>
                <a:sym typeface="Trebuchet MS"/>
              </a:defRPr>
            </a:lvl7pPr>
            <a:lvl8pPr indent="0" lvl="7" marL="0" marR="0" rtl="0" algn="l">
              <a:spcBef>
                <a:spcPts val="0"/>
              </a:spcBef>
              <a:buNone/>
              <a:defRPr b="0" i="0" sz="3600" u="none" cap="none" strike="noStrike">
                <a:solidFill>
                  <a:schemeClr val="lt1"/>
                </a:solidFill>
                <a:latin typeface="Trebuchet MS"/>
                <a:ea typeface="Trebuchet MS"/>
                <a:cs typeface="Trebuchet MS"/>
                <a:sym typeface="Trebuchet MS"/>
              </a:defRPr>
            </a:lvl8pPr>
            <a:lvl9pPr indent="0" lvl="8" marL="0" marR="0" rtl="0" algn="l">
              <a:spcBef>
                <a:spcPts val="0"/>
              </a:spcBef>
              <a:buNone/>
              <a:defRPr b="0" i="0" sz="3600" u="none" cap="none" strike="noStrike">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4.png"/><Relationship Id="rId4" Type="http://schemas.openxmlformats.org/officeDocument/2006/relationships/image" Target="../media/image31.png"/><Relationship Id="rId5" Type="http://schemas.openxmlformats.org/officeDocument/2006/relationships/image" Target="../media/image2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6.png"/><Relationship Id="rId4"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2.png"/><Relationship Id="rId4" Type="http://schemas.openxmlformats.org/officeDocument/2006/relationships/image" Target="../media/image41.png"/><Relationship Id="rId5" Type="http://schemas.openxmlformats.org/officeDocument/2006/relationships/image" Target="../media/image3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8.png"/><Relationship Id="rId4" Type="http://schemas.openxmlformats.org/officeDocument/2006/relationships/image" Target="../media/image2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
          <p:cNvSpPr txBox="1"/>
          <p:nvPr>
            <p:ph type="ctrTitle"/>
          </p:nvPr>
        </p:nvSpPr>
        <p:spPr>
          <a:xfrm>
            <a:off x="680322" y="2733709"/>
            <a:ext cx="8144134" cy="1373070"/>
          </a:xfrm>
          <a:prstGeom prst="rect">
            <a:avLst/>
          </a:prstGeom>
          <a:noFill/>
          <a:ln>
            <a:noFill/>
          </a:ln>
        </p:spPr>
        <p:txBody>
          <a:bodyPr anchorCtr="0" anchor="b" bIns="45700" lIns="91425" spcFirstLastPara="1" rIns="91425" wrap="square" tIns="45700">
            <a:noAutofit/>
          </a:bodyPr>
          <a:lstStyle/>
          <a:p>
            <a:pPr indent="0" lvl="0" marL="0" rtl="0" algn="r">
              <a:lnSpc>
                <a:spcPct val="90000"/>
              </a:lnSpc>
              <a:spcBef>
                <a:spcPts val="0"/>
              </a:spcBef>
              <a:spcAft>
                <a:spcPts val="0"/>
              </a:spcAft>
              <a:buClr>
                <a:schemeClr val="lt1"/>
              </a:buClr>
              <a:buSzPts val="5400"/>
              <a:buFont typeface="Trebuchet MS"/>
              <a:buNone/>
            </a:pPr>
            <a:r>
              <a:rPr lang="es-CO"/>
              <a:t>PostMortem Proyecto Fase 2</a:t>
            </a:r>
            <a:endParaRPr/>
          </a:p>
        </p:txBody>
      </p:sp>
      <p:sp>
        <p:nvSpPr>
          <p:cNvPr id="203" name="Google Shape;203;p1"/>
          <p:cNvSpPr txBox="1"/>
          <p:nvPr>
            <p:ph idx="1" type="subTitle"/>
          </p:nvPr>
        </p:nvSpPr>
        <p:spPr>
          <a:xfrm>
            <a:off x="680322" y="4394039"/>
            <a:ext cx="8144134" cy="1117687"/>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chemeClr val="lt1"/>
              </a:buClr>
              <a:buSzPts val="2000"/>
              <a:buNone/>
            </a:pPr>
            <a:r>
              <a:rPr lang="es-CO"/>
              <a:t>Presentado por: Nicolas Calvo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a8e20dd7aa_0_0"/>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Objetivo General</a:t>
            </a:r>
            <a:endParaRPr/>
          </a:p>
        </p:txBody>
      </p:sp>
      <p:sp>
        <p:nvSpPr>
          <p:cNvPr id="209" name="Google Shape;209;g3a8e20dd7aa_0_0"/>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Garantizar el desarrollo y funcionamiento de un sistema logístico confiable, eficiente y alineado con los requerimientos técnicos, funcionales y de calidad establecidos, mediante un trabajo colaborativo, organizado y orientado al cumplimiento de metas y plazos.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a8e20dd7aa_0_5"/>
          <p:cNvSpPr txBox="1"/>
          <p:nvPr>
            <p:ph type="title"/>
          </p:nvPr>
        </p:nvSpPr>
        <p:spPr>
          <a:xfrm>
            <a:off x="99146" y="586553"/>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Objetivo </a:t>
            </a:r>
            <a:r>
              <a:rPr lang="es-CO"/>
              <a:t>Específico</a:t>
            </a:r>
            <a:r>
              <a:rPr lang="es-CO"/>
              <a:t> del Equipo</a:t>
            </a:r>
            <a:endParaRPr/>
          </a:p>
        </p:txBody>
      </p:sp>
      <p:sp>
        <p:nvSpPr>
          <p:cNvPr id="215" name="Google Shape;215;g3a8e20dd7aa_0_5"/>
          <p:cNvSpPr txBox="1"/>
          <p:nvPr>
            <p:ph idx="1" type="body"/>
          </p:nvPr>
        </p:nvSpPr>
        <p:spPr>
          <a:xfrm>
            <a:off x="265625" y="1667450"/>
            <a:ext cx="10690200" cy="45744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400"/>
              </a:spcBef>
              <a:spcAft>
                <a:spcPts val="0"/>
              </a:spcAft>
              <a:buClr>
                <a:schemeClr val="dk1"/>
              </a:buClr>
              <a:buSzPts val="275"/>
              <a:buFont typeface="Arial"/>
              <a:buNone/>
            </a:pPr>
            <a:r>
              <a:rPr b="1" lang="es-CO" sz="5517">
                <a:latin typeface="Arial"/>
                <a:ea typeface="Arial"/>
                <a:cs typeface="Arial"/>
                <a:sym typeface="Arial"/>
              </a:rPr>
              <a:t>1. Cumplir con las funcionalidades y calidad del sistema</a:t>
            </a:r>
            <a:endParaRPr b="1" sz="5517">
              <a:latin typeface="Arial"/>
              <a:ea typeface="Arial"/>
              <a:cs typeface="Arial"/>
              <a:sym typeface="Arial"/>
            </a:endParaRPr>
          </a:p>
          <a:p>
            <a:pPr indent="-313018" lvl="0" marL="457200" rtl="0" algn="l">
              <a:lnSpc>
                <a:spcPct val="115000"/>
              </a:lnSpc>
              <a:spcBef>
                <a:spcPts val="1200"/>
              </a:spcBef>
              <a:spcAft>
                <a:spcPts val="0"/>
              </a:spcAft>
              <a:buClr>
                <a:schemeClr val="lt1"/>
              </a:buClr>
              <a:buSzPct val="100000"/>
              <a:buChar char="●"/>
            </a:pPr>
            <a:r>
              <a:rPr lang="es-CO" sz="5317">
                <a:latin typeface="Arial"/>
                <a:ea typeface="Arial"/>
                <a:cs typeface="Arial"/>
                <a:sym typeface="Arial"/>
              </a:rPr>
              <a:t>Asegurar que al menos el 90% de las funcionalidades planificadas estén implementadas y probadas.</a:t>
            </a:r>
            <a:br>
              <a:rPr lang="es-CO" sz="5317">
                <a:latin typeface="Arial"/>
                <a:ea typeface="Arial"/>
                <a:cs typeface="Arial"/>
                <a:sym typeface="Arial"/>
              </a:rPr>
            </a:br>
            <a:endParaRPr sz="5317">
              <a:latin typeface="Arial"/>
              <a:ea typeface="Arial"/>
              <a:cs typeface="Arial"/>
              <a:sym typeface="Arial"/>
            </a:endParaRPr>
          </a:p>
          <a:p>
            <a:pPr indent="-313018" lvl="0" marL="457200" rtl="0" algn="l">
              <a:lnSpc>
                <a:spcPct val="115000"/>
              </a:lnSpc>
              <a:spcBef>
                <a:spcPts val="0"/>
              </a:spcBef>
              <a:spcAft>
                <a:spcPts val="0"/>
              </a:spcAft>
              <a:buClr>
                <a:schemeClr val="lt1"/>
              </a:buClr>
              <a:buSzPct val="100000"/>
              <a:buChar char="●"/>
            </a:pPr>
            <a:r>
              <a:rPr lang="es-CO" sz="5317">
                <a:latin typeface="Arial"/>
                <a:ea typeface="Arial"/>
                <a:cs typeface="Arial"/>
                <a:sym typeface="Arial"/>
              </a:rPr>
              <a:t>Mantener los defectos críticos por debajo del 10% en las pruebas finales.</a:t>
            </a:r>
            <a:br>
              <a:rPr lang="es-CO" sz="5317">
                <a:latin typeface="Arial"/>
                <a:ea typeface="Arial"/>
                <a:cs typeface="Arial"/>
                <a:sym typeface="Arial"/>
              </a:rPr>
            </a:br>
            <a:endParaRPr sz="5317">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5517">
                <a:latin typeface="Arial"/>
                <a:ea typeface="Arial"/>
                <a:cs typeface="Arial"/>
                <a:sym typeface="Arial"/>
              </a:rPr>
              <a:t>2. Mantener un trabajo organizado y colaborativo</a:t>
            </a:r>
            <a:endParaRPr b="1" sz="5517">
              <a:latin typeface="Arial"/>
              <a:ea typeface="Arial"/>
              <a:cs typeface="Arial"/>
              <a:sym typeface="Arial"/>
            </a:endParaRPr>
          </a:p>
          <a:p>
            <a:pPr indent="-313018" lvl="0" marL="457200" rtl="0" algn="l">
              <a:lnSpc>
                <a:spcPct val="115000"/>
              </a:lnSpc>
              <a:spcBef>
                <a:spcPts val="1200"/>
              </a:spcBef>
              <a:spcAft>
                <a:spcPts val="0"/>
              </a:spcAft>
              <a:buClr>
                <a:schemeClr val="lt1"/>
              </a:buClr>
              <a:buSzPct val="100000"/>
              <a:buChar char="●"/>
            </a:pPr>
            <a:r>
              <a:rPr lang="es-CO" sz="5317">
                <a:latin typeface="Arial"/>
                <a:ea typeface="Arial"/>
                <a:cs typeface="Arial"/>
                <a:sym typeface="Arial"/>
              </a:rPr>
              <a:t>Completar mínimo el 85% de los hitos sin retrasos mayores a dos días.</a:t>
            </a:r>
            <a:br>
              <a:rPr lang="es-CO" sz="5317">
                <a:latin typeface="Arial"/>
                <a:ea typeface="Arial"/>
                <a:cs typeface="Arial"/>
                <a:sym typeface="Arial"/>
              </a:rPr>
            </a:br>
            <a:endParaRPr sz="5317">
              <a:latin typeface="Arial"/>
              <a:ea typeface="Arial"/>
              <a:cs typeface="Arial"/>
              <a:sym typeface="Arial"/>
            </a:endParaRPr>
          </a:p>
          <a:p>
            <a:pPr indent="-313018" lvl="0" marL="457200" rtl="0" algn="l">
              <a:lnSpc>
                <a:spcPct val="115000"/>
              </a:lnSpc>
              <a:spcBef>
                <a:spcPts val="0"/>
              </a:spcBef>
              <a:spcAft>
                <a:spcPts val="0"/>
              </a:spcAft>
              <a:buClr>
                <a:schemeClr val="lt1"/>
              </a:buClr>
              <a:buSzPct val="100000"/>
              <a:buChar char="●"/>
            </a:pPr>
            <a:r>
              <a:rPr lang="es-CO" sz="5317">
                <a:latin typeface="Arial"/>
                <a:ea typeface="Arial"/>
                <a:cs typeface="Arial"/>
                <a:sym typeface="Arial"/>
              </a:rPr>
              <a:t>Lograr una participación activa del 90% de los integrantes en reuniones y actividades.</a:t>
            </a:r>
            <a:br>
              <a:rPr lang="es-CO" sz="5317">
                <a:latin typeface="Arial"/>
                <a:ea typeface="Arial"/>
                <a:cs typeface="Arial"/>
                <a:sym typeface="Arial"/>
              </a:rPr>
            </a:br>
            <a:endParaRPr sz="5317">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5517">
                <a:latin typeface="Arial"/>
                <a:ea typeface="Arial"/>
                <a:cs typeface="Arial"/>
                <a:sym typeface="Arial"/>
              </a:rPr>
              <a:t>3. Cumplir eficientemente las tareas individuales</a:t>
            </a:r>
            <a:endParaRPr b="1" sz="5517">
              <a:latin typeface="Arial"/>
              <a:ea typeface="Arial"/>
              <a:cs typeface="Arial"/>
              <a:sym typeface="Arial"/>
            </a:endParaRPr>
          </a:p>
          <a:p>
            <a:pPr indent="-313018" lvl="0" marL="457200" rtl="0" algn="l">
              <a:lnSpc>
                <a:spcPct val="115000"/>
              </a:lnSpc>
              <a:spcBef>
                <a:spcPts val="1200"/>
              </a:spcBef>
              <a:spcAft>
                <a:spcPts val="0"/>
              </a:spcAft>
              <a:buClr>
                <a:schemeClr val="lt1"/>
              </a:buClr>
              <a:buSzPct val="100000"/>
              <a:buChar char="●"/>
            </a:pPr>
            <a:r>
              <a:rPr lang="es-CO" sz="5317">
                <a:latin typeface="Arial"/>
                <a:ea typeface="Arial"/>
                <a:cs typeface="Arial"/>
                <a:sym typeface="Arial"/>
              </a:rPr>
              <a:t>Completar el 90% de las tareas dentro del plazo y sin errores críticos.</a:t>
            </a:r>
            <a:br>
              <a:rPr lang="es-CO" sz="5317">
                <a:latin typeface="Arial"/>
                <a:ea typeface="Arial"/>
                <a:cs typeface="Arial"/>
                <a:sym typeface="Arial"/>
              </a:rPr>
            </a:br>
            <a:endParaRPr sz="5317">
              <a:latin typeface="Arial"/>
              <a:ea typeface="Arial"/>
              <a:cs typeface="Arial"/>
              <a:sym typeface="Arial"/>
            </a:endParaRPr>
          </a:p>
          <a:p>
            <a:pPr indent="-313018" lvl="0" marL="457200" rtl="0" algn="l">
              <a:lnSpc>
                <a:spcPct val="115000"/>
              </a:lnSpc>
              <a:spcBef>
                <a:spcPts val="0"/>
              </a:spcBef>
              <a:spcAft>
                <a:spcPts val="0"/>
              </a:spcAft>
              <a:buClr>
                <a:schemeClr val="lt1"/>
              </a:buClr>
              <a:buSzPct val="100000"/>
              <a:buChar char="●"/>
            </a:pPr>
            <a:r>
              <a:rPr lang="es-CO" sz="5317">
                <a:latin typeface="Arial"/>
                <a:ea typeface="Arial"/>
                <a:cs typeface="Arial"/>
                <a:sym typeface="Arial"/>
              </a:rPr>
              <a:t>Mantener menos del 5% de tareas rechazadas por incumplimiento de estándares.</a:t>
            </a:r>
            <a:br>
              <a:rPr lang="es-CO" sz="5317">
                <a:latin typeface="Arial"/>
                <a:ea typeface="Arial"/>
                <a:cs typeface="Arial"/>
                <a:sym typeface="Arial"/>
              </a:rPr>
            </a:br>
            <a:endParaRPr sz="5317">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5517">
                <a:latin typeface="Arial"/>
                <a:ea typeface="Arial"/>
                <a:cs typeface="Arial"/>
                <a:sym typeface="Arial"/>
              </a:rPr>
              <a:t>4. Garantizar comunicación constante y efectiva</a:t>
            </a:r>
            <a:endParaRPr b="1" sz="5517">
              <a:latin typeface="Arial"/>
              <a:ea typeface="Arial"/>
              <a:cs typeface="Arial"/>
              <a:sym typeface="Arial"/>
            </a:endParaRPr>
          </a:p>
          <a:p>
            <a:pPr indent="-313018" lvl="0" marL="457200" rtl="0" algn="l">
              <a:lnSpc>
                <a:spcPct val="115000"/>
              </a:lnSpc>
              <a:spcBef>
                <a:spcPts val="1200"/>
              </a:spcBef>
              <a:spcAft>
                <a:spcPts val="0"/>
              </a:spcAft>
              <a:buClr>
                <a:schemeClr val="lt1"/>
              </a:buClr>
              <a:buSzPct val="100000"/>
              <a:buChar char="●"/>
            </a:pPr>
            <a:r>
              <a:rPr lang="es-CO" sz="5317">
                <a:latin typeface="Arial"/>
                <a:ea typeface="Arial"/>
                <a:cs typeface="Arial"/>
                <a:sym typeface="Arial"/>
              </a:rPr>
              <a:t>Alcanzar una asistencia del 95% a reuniones.</a:t>
            </a:r>
            <a:br>
              <a:rPr lang="es-CO" sz="5317">
                <a:latin typeface="Arial"/>
                <a:ea typeface="Arial"/>
                <a:cs typeface="Arial"/>
                <a:sym typeface="Arial"/>
              </a:rPr>
            </a:br>
            <a:endParaRPr sz="5317">
              <a:latin typeface="Arial"/>
              <a:ea typeface="Arial"/>
              <a:cs typeface="Arial"/>
              <a:sym typeface="Arial"/>
            </a:endParaRPr>
          </a:p>
          <a:p>
            <a:pPr indent="-313018" lvl="0" marL="457200" rtl="0" algn="l">
              <a:lnSpc>
                <a:spcPct val="115000"/>
              </a:lnSpc>
              <a:spcBef>
                <a:spcPts val="0"/>
              </a:spcBef>
              <a:spcAft>
                <a:spcPts val="0"/>
              </a:spcAft>
              <a:buClr>
                <a:schemeClr val="lt1"/>
              </a:buClr>
              <a:buSzPct val="100000"/>
              <a:buChar char="●"/>
            </a:pPr>
            <a:r>
              <a:rPr lang="es-CO" sz="5317">
                <a:latin typeface="Arial"/>
                <a:ea typeface="Arial"/>
                <a:cs typeface="Arial"/>
                <a:sym typeface="Arial"/>
              </a:rPr>
              <a:t>Responder solicitudes críticas en máximo 24 horas hábiles.</a:t>
            </a:r>
            <a:endParaRPr sz="5317">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a8e20dd7aa_0_10"/>
          <p:cNvSpPr txBox="1"/>
          <p:nvPr>
            <p:ph type="title"/>
          </p:nvPr>
        </p:nvSpPr>
        <p:spPr>
          <a:xfrm>
            <a:off x="26617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Descripción</a:t>
            </a:r>
            <a:r>
              <a:rPr lang="es-CO"/>
              <a:t> General</a:t>
            </a:r>
            <a:endParaRPr/>
          </a:p>
        </p:txBody>
      </p:sp>
      <p:sp>
        <p:nvSpPr>
          <p:cNvPr id="221" name="Google Shape;221;g3a8e20dd7aa_0_10"/>
          <p:cNvSpPr txBox="1"/>
          <p:nvPr>
            <p:ph idx="1" type="body"/>
          </p:nvPr>
        </p:nvSpPr>
        <p:spPr>
          <a:xfrm>
            <a:off x="633825" y="2104400"/>
            <a:ext cx="9613800" cy="4350600"/>
          </a:xfrm>
          <a:prstGeom prst="rect">
            <a:avLst/>
          </a:prstGeom>
        </p:spPr>
        <p:txBody>
          <a:bodyPr anchorCtr="0" anchor="t" bIns="45700" lIns="91425" spcFirstLastPara="1" rIns="91425" wrap="square" tIns="45700">
            <a:normAutofit fontScale="25000" lnSpcReduction="20000"/>
          </a:bodyPr>
          <a:lstStyle/>
          <a:p>
            <a:pPr indent="0" lvl="0" marL="0" rtl="0" algn="l">
              <a:lnSpc>
                <a:spcPct val="107916"/>
              </a:lnSpc>
              <a:spcBef>
                <a:spcPts val="1200"/>
              </a:spcBef>
              <a:spcAft>
                <a:spcPts val="0"/>
              </a:spcAft>
              <a:buClr>
                <a:schemeClr val="dk1"/>
              </a:buClr>
              <a:buSzPts val="275"/>
              <a:buFont typeface="Arial"/>
              <a:buNone/>
            </a:pPr>
            <a:r>
              <a:rPr lang="es-CO" sz="6017">
                <a:latin typeface="Calibri"/>
                <a:ea typeface="Calibri"/>
                <a:cs typeface="Calibri"/>
                <a:sym typeface="Calibri"/>
              </a:rPr>
              <a:t>La Fase 2 del proyecto se enfoca en la implementación completa y operativa de la plataforma de gestión logística, integrando tanto la capa móvil desarrollada en Android Studio como los servicios backend necesarios para soportar el funcionamiento del sistema. En esta etapa, se consolidan las funcionalidades diseñadas en fases anteriores mediante el desarrollo de servicios REST, mecanismos de notificación y herramientas de seguimiento en tiempo real de los envíos.</a:t>
            </a:r>
            <a:endParaRPr sz="6017">
              <a:latin typeface="Calibri"/>
              <a:ea typeface="Calibri"/>
              <a:cs typeface="Calibri"/>
              <a:sym typeface="Calibri"/>
            </a:endParaRPr>
          </a:p>
          <a:p>
            <a:pPr indent="0" lvl="0" marL="0" rtl="0" algn="l">
              <a:lnSpc>
                <a:spcPct val="107916"/>
              </a:lnSpc>
              <a:spcBef>
                <a:spcPts val="1200"/>
              </a:spcBef>
              <a:spcAft>
                <a:spcPts val="0"/>
              </a:spcAft>
              <a:buClr>
                <a:schemeClr val="dk1"/>
              </a:buClr>
              <a:buSzPts val="275"/>
              <a:buFont typeface="Arial"/>
              <a:buNone/>
            </a:pPr>
            <a:r>
              <a:rPr lang="es-CO" sz="6017">
                <a:latin typeface="Calibri"/>
                <a:ea typeface="Calibri"/>
                <a:cs typeface="Calibri"/>
                <a:sym typeface="Calibri"/>
              </a:rPr>
              <a:t>Como parte del avance técnico, se implementaron servicios REST que permiten la comunicación estructurada entre la aplicación móvil y el servidor, posibilitando operaciones como la creación de órdenes de recolección, la actualización del estado de las encomiendas, la asignación de rutas y la gestión de usuarios. Estos servicios garantizan un intercambio seguro, eficiente y escalable de la información.</a:t>
            </a:r>
            <a:endParaRPr sz="6017">
              <a:latin typeface="Calibri"/>
              <a:ea typeface="Calibri"/>
              <a:cs typeface="Calibri"/>
              <a:sym typeface="Calibri"/>
            </a:endParaRPr>
          </a:p>
          <a:p>
            <a:pPr indent="0" lvl="0" marL="0" rtl="0" algn="l">
              <a:lnSpc>
                <a:spcPct val="107916"/>
              </a:lnSpc>
              <a:spcBef>
                <a:spcPts val="1200"/>
              </a:spcBef>
              <a:spcAft>
                <a:spcPts val="0"/>
              </a:spcAft>
              <a:buClr>
                <a:schemeClr val="dk1"/>
              </a:buClr>
              <a:buSzPts val="275"/>
              <a:buFont typeface="Arial"/>
              <a:buNone/>
            </a:pPr>
            <a:r>
              <a:rPr lang="es-CO" sz="6017">
                <a:latin typeface="Calibri"/>
                <a:ea typeface="Calibri"/>
                <a:cs typeface="Calibri"/>
                <a:sym typeface="Calibri"/>
              </a:rPr>
              <a:t>Adicionalmente, se desarrolló un sistema de notificaciones, pensado para mantener informados a los usuarios sobre los cambios en el estado del envío. Esto mejora la interacción y la experiencia del usuario dentro de la plataforma.</a:t>
            </a:r>
            <a:endParaRPr sz="6017">
              <a:latin typeface="Calibri"/>
              <a:ea typeface="Calibri"/>
              <a:cs typeface="Calibri"/>
              <a:sym typeface="Calibri"/>
            </a:endParaRPr>
          </a:p>
          <a:p>
            <a:pPr indent="0" lvl="0" marL="0" rtl="0" algn="l">
              <a:lnSpc>
                <a:spcPct val="107916"/>
              </a:lnSpc>
              <a:spcBef>
                <a:spcPts val="1200"/>
              </a:spcBef>
              <a:spcAft>
                <a:spcPts val="0"/>
              </a:spcAft>
              <a:buClr>
                <a:schemeClr val="dk1"/>
              </a:buClr>
              <a:buSzPts val="275"/>
              <a:buFont typeface="Arial"/>
              <a:buNone/>
            </a:pPr>
            <a:r>
              <a:rPr lang="es-CO" sz="6017">
                <a:latin typeface="Calibri"/>
                <a:ea typeface="Calibri"/>
                <a:cs typeface="Calibri"/>
                <a:sym typeface="Calibri"/>
              </a:rPr>
              <a:t>Otro componente fundamental de la Fase 2 es la implementación del seguimiento de envíos, que permite visualizar el progreso de las encomiendas desde su recolección hasta la entrega final. Este módulo integra actualizaciones de estado, ubicación aproximada, tiempos estimados y registro del flujo de transporte, aumentando la trazabilidad y transparencia del proceso.</a:t>
            </a:r>
            <a:endParaRPr sz="6017">
              <a:latin typeface="Calibri"/>
              <a:ea typeface="Calibri"/>
              <a:cs typeface="Calibri"/>
              <a:sym typeface="Calibri"/>
            </a:endParaRPr>
          </a:p>
          <a:p>
            <a:pPr indent="0" lvl="0" marL="0" rtl="0" algn="l">
              <a:lnSpc>
                <a:spcPct val="107916"/>
              </a:lnSpc>
              <a:spcBef>
                <a:spcPts val="1200"/>
              </a:spcBef>
              <a:spcAft>
                <a:spcPts val="0"/>
              </a:spcAft>
              <a:buClr>
                <a:schemeClr val="dk1"/>
              </a:buClr>
              <a:buSzPts val="275"/>
              <a:buFont typeface="Arial"/>
              <a:buNone/>
            </a:pPr>
            <a:r>
              <a:rPr lang="es-CO" sz="6017">
                <a:latin typeface="Calibri"/>
                <a:ea typeface="Calibri"/>
                <a:cs typeface="Calibri"/>
                <a:sym typeface="Calibri"/>
              </a:rPr>
              <a:t>En conjunto, estos desarrollos permiten contar con un prototipo funcional, robusto y orientado a optimizar la operación logística. La fase concluye uniendo diseño, implementación, pruebas y despliegue parcial dentro del entorno académico, avanzando hacia un sistema completo que automatiza procesos, mejora la eficiencia y eleva la calidad del servicio ofrecido.</a:t>
            </a:r>
            <a:endParaRPr sz="6017">
              <a:latin typeface="Calibri"/>
              <a:ea typeface="Calibri"/>
              <a:cs typeface="Calibri"/>
              <a:sym typeface="Calibri"/>
            </a:endParaRPr>
          </a:p>
          <a:p>
            <a:pPr indent="0" lvl="0" marL="0" rtl="0" algn="l">
              <a:lnSpc>
                <a:spcPct val="115000"/>
              </a:lnSpc>
              <a:spcBef>
                <a:spcPts val="1200"/>
              </a:spcBef>
              <a:spcAft>
                <a:spcPts val="0"/>
              </a:spcAft>
              <a:buClr>
                <a:schemeClr val="dk1"/>
              </a:buClr>
              <a:buSzPct val="68750"/>
              <a:buFont typeface="Arial"/>
              <a:buNone/>
            </a:pPr>
            <a:r>
              <a:t/>
            </a:r>
            <a:endParaRPr sz="16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a8e20dd7aa_0_20"/>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Métricas</a:t>
            </a:r>
            <a:r>
              <a:rPr lang="es-CO"/>
              <a:t> Generales del Equipo fase 1</a:t>
            </a:r>
            <a:endParaRPr/>
          </a:p>
        </p:txBody>
      </p:sp>
      <p:sp>
        <p:nvSpPr>
          <p:cNvPr id="227" name="Google Shape;227;g3a8e20dd7aa_0_20"/>
          <p:cNvSpPr txBox="1"/>
          <p:nvPr>
            <p:ph idx="1" type="body"/>
          </p:nvPr>
        </p:nvSpPr>
        <p:spPr>
          <a:xfrm>
            <a:off x="680325" y="2415175"/>
            <a:ext cx="9613800" cy="4167300"/>
          </a:xfrm>
          <a:prstGeom prst="rect">
            <a:avLst/>
          </a:prstGeom>
        </p:spPr>
        <p:txBody>
          <a:bodyPr anchorCtr="0" anchor="t" bIns="45700" lIns="91425" spcFirstLastPara="1" rIns="91425" wrap="square" tIns="45700">
            <a:normAutofit fontScale="25000" lnSpcReduction="20000"/>
          </a:bodyPr>
          <a:lstStyle/>
          <a:p>
            <a:pPr indent="0" lvl="0" marL="0" rtl="0" algn="l">
              <a:spcBef>
                <a:spcPts val="0"/>
              </a:spcBef>
              <a:spcAft>
                <a:spcPts val="0"/>
              </a:spcAft>
              <a:buClr>
                <a:schemeClr val="lt1"/>
              </a:buClr>
              <a:buSzPct val="40487"/>
              <a:buFont typeface="Arial"/>
              <a:buNone/>
            </a:pPr>
            <a:r>
              <a:rPr lang="es-CO" sz="5927">
                <a:latin typeface="Arial"/>
                <a:ea typeface="Arial"/>
                <a:cs typeface="Arial"/>
                <a:sym typeface="Arial"/>
              </a:rPr>
              <a:t>Funcionalidades implementadas: </a:t>
            </a:r>
            <a:r>
              <a:rPr b="1" lang="es-CO" sz="5927">
                <a:latin typeface="Arial"/>
                <a:ea typeface="Arial"/>
                <a:cs typeface="Arial"/>
                <a:sym typeface="Arial"/>
              </a:rPr>
              <a:t>95%</a:t>
            </a:r>
            <a:br>
              <a:rPr b="1" lang="es-CO" sz="5927">
                <a:latin typeface="Arial"/>
                <a:ea typeface="Arial"/>
                <a:cs typeface="Arial"/>
                <a:sym typeface="Arial"/>
              </a:rPr>
            </a:br>
            <a:endParaRPr b="1" sz="5927">
              <a:latin typeface="Arial"/>
              <a:ea typeface="Arial"/>
              <a:cs typeface="Arial"/>
              <a:sym typeface="Arial"/>
            </a:endParaRPr>
          </a:p>
          <a:p>
            <a:pPr indent="-322703" lvl="0" marL="457200" rtl="0" algn="l">
              <a:lnSpc>
                <a:spcPct val="115000"/>
              </a:lnSpc>
              <a:spcBef>
                <a:spcPts val="1200"/>
              </a:spcBef>
              <a:spcAft>
                <a:spcPts val="0"/>
              </a:spcAft>
              <a:buClr>
                <a:schemeClr val="lt1"/>
              </a:buClr>
              <a:buSzPct val="100000"/>
              <a:buChar char="●"/>
            </a:pPr>
            <a:r>
              <a:rPr lang="es-CO" sz="5927">
                <a:latin typeface="Arial"/>
                <a:ea typeface="Arial"/>
                <a:cs typeface="Arial"/>
                <a:sym typeface="Arial"/>
              </a:rPr>
              <a:t>Defectos críticos: </a:t>
            </a:r>
            <a:r>
              <a:rPr b="1" lang="es-CO" sz="5927">
                <a:latin typeface="Arial"/>
                <a:ea typeface="Arial"/>
                <a:cs typeface="Arial"/>
                <a:sym typeface="Arial"/>
              </a:rPr>
              <a:t>&lt;5%</a:t>
            </a:r>
            <a:br>
              <a:rPr b="1" lang="es-CO" sz="5927">
                <a:latin typeface="Arial"/>
                <a:ea typeface="Arial"/>
                <a:cs typeface="Arial"/>
                <a:sym typeface="Arial"/>
              </a:rPr>
            </a:br>
            <a:endParaRPr b="1" sz="5927">
              <a:latin typeface="Arial"/>
              <a:ea typeface="Arial"/>
              <a:cs typeface="Arial"/>
              <a:sym typeface="Arial"/>
            </a:endParaRPr>
          </a:p>
          <a:p>
            <a:pPr indent="-322703" lvl="0" marL="457200" rtl="0" algn="l">
              <a:lnSpc>
                <a:spcPct val="115000"/>
              </a:lnSpc>
              <a:spcBef>
                <a:spcPts val="0"/>
              </a:spcBef>
              <a:spcAft>
                <a:spcPts val="0"/>
              </a:spcAft>
              <a:buClr>
                <a:schemeClr val="lt1"/>
              </a:buClr>
              <a:buSzPct val="100000"/>
              <a:buChar char="●"/>
            </a:pPr>
            <a:r>
              <a:rPr lang="es-CO" sz="5927">
                <a:latin typeface="Arial"/>
                <a:ea typeface="Arial"/>
                <a:cs typeface="Arial"/>
                <a:sym typeface="Arial"/>
              </a:rPr>
              <a:t>Cumplimiento de hitos: </a:t>
            </a:r>
            <a:r>
              <a:rPr b="1" lang="es-CO" sz="5927">
                <a:latin typeface="Arial"/>
                <a:ea typeface="Arial"/>
                <a:cs typeface="Arial"/>
                <a:sym typeface="Arial"/>
              </a:rPr>
              <a:t>90%</a:t>
            </a:r>
            <a:br>
              <a:rPr b="1" lang="es-CO" sz="5927">
                <a:latin typeface="Arial"/>
                <a:ea typeface="Arial"/>
                <a:cs typeface="Arial"/>
                <a:sym typeface="Arial"/>
              </a:rPr>
            </a:br>
            <a:endParaRPr b="1" sz="5927">
              <a:latin typeface="Arial"/>
              <a:ea typeface="Arial"/>
              <a:cs typeface="Arial"/>
              <a:sym typeface="Arial"/>
            </a:endParaRPr>
          </a:p>
          <a:p>
            <a:pPr indent="-322703" lvl="0" marL="457200" rtl="0" algn="l">
              <a:lnSpc>
                <a:spcPct val="115000"/>
              </a:lnSpc>
              <a:spcBef>
                <a:spcPts val="0"/>
              </a:spcBef>
              <a:spcAft>
                <a:spcPts val="0"/>
              </a:spcAft>
              <a:buClr>
                <a:schemeClr val="lt1"/>
              </a:buClr>
              <a:buSzPct val="100000"/>
              <a:buChar char="●"/>
            </a:pPr>
            <a:r>
              <a:rPr lang="es-CO" sz="5927">
                <a:latin typeface="Arial"/>
                <a:ea typeface="Arial"/>
                <a:cs typeface="Arial"/>
                <a:sym typeface="Arial"/>
              </a:rPr>
              <a:t>Participación mínima de integrantes: </a:t>
            </a:r>
            <a:r>
              <a:rPr b="1" lang="es-CO" sz="5927">
                <a:latin typeface="Arial"/>
                <a:ea typeface="Arial"/>
                <a:cs typeface="Arial"/>
                <a:sym typeface="Arial"/>
              </a:rPr>
              <a:t>95%</a:t>
            </a:r>
            <a:br>
              <a:rPr b="1" lang="es-CO" sz="5927">
                <a:latin typeface="Arial"/>
                <a:ea typeface="Arial"/>
                <a:cs typeface="Arial"/>
                <a:sym typeface="Arial"/>
              </a:rPr>
            </a:br>
            <a:endParaRPr b="1" sz="5927">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b="1" lang="es-CO" sz="5927">
                <a:latin typeface="Arial"/>
                <a:ea typeface="Arial"/>
                <a:cs typeface="Arial"/>
                <a:sym typeface="Arial"/>
              </a:rPr>
              <a:t>Observaciones:</a:t>
            </a:r>
            <a:endParaRPr b="1" sz="5927">
              <a:latin typeface="Arial"/>
              <a:ea typeface="Arial"/>
              <a:cs typeface="Arial"/>
              <a:sym typeface="Arial"/>
            </a:endParaRPr>
          </a:p>
          <a:p>
            <a:pPr indent="-322703" lvl="0" marL="457200" rtl="0" algn="l">
              <a:lnSpc>
                <a:spcPct val="115000"/>
              </a:lnSpc>
              <a:spcBef>
                <a:spcPts val="1200"/>
              </a:spcBef>
              <a:spcAft>
                <a:spcPts val="0"/>
              </a:spcAft>
              <a:buClr>
                <a:schemeClr val="lt1"/>
              </a:buClr>
              <a:buSzPct val="100000"/>
              <a:buChar char="●"/>
            </a:pPr>
            <a:r>
              <a:rPr lang="es-CO" sz="5927">
                <a:latin typeface="Arial"/>
                <a:ea typeface="Arial"/>
                <a:cs typeface="Arial"/>
                <a:sym typeface="Arial"/>
              </a:rPr>
              <a:t>No se cumplieron algunas métricas por tareas no planeadas, que incrementaron el tiempo en un 8%.</a:t>
            </a:r>
            <a:br>
              <a:rPr lang="es-CO" sz="5927">
                <a:latin typeface="Arial"/>
                <a:ea typeface="Arial"/>
                <a:cs typeface="Arial"/>
                <a:sym typeface="Arial"/>
              </a:rPr>
            </a:br>
            <a:endParaRPr sz="5927">
              <a:latin typeface="Arial"/>
              <a:ea typeface="Arial"/>
              <a:cs typeface="Arial"/>
              <a:sym typeface="Arial"/>
            </a:endParaRPr>
          </a:p>
          <a:p>
            <a:pPr indent="-322703" lvl="0" marL="457200" rtl="0" algn="l">
              <a:lnSpc>
                <a:spcPct val="115000"/>
              </a:lnSpc>
              <a:spcBef>
                <a:spcPts val="0"/>
              </a:spcBef>
              <a:spcAft>
                <a:spcPts val="0"/>
              </a:spcAft>
              <a:buClr>
                <a:schemeClr val="lt1"/>
              </a:buClr>
              <a:buSzPct val="100000"/>
              <a:buChar char="●"/>
            </a:pPr>
            <a:r>
              <a:rPr lang="es-CO" sz="5927">
                <a:latin typeface="Arial"/>
                <a:ea typeface="Arial"/>
                <a:cs typeface="Arial"/>
                <a:sym typeface="Arial"/>
              </a:rPr>
              <a:t>Las funcionalidades no se vieron afectadas; los defectos críticos fueron mínimos.</a:t>
            </a:r>
            <a:br>
              <a:rPr lang="es-CO" sz="5927">
                <a:latin typeface="Arial"/>
                <a:ea typeface="Arial"/>
                <a:cs typeface="Arial"/>
                <a:sym typeface="Arial"/>
              </a:rPr>
            </a:br>
            <a:endParaRPr sz="5927">
              <a:latin typeface="Arial"/>
              <a:ea typeface="Arial"/>
              <a:cs typeface="Arial"/>
              <a:sym typeface="Arial"/>
            </a:endParaRPr>
          </a:p>
          <a:p>
            <a:pPr indent="-322703" lvl="0" marL="457200" rtl="0" algn="l">
              <a:lnSpc>
                <a:spcPct val="115000"/>
              </a:lnSpc>
              <a:spcBef>
                <a:spcPts val="0"/>
              </a:spcBef>
              <a:spcAft>
                <a:spcPts val="0"/>
              </a:spcAft>
              <a:buClr>
                <a:schemeClr val="lt1"/>
              </a:buClr>
              <a:buSzPct val="100000"/>
              <a:buChar char="●"/>
            </a:pPr>
            <a:r>
              <a:rPr lang="es-CO" sz="5927">
                <a:latin typeface="Arial"/>
                <a:ea typeface="Arial"/>
                <a:cs typeface="Arial"/>
                <a:sym typeface="Arial"/>
              </a:rPr>
              <a:t>Los hitos programados se cumplieron sin retrasos significativos.</a:t>
            </a:r>
            <a:br>
              <a:rPr lang="es-CO" sz="5927">
                <a:latin typeface="Arial"/>
                <a:ea typeface="Arial"/>
                <a:cs typeface="Arial"/>
                <a:sym typeface="Arial"/>
              </a:rPr>
            </a:br>
            <a:endParaRPr sz="5927">
              <a:latin typeface="Arial"/>
              <a:ea typeface="Arial"/>
              <a:cs typeface="Arial"/>
              <a:sym typeface="Arial"/>
            </a:endParaRPr>
          </a:p>
          <a:p>
            <a:pPr indent="-322703" lvl="0" marL="457200" rtl="0" algn="l">
              <a:lnSpc>
                <a:spcPct val="115000"/>
              </a:lnSpc>
              <a:spcBef>
                <a:spcPts val="0"/>
              </a:spcBef>
              <a:spcAft>
                <a:spcPts val="0"/>
              </a:spcAft>
              <a:buClr>
                <a:schemeClr val="lt1"/>
              </a:buClr>
              <a:buSzPct val="100000"/>
              <a:buChar char="●"/>
            </a:pPr>
            <a:r>
              <a:rPr lang="es-CO" sz="5927">
                <a:latin typeface="Arial"/>
                <a:ea typeface="Arial"/>
                <a:cs typeface="Arial"/>
                <a:sym typeface="Arial"/>
              </a:rPr>
              <a:t>La participación general de LE y LD fue satisfactoria.</a:t>
            </a:r>
            <a:endParaRPr sz="5927">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a8e20dd7aa_0_15"/>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Métricas</a:t>
            </a:r>
            <a:r>
              <a:rPr lang="es-CO"/>
              <a:t> Generales del equipo fase 2</a:t>
            </a:r>
            <a:endParaRPr/>
          </a:p>
        </p:txBody>
      </p:sp>
      <p:sp>
        <p:nvSpPr>
          <p:cNvPr id="233" name="Google Shape;233;g3a8e20dd7aa_0_15"/>
          <p:cNvSpPr txBox="1"/>
          <p:nvPr>
            <p:ph idx="1" type="body"/>
          </p:nvPr>
        </p:nvSpPr>
        <p:spPr>
          <a:xfrm>
            <a:off x="680325" y="2336875"/>
            <a:ext cx="9613800" cy="4198500"/>
          </a:xfrm>
          <a:prstGeom prst="rect">
            <a:avLst/>
          </a:prstGeom>
        </p:spPr>
        <p:txBody>
          <a:bodyPr anchorCtr="0" anchor="t" bIns="45700" lIns="91425" spcFirstLastPara="1" rIns="91425" wrap="square" tIns="45700">
            <a:noAutofit/>
          </a:bodyPr>
          <a:lstStyle/>
          <a:p>
            <a:pPr indent="0" lvl="0" marL="0" rtl="0" algn="l">
              <a:lnSpc>
                <a:spcPct val="105000"/>
              </a:lnSpc>
              <a:spcBef>
                <a:spcPts val="1400"/>
              </a:spcBef>
              <a:spcAft>
                <a:spcPts val="0"/>
              </a:spcAft>
              <a:buClr>
                <a:schemeClr val="dk1"/>
              </a:buClr>
              <a:buSzPts val="523"/>
              <a:buFont typeface="Arial"/>
              <a:buNone/>
            </a:pPr>
            <a:r>
              <a:rPr b="1" lang="es-CO" sz="1501">
                <a:latin typeface="Arial"/>
                <a:ea typeface="Arial"/>
                <a:cs typeface="Arial"/>
                <a:sym typeface="Arial"/>
              </a:rPr>
              <a:t>1. Cobertura funcional</a:t>
            </a:r>
            <a:endParaRPr b="1" sz="1501">
              <a:latin typeface="Arial"/>
              <a:ea typeface="Arial"/>
              <a:cs typeface="Arial"/>
              <a:sym typeface="Arial"/>
            </a:endParaRPr>
          </a:p>
          <a:p>
            <a:pPr indent="-317883" lvl="0" marL="457200" rtl="0" algn="l">
              <a:lnSpc>
                <a:spcPct val="105000"/>
              </a:lnSpc>
              <a:spcBef>
                <a:spcPts val="1200"/>
              </a:spcBef>
              <a:spcAft>
                <a:spcPts val="0"/>
              </a:spcAft>
              <a:buClr>
                <a:schemeClr val="lt1"/>
              </a:buClr>
              <a:buSzPts val="1406"/>
              <a:buChar char="●"/>
            </a:pPr>
            <a:r>
              <a:rPr lang="es-CO" sz="1406">
                <a:latin typeface="Arial"/>
                <a:ea typeface="Arial"/>
                <a:cs typeface="Arial"/>
                <a:sym typeface="Arial"/>
              </a:rPr>
              <a:t>Al menos </a:t>
            </a:r>
            <a:r>
              <a:rPr b="1" lang="es-CO" sz="1406">
                <a:latin typeface="Arial"/>
                <a:ea typeface="Arial"/>
                <a:cs typeface="Arial"/>
                <a:sym typeface="Arial"/>
              </a:rPr>
              <a:t>90% de las funcionalidades planificadas</a:t>
            </a:r>
            <a:r>
              <a:rPr lang="es-CO" sz="1406">
                <a:latin typeface="Arial"/>
                <a:ea typeface="Arial"/>
                <a:cs typeface="Arial"/>
                <a:sym typeface="Arial"/>
              </a:rPr>
              <a:t> deben estar implementadas y validadas mediante pruebas de aceptación.</a:t>
            </a:r>
            <a:br>
              <a:rPr lang="es-CO" sz="1406">
                <a:latin typeface="Arial"/>
                <a:ea typeface="Arial"/>
                <a:cs typeface="Arial"/>
                <a:sym typeface="Arial"/>
              </a:rPr>
            </a:br>
            <a:endParaRPr sz="1406">
              <a:latin typeface="Arial"/>
              <a:ea typeface="Arial"/>
              <a:cs typeface="Arial"/>
              <a:sym typeface="Arial"/>
            </a:endParaRPr>
          </a:p>
          <a:p>
            <a:pPr indent="0" lvl="0" marL="0" rtl="0" algn="l">
              <a:lnSpc>
                <a:spcPct val="105000"/>
              </a:lnSpc>
              <a:spcBef>
                <a:spcPts val="1400"/>
              </a:spcBef>
              <a:spcAft>
                <a:spcPts val="0"/>
              </a:spcAft>
              <a:buClr>
                <a:schemeClr val="dk1"/>
              </a:buClr>
              <a:buSzPts val="523"/>
              <a:buFont typeface="Arial"/>
              <a:buNone/>
            </a:pPr>
            <a:r>
              <a:rPr b="1" lang="es-CO" sz="1501">
                <a:latin typeface="Arial"/>
                <a:ea typeface="Arial"/>
                <a:cs typeface="Arial"/>
                <a:sym typeface="Arial"/>
              </a:rPr>
              <a:t>2. Calidad del software</a:t>
            </a:r>
            <a:endParaRPr b="1" sz="1501">
              <a:latin typeface="Arial"/>
              <a:ea typeface="Arial"/>
              <a:cs typeface="Arial"/>
              <a:sym typeface="Arial"/>
            </a:endParaRPr>
          </a:p>
          <a:p>
            <a:pPr indent="-317883" lvl="0" marL="457200" rtl="0" algn="l">
              <a:lnSpc>
                <a:spcPct val="105000"/>
              </a:lnSpc>
              <a:spcBef>
                <a:spcPts val="1200"/>
              </a:spcBef>
              <a:spcAft>
                <a:spcPts val="0"/>
              </a:spcAft>
              <a:buClr>
                <a:schemeClr val="lt1"/>
              </a:buClr>
              <a:buSzPts val="1406"/>
              <a:buChar char="●"/>
            </a:pPr>
            <a:r>
              <a:rPr lang="es-CO" sz="1406">
                <a:latin typeface="Arial"/>
                <a:ea typeface="Arial"/>
                <a:cs typeface="Arial"/>
                <a:sym typeface="Arial"/>
              </a:rPr>
              <a:t>Mantener los </a:t>
            </a:r>
            <a:r>
              <a:rPr b="1" lang="es-CO" sz="1406">
                <a:latin typeface="Arial"/>
                <a:ea typeface="Arial"/>
                <a:cs typeface="Arial"/>
                <a:sym typeface="Arial"/>
              </a:rPr>
              <a:t>defectos críticos por debajo del 10%</a:t>
            </a:r>
            <a:r>
              <a:rPr lang="es-CO" sz="1406">
                <a:latin typeface="Arial"/>
                <a:ea typeface="Arial"/>
                <a:cs typeface="Arial"/>
                <a:sym typeface="Arial"/>
              </a:rPr>
              <a:t> durante las pruebas finales y la entrega del proyecto.</a:t>
            </a:r>
            <a:br>
              <a:rPr lang="es-CO" sz="1406">
                <a:latin typeface="Arial"/>
                <a:ea typeface="Arial"/>
                <a:cs typeface="Arial"/>
                <a:sym typeface="Arial"/>
              </a:rPr>
            </a:br>
            <a:endParaRPr sz="1406">
              <a:latin typeface="Arial"/>
              <a:ea typeface="Arial"/>
              <a:cs typeface="Arial"/>
              <a:sym typeface="Arial"/>
            </a:endParaRPr>
          </a:p>
          <a:p>
            <a:pPr indent="0" lvl="0" marL="0" rtl="0" algn="l">
              <a:lnSpc>
                <a:spcPct val="105000"/>
              </a:lnSpc>
              <a:spcBef>
                <a:spcPts val="1400"/>
              </a:spcBef>
              <a:spcAft>
                <a:spcPts val="0"/>
              </a:spcAft>
              <a:buClr>
                <a:schemeClr val="dk1"/>
              </a:buClr>
              <a:buSzPts val="523"/>
              <a:buFont typeface="Arial"/>
              <a:buNone/>
            </a:pPr>
            <a:r>
              <a:rPr b="1" lang="es-CO" sz="1501">
                <a:latin typeface="Arial"/>
                <a:ea typeface="Arial"/>
                <a:cs typeface="Arial"/>
                <a:sym typeface="Arial"/>
              </a:rPr>
              <a:t>3. Cumplimiento de hitos</a:t>
            </a:r>
            <a:endParaRPr b="1" sz="1501">
              <a:latin typeface="Arial"/>
              <a:ea typeface="Arial"/>
              <a:cs typeface="Arial"/>
              <a:sym typeface="Arial"/>
            </a:endParaRPr>
          </a:p>
          <a:p>
            <a:pPr indent="-317883" lvl="0" marL="457200" rtl="0" algn="l">
              <a:lnSpc>
                <a:spcPct val="105000"/>
              </a:lnSpc>
              <a:spcBef>
                <a:spcPts val="1200"/>
              </a:spcBef>
              <a:spcAft>
                <a:spcPts val="0"/>
              </a:spcAft>
              <a:buClr>
                <a:schemeClr val="lt1"/>
              </a:buClr>
              <a:buSzPts val="1406"/>
              <a:buChar char="●"/>
            </a:pPr>
            <a:r>
              <a:rPr lang="es-CO" sz="1406">
                <a:latin typeface="Arial"/>
                <a:ea typeface="Arial"/>
                <a:cs typeface="Arial"/>
                <a:sym typeface="Arial"/>
              </a:rPr>
              <a:t>Al menos </a:t>
            </a:r>
            <a:r>
              <a:rPr b="1" lang="es-CO" sz="1406">
                <a:latin typeface="Arial"/>
                <a:ea typeface="Arial"/>
                <a:cs typeface="Arial"/>
                <a:sym typeface="Arial"/>
              </a:rPr>
              <a:t>85% de los hitos</a:t>
            </a:r>
            <a:r>
              <a:rPr lang="es-CO" sz="1406">
                <a:latin typeface="Arial"/>
                <a:ea typeface="Arial"/>
                <a:cs typeface="Arial"/>
                <a:sym typeface="Arial"/>
              </a:rPr>
              <a:t> deben completarse sin retrasos mayores a </a:t>
            </a:r>
            <a:r>
              <a:rPr b="1" lang="es-CO" sz="1406">
                <a:latin typeface="Arial"/>
                <a:ea typeface="Arial"/>
                <a:cs typeface="Arial"/>
                <a:sym typeface="Arial"/>
              </a:rPr>
              <a:t>dos días hábiles</a:t>
            </a:r>
            <a:r>
              <a:rPr lang="es-CO" sz="1406">
                <a:latin typeface="Arial"/>
                <a:ea typeface="Arial"/>
                <a:cs typeface="Arial"/>
                <a:sym typeface="Arial"/>
              </a:rPr>
              <a:t>.</a:t>
            </a:r>
            <a:br>
              <a:rPr lang="es-CO" sz="1406">
                <a:latin typeface="Arial"/>
                <a:ea typeface="Arial"/>
                <a:cs typeface="Arial"/>
                <a:sym typeface="Arial"/>
              </a:rPr>
            </a:br>
            <a:endParaRPr sz="1406">
              <a:latin typeface="Arial"/>
              <a:ea typeface="Arial"/>
              <a:cs typeface="Arial"/>
              <a:sym typeface="Arial"/>
            </a:endParaRPr>
          </a:p>
          <a:p>
            <a:pPr indent="0" lvl="0" marL="0" rtl="0" algn="l">
              <a:lnSpc>
                <a:spcPct val="105000"/>
              </a:lnSpc>
              <a:spcBef>
                <a:spcPts val="1400"/>
              </a:spcBef>
              <a:spcAft>
                <a:spcPts val="0"/>
              </a:spcAft>
              <a:buClr>
                <a:schemeClr val="dk1"/>
              </a:buClr>
              <a:buSzPts val="523"/>
              <a:buFont typeface="Arial"/>
              <a:buNone/>
            </a:pPr>
            <a:r>
              <a:rPr b="1" lang="es-CO" sz="1501">
                <a:latin typeface="Arial"/>
                <a:ea typeface="Arial"/>
                <a:cs typeface="Arial"/>
                <a:sym typeface="Arial"/>
              </a:rPr>
              <a:t>4. Participación activa del equipo</a:t>
            </a:r>
            <a:endParaRPr b="1" sz="1501">
              <a:latin typeface="Arial"/>
              <a:ea typeface="Arial"/>
              <a:cs typeface="Arial"/>
              <a:sym typeface="Arial"/>
            </a:endParaRPr>
          </a:p>
          <a:p>
            <a:pPr indent="-317883" lvl="0" marL="457200" rtl="0" algn="l">
              <a:lnSpc>
                <a:spcPct val="105000"/>
              </a:lnSpc>
              <a:spcBef>
                <a:spcPts val="1200"/>
              </a:spcBef>
              <a:spcAft>
                <a:spcPts val="0"/>
              </a:spcAft>
              <a:buClr>
                <a:schemeClr val="lt1"/>
              </a:buClr>
              <a:buSzPts val="1406"/>
              <a:buChar char="●"/>
            </a:pPr>
            <a:r>
              <a:rPr lang="es-CO" sz="1406">
                <a:latin typeface="Arial"/>
                <a:ea typeface="Arial"/>
                <a:cs typeface="Arial"/>
                <a:sym typeface="Arial"/>
              </a:rPr>
              <a:t>Un mínimo del </a:t>
            </a:r>
            <a:r>
              <a:rPr b="1" lang="es-CO" sz="1406">
                <a:latin typeface="Arial"/>
                <a:ea typeface="Arial"/>
                <a:cs typeface="Arial"/>
                <a:sym typeface="Arial"/>
              </a:rPr>
              <a:t>90% de los integrantes</a:t>
            </a:r>
            <a:r>
              <a:rPr lang="es-CO" sz="1406">
                <a:latin typeface="Arial"/>
                <a:ea typeface="Arial"/>
                <a:cs typeface="Arial"/>
                <a:sym typeface="Arial"/>
              </a:rPr>
              <a:t> debe participar en reuniones, revisiones y actividades de seguimiento.</a:t>
            </a:r>
            <a:endParaRPr sz="1406">
              <a:latin typeface="Arial"/>
              <a:ea typeface="Arial"/>
              <a:cs typeface="Arial"/>
              <a:sym typeface="Arial"/>
            </a:endParaRPr>
          </a:p>
          <a:p>
            <a:pPr indent="0" lvl="0" marL="0" rtl="0" algn="l">
              <a:lnSpc>
                <a:spcPct val="80000"/>
              </a:lnSpc>
              <a:spcBef>
                <a:spcPts val="1200"/>
              </a:spcBef>
              <a:spcAft>
                <a:spcPts val="0"/>
              </a:spcAft>
              <a:buSzPts val="523"/>
              <a:buNone/>
            </a:pPr>
            <a:r>
              <a:t/>
            </a:r>
            <a:endParaRPr sz="124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a8e20dd7aa_0_25"/>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Comparación</a:t>
            </a:r>
            <a:r>
              <a:rPr lang="es-CO"/>
              <a:t> </a:t>
            </a:r>
            <a:r>
              <a:rPr lang="es-CO"/>
              <a:t>Métricas</a:t>
            </a:r>
            <a:r>
              <a:rPr lang="es-CO"/>
              <a:t> Fase 1 VS Fase 2</a:t>
            </a:r>
            <a:endParaRPr/>
          </a:p>
        </p:txBody>
      </p:sp>
      <p:graphicFrame>
        <p:nvGraphicFramePr>
          <p:cNvPr id="239" name="Google Shape;239;g3a8e20dd7aa_0_25"/>
          <p:cNvGraphicFramePr/>
          <p:nvPr/>
        </p:nvGraphicFramePr>
        <p:xfrm>
          <a:off x="168050" y="2563675"/>
          <a:ext cx="3000000" cy="3000000"/>
        </p:xfrm>
        <a:graphic>
          <a:graphicData uri="http://schemas.openxmlformats.org/drawingml/2006/table">
            <a:tbl>
              <a:tblPr>
                <a:noFill/>
                <a:tableStyleId>{E60CDD4A-6C10-425E-A22F-08132309E51D}</a:tableStyleId>
              </a:tblPr>
              <a:tblGrid>
                <a:gridCol w="2285900"/>
                <a:gridCol w="3167225"/>
                <a:gridCol w="2221650"/>
                <a:gridCol w="4002650"/>
              </a:tblGrid>
              <a:tr h="376350">
                <a:tc>
                  <a:txBody>
                    <a:bodyPr/>
                    <a:lstStyle/>
                    <a:p>
                      <a:pPr indent="0" lvl="0" marL="0" rtl="0" algn="ctr">
                        <a:lnSpc>
                          <a:spcPct val="115000"/>
                        </a:lnSpc>
                        <a:spcBef>
                          <a:spcPts val="0"/>
                        </a:spcBef>
                        <a:spcAft>
                          <a:spcPts val="0"/>
                        </a:spcAft>
                        <a:buNone/>
                      </a:pPr>
                      <a:r>
                        <a:rPr b="1" lang="es-CO" sz="1100">
                          <a:solidFill>
                            <a:schemeClr val="lt1"/>
                          </a:solidFill>
                        </a:rPr>
                        <a:t>Métrica</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1</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2</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Comparación / Análisis</a:t>
                      </a:r>
                      <a:endParaRPr b="1" sz="1100">
                        <a:solidFill>
                          <a:schemeClr val="lt1"/>
                        </a:solidFill>
                      </a:endParaRPr>
                    </a:p>
                  </a:txBody>
                  <a:tcPr marT="91425" marB="91425" marR="91425" marL="91425"/>
                </a:tc>
              </a:tr>
              <a:tr h="702800">
                <a:tc>
                  <a:txBody>
                    <a:bodyPr/>
                    <a:lstStyle/>
                    <a:p>
                      <a:pPr indent="0" lvl="0" marL="0" rtl="0" algn="l">
                        <a:spcBef>
                          <a:spcPts val="0"/>
                        </a:spcBef>
                        <a:spcAft>
                          <a:spcPts val="0"/>
                        </a:spcAft>
                        <a:buNone/>
                      </a:pPr>
                      <a:r>
                        <a:rPr b="1" lang="es-CO" sz="1100">
                          <a:solidFill>
                            <a:schemeClr val="lt1"/>
                          </a:solidFill>
                        </a:rPr>
                        <a:t>Funcionalidades implementadas / Cobertura funcional</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95%</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90% esperado</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Fase 1 supera la meta; en Fase 2 la meta es más flexible por mayor complejidad.</a:t>
                      </a:r>
                      <a:endParaRPr>
                        <a:solidFill>
                          <a:schemeClr val="lt1"/>
                        </a:solidFill>
                      </a:endParaRPr>
                    </a:p>
                  </a:txBody>
                  <a:tcPr marT="91425" marB="91425" marR="91425" marL="91425"/>
                </a:tc>
              </a:tr>
              <a:tr h="606775">
                <a:tc>
                  <a:txBody>
                    <a:bodyPr/>
                    <a:lstStyle/>
                    <a:p>
                      <a:pPr indent="0" lvl="0" marL="0" rtl="0" algn="l">
                        <a:spcBef>
                          <a:spcPts val="0"/>
                        </a:spcBef>
                        <a:spcAft>
                          <a:spcPts val="0"/>
                        </a:spcAft>
                        <a:buNone/>
                      </a:pPr>
                      <a:r>
                        <a:rPr b="1" lang="es-CO" sz="1100">
                          <a:solidFill>
                            <a:schemeClr val="lt1"/>
                          </a:solidFill>
                        </a:rPr>
                        <a:t>Defectos críticos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&lt;5%</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&lt;10% permitido</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Fase 1 tuvo mejor control de calidad; Fase 2 admite mayor margen de error.</a:t>
                      </a:r>
                      <a:endParaRPr>
                        <a:solidFill>
                          <a:schemeClr val="lt1"/>
                        </a:solidFill>
                      </a:endParaRPr>
                    </a:p>
                  </a:txBody>
                  <a:tcPr marT="91425" marB="91425" marR="91425" marL="91425"/>
                </a:tc>
              </a:tr>
              <a:tr h="606775">
                <a:tc>
                  <a:txBody>
                    <a:bodyPr/>
                    <a:lstStyle/>
                    <a:p>
                      <a:pPr indent="0" lvl="0" marL="0" rtl="0" algn="l">
                        <a:spcBef>
                          <a:spcPts val="0"/>
                        </a:spcBef>
                        <a:spcAft>
                          <a:spcPts val="0"/>
                        </a:spcAft>
                        <a:buNone/>
                      </a:pPr>
                      <a:r>
                        <a:rPr b="1" lang="es-CO" sz="1100">
                          <a:solidFill>
                            <a:schemeClr val="lt1"/>
                          </a:solidFill>
                        </a:rPr>
                        <a:t>Cumplimiento de hitos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90%</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85% mínimo</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Fase 1 cumplió sin retrasos; Fase 2 baja ligeramente la exigencia.</a:t>
                      </a:r>
                      <a:endParaRPr>
                        <a:solidFill>
                          <a:schemeClr val="lt1"/>
                        </a:solidFill>
                      </a:endParaRPr>
                    </a:p>
                  </a:txBody>
                  <a:tcPr marT="91425" marB="91425" marR="91425" marL="91425"/>
                </a:tc>
              </a:tr>
              <a:tr h="606775">
                <a:tc>
                  <a:txBody>
                    <a:bodyPr/>
                    <a:lstStyle/>
                    <a:p>
                      <a:pPr indent="0" lvl="0" marL="0" rtl="0" algn="l">
                        <a:spcBef>
                          <a:spcPts val="0"/>
                        </a:spcBef>
                        <a:spcAft>
                          <a:spcPts val="0"/>
                        </a:spcAft>
                        <a:buNone/>
                      </a:pPr>
                      <a:r>
                        <a:rPr b="1" lang="es-CO" sz="1100">
                          <a:solidFill>
                            <a:schemeClr val="lt1"/>
                          </a:solidFill>
                        </a:rPr>
                        <a:t>Participación del equipo</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95%</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90% mínimo</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Participación excelente en Fase 1; Fase 2 mantiene un estándar adecuado.</a:t>
                      </a:r>
                      <a:endParaRPr>
                        <a:solidFill>
                          <a:schemeClr val="lt1"/>
                        </a:solidFill>
                      </a:endParaRPr>
                    </a:p>
                  </a:txBody>
                  <a:tcPr marT="91425" marB="91425" marR="91425" marL="91425"/>
                </a:tc>
              </a:tr>
              <a:tr h="1029250">
                <a:tc>
                  <a:txBody>
                    <a:bodyPr/>
                    <a:lstStyle/>
                    <a:p>
                      <a:pPr indent="0" lvl="0" marL="0" rtl="0" algn="l">
                        <a:spcBef>
                          <a:spcPts val="0"/>
                        </a:spcBef>
                        <a:spcAft>
                          <a:spcPts val="0"/>
                        </a:spcAft>
                        <a:buNone/>
                      </a:pPr>
                      <a:r>
                        <a:rPr b="1" lang="es-CO" sz="1100">
                          <a:solidFill>
                            <a:schemeClr val="lt1"/>
                          </a:solidFill>
                        </a:rPr>
                        <a:t>Observaciones generales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Tareas no planeadas incrementaron tiempo en 8%, sin afectar funcionalidades ni calidad.</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No aplica (métrica definida sin observaciones adicionales).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Fase 1 enfrentó imprevistos pero mantuvo desempeño sobresaliente; Fase 2 ajusta metas por crecimiento del alcance.</a:t>
                      </a:r>
                      <a:endParaRPr>
                        <a:solidFill>
                          <a:schemeClr val="lt1"/>
                        </a:solidFill>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a8e20dd7aa_0_38"/>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Métricas</a:t>
            </a:r>
            <a:r>
              <a:rPr lang="es-CO"/>
              <a:t> por Rol </a:t>
            </a:r>
            <a:endParaRPr/>
          </a:p>
        </p:txBody>
      </p:sp>
      <p:sp>
        <p:nvSpPr>
          <p:cNvPr id="245" name="Google Shape;245;g3a8e20dd7aa_0_38"/>
          <p:cNvSpPr txBox="1"/>
          <p:nvPr>
            <p:ph idx="1" type="body"/>
          </p:nvPr>
        </p:nvSpPr>
        <p:spPr>
          <a:xfrm>
            <a:off x="680321" y="2336873"/>
            <a:ext cx="9613800" cy="3599400"/>
          </a:xfrm>
          <a:prstGeom prst="rect">
            <a:avLst/>
          </a:prstGeom>
        </p:spPr>
        <p:txBody>
          <a:bodyPr anchorCtr="0" anchor="t" bIns="45700" lIns="91425" spcFirstLastPara="1" rIns="91425" wrap="square" tIns="45700">
            <a:normAutofit fontScale="32500" lnSpcReduction="20000"/>
          </a:bodyPr>
          <a:lstStyle/>
          <a:p>
            <a:pPr indent="0" lvl="0" marL="0" rtl="0" algn="l">
              <a:lnSpc>
                <a:spcPct val="115000"/>
              </a:lnSpc>
              <a:spcBef>
                <a:spcPts val="1400"/>
              </a:spcBef>
              <a:spcAft>
                <a:spcPts val="0"/>
              </a:spcAft>
              <a:buClr>
                <a:schemeClr val="dk1"/>
              </a:buClr>
              <a:buSzPts val="358"/>
              <a:buFont typeface="Arial"/>
              <a:buNone/>
            </a:pPr>
            <a:r>
              <a:rPr b="1" lang="es-CO" sz="9061">
                <a:latin typeface="Arial"/>
                <a:ea typeface="Arial"/>
                <a:cs typeface="Arial"/>
                <a:sym typeface="Arial"/>
              </a:rPr>
              <a:t>Líder de Equipo fase 1</a:t>
            </a:r>
            <a:endParaRPr b="1" sz="9061">
              <a:latin typeface="Arial"/>
              <a:ea typeface="Arial"/>
              <a:cs typeface="Arial"/>
              <a:sym typeface="Arial"/>
            </a:endParaRPr>
          </a:p>
          <a:p>
            <a:pPr indent="-312413" lvl="0" marL="457200" rtl="0" algn="l">
              <a:lnSpc>
                <a:spcPct val="115000"/>
              </a:lnSpc>
              <a:spcBef>
                <a:spcPts val="1200"/>
              </a:spcBef>
              <a:spcAft>
                <a:spcPts val="0"/>
              </a:spcAft>
              <a:buClr>
                <a:schemeClr val="lt1"/>
              </a:buClr>
              <a:buSzPct val="100000"/>
              <a:buChar char="●"/>
            </a:pPr>
            <a:r>
              <a:rPr b="1" lang="es-CO" sz="4061">
                <a:latin typeface="Arial"/>
                <a:ea typeface="Arial"/>
                <a:cs typeface="Arial"/>
                <a:sym typeface="Arial"/>
              </a:rPr>
              <a:t>Métricas:</a:t>
            </a:r>
            <a:br>
              <a:rPr b="1" lang="es-CO" sz="4061">
                <a:latin typeface="Arial"/>
                <a:ea typeface="Arial"/>
                <a:cs typeface="Arial"/>
                <a:sym typeface="Arial"/>
              </a:rPr>
            </a:br>
            <a:endParaRPr b="1" sz="4061">
              <a:latin typeface="Arial"/>
              <a:ea typeface="Arial"/>
              <a:cs typeface="Arial"/>
              <a:sym typeface="Arial"/>
            </a:endParaRPr>
          </a:p>
          <a:p>
            <a:pPr indent="-312413" lvl="1" marL="914400" rtl="0" algn="l">
              <a:lnSpc>
                <a:spcPct val="115000"/>
              </a:lnSpc>
              <a:spcBef>
                <a:spcPts val="0"/>
              </a:spcBef>
              <a:spcAft>
                <a:spcPts val="0"/>
              </a:spcAft>
              <a:buClr>
                <a:schemeClr val="lt1"/>
              </a:buClr>
              <a:buSzPct val="100000"/>
              <a:buAutoNum type="arabicPeriod"/>
            </a:pPr>
            <a:r>
              <a:rPr lang="es-CO" sz="4061">
                <a:latin typeface="Arial"/>
                <a:ea typeface="Arial"/>
                <a:cs typeface="Arial"/>
                <a:sym typeface="Arial"/>
              </a:rPr>
              <a:t>Actas de reuniones publicadas en &lt;24h.</a:t>
            </a:r>
            <a:br>
              <a:rPr lang="es-CO" sz="4061">
                <a:latin typeface="Arial"/>
                <a:ea typeface="Arial"/>
                <a:cs typeface="Arial"/>
                <a:sym typeface="Arial"/>
              </a:rPr>
            </a:br>
            <a:endParaRPr sz="4061">
              <a:latin typeface="Arial"/>
              <a:ea typeface="Arial"/>
              <a:cs typeface="Arial"/>
              <a:sym typeface="Arial"/>
            </a:endParaRPr>
          </a:p>
          <a:p>
            <a:pPr indent="-312413" lvl="1" marL="914400" rtl="0" algn="l">
              <a:lnSpc>
                <a:spcPct val="115000"/>
              </a:lnSpc>
              <a:spcBef>
                <a:spcPts val="0"/>
              </a:spcBef>
              <a:spcAft>
                <a:spcPts val="0"/>
              </a:spcAft>
              <a:buClr>
                <a:schemeClr val="lt1"/>
              </a:buClr>
              <a:buSzPct val="100000"/>
              <a:buAutoNum type="arabicPeriod"/>
            </a:pPr>
            <a:r>
              <a:rPr lang="es-CO" sz="4061">
                <a:latin typeface="Arial"/>
                <a:ea typeface="Arial"/>
                <a:cs typeface="Arial"/>
                <a:sym typeface="Arial"/>
              </a:rPr>
              <a:t>Cumplimiento de tareas según cronograma.</a:t>
            </a:r>
            <a:br>
              <a:rPr lang="es-CO" sz="4061">
                <a:latin typeface="Arial"/>
                <a:ea typeface="Arial"/>
                <a:cs typeface="Arial"/>
                <a:sym typeface="Arial"/>
              </a:rPr>
            </a:br>
            <a:endParaRPr sz="4061">
              <a:latin typeface="Arial"/>
              <a:ea typeface="Arial"/>
              <a:cs typeface="Arial"/>
              <a:sym typeface="Arial"/>
            </a:endParaRPr>
          </a:p>
          <a:p>
            <a:pPr indent="-312413" lvl="1" marL="914400" rtl="0" algn="l">
              <a:lnSpc>
                <a:spcPct val="115000"/>
              </a:lnSpc>
              <a:spcBef>
                <a:spcPts val="0"/>
              </a:spcBef>
              <a:spcAft>
                <a:spcPts val="0"/>
              </a:spcAft>
              <a:buClr>
                <a:schemeClr val="lt1"/>
              </a:buClr>
              <a:buSzPct val="100000"/>
              <a:buAutoNum type="arabicPeriod"/>
            </a:pPr>
            <a:r>
              <a:rPr lang="es-CO" sz="4061">
                <a:latin typeface="Arial"/>
                <a:ea typeface="Arial"/>
                <a:cs typeface="Arial"/>
                <a:sym typeface="Arial"/>
              </a:rPr>
              <a:t>Satisfacción del equipo con desempeño.</a:t>
            </a:r>
            <a:br>
              <a:rPr lang="es-CO" sz="4061">
                <a:latin typeface="Arial"/>
                <a:ea typeface="Arial"/>
                <a:cs typeface="Arial"/>
                <a:sym typeface="Arial"/>
              </a:rPr>
            </a:br>
            <a:endParaRPr sz="4061">
              <a:latin typeface="Arial"/>
              <a:ea typeface="Arial"/>
              <a:cs typeface="Arial"/>
              <a:sym typeface="Arial"/>
            </a:endParaRPr>
          </a:p>
          <a:p>
            <a:pPr indent="-312413" lvl="1" marL="914400" rtl="0" algn="l">
              <a:lnSpc>
                <a:spcPct val="115000"/>
              </a:lnSpc>
              <a:spcBef>
                <a:spcPts val="0"/>
              </a:spcBef>
              <a:spcAft>
                <a:spcPts val="0"/>
              </a:spcAft>
              <a:buClr>
                <a:schemeClr val="lt1"/>
              </a:buClr>
              <a:buSzPct val="100000"/>
              <a:buAutoNum type="arabicPeriod"/>
            </a:pPr>
            <a:r>
              <a:rPr lang="es-CO" sz="4061">
                <a:latin typeface="Arial"/>
                <a:ea typeface="Arial"/>
                <a:cs typeface="Arial"/>
                <a:sym typeface="Arial"/>
              </a:rPr>
              <a:t>Retrasos por entregas incompletas del LD.</a:t>
            </a:r>
            <a:br>
              <a:rPr lang="es-CO" sz="4061">
                <a:latin typeface="Arial"/>
                <a:ea typeface="Arial"/>
                <a:cs typeface="Arial"/>
                <a:sym typeface="Arial"/>
              </a:rPr>
            </a:br>
            <a:endParaRPr sz="4061">
              <a:latin typeface="Arial"/>
              <a:ea typeface="Arial"/>
              <a:cs typeface="Arial"/>
              <a:sym typeface="Arial"/>
            </a:endParaRPr>
          </a:p>
          <a:p>
            <a:pPr indent="-312413" lvl="0" marL="457200" rtl="0" algn="l">
              <a:lnSpc>
                <a:spcPct val="115000"/>
              </a:lnSpc>
              <a:spcBef>
                <a:spcPts val="0"/>
              </a:spcBef>
              <a:spcAft>
                <a:spcPts val="0"/>
              </a:spcAft>
              <a:buClr>
                <a:schemeClr val="lt1"/>
              </a:buClr>
              <a:buSzPct val="100000"/>
              <a:buChar char="●"/>
            </a:pPr>
            <a:r>
              <a:rPr b="1" lang="es-CO" sz="4061">
                <a:latin typeface="Arial"/>
                <a:ea typeface="Arial"/>
                <a:cs typeface="Arial"/>
                <a:sym typeface="Arial"/>
              </a:rPr>
              <a:t>Aspectos Positivos:</a:t>
            </a:r>
            <a:r>
              <a:rPr lang="es-CO" sz="4061">
                <a:latin typeface="Arial"/>
                <a:ea typeface="Arial"/>
                <a:cs typeface="Arial"/>
                <a:sym typeface="Arial"/>
              </a:rPr>
              <a:t> Comunicación efectiva, organización y liderazgo.</a:t>
            </a:r>
            <a:br>
              <a:rPr lang="es-CO" sz="4061">
                <a:latin typeface="Arial"/>
                <a:ea typeface="Arial"/>
                <a:cs typeface="Arial"/>
                <a:sym typeface="Arial"/>
              </a:rPr>
            </a:br>
            <a:endParaRPr sz="4061">
              <a:latin typeface="Arial"/>
              <a:ea typeface="Arial"/>
              <a:cs typeface="Arial"/>
              <a:sym typeface="Arial"/>
            </a:endParaRPr>
          </a:p>
          <a:p>
            <a:pPr indent="-312413" lvl="0" marL="457200" rtl="0" algn="l">
              <a:lnSpc>
                <a:spcPct val="115000"/>
              </a:lnSpc>
              <a:spcBef>
                <a:spcPts val="0"/>
              </a:spcBef>
              <a:spcAft>
                <a:spcPts val="0"/>
              </a:spcAft>
              <a:buClr>
                <a:schemeClr val="lt1"/>
              </a:buClr>
              <a:buSzPct val="100000"/>
              <a:buChar char="●"/>
            </a:pPr>
            <a:r>
              <a:rPr b="1" lang="es-CO" sz="4061">
                <a:latin typeface="Arial"/>
                <a:ea typeface="Arial"/>
                <a:cs typeface="Arial"/>
                <a:sym typeface="Arial"/>
              </a:rPr>
              <a:t>Aspectos Negativos:</a:t>
            </a:r>
            <a:r>
              <a:rPr lang="es-CO" sz="4061">
                <a:latin typeface="Arial"/>
                <a:ea typeface="Arial"/>
                <a:cs typeface="Arial"/>
                <a:sym typeface="Arial"/>
              </a:rPr>
              <a:t> Sobrecarga en toma de decisiones.</a:t>
            </a:r>
            <a:br>
              <a:rPr lang="es-CO" sz="4061">
                <a:latin typeface="Arial"/>
                <a:ea typeface="Arial"/>
                <a:cs typeface="Arial"/>
                <a:sym typeface="Arial"/>
              </a:rPr>
            </a:br>
            <a:endParaRPr sz="4061">
              <a:latin typeface="Arial"/>
              <a:ea typeface="Arial"/>
              <a:cs typeface="Arial"/>
              <a:sym typeface="Arial"/>
            </a:endParaRPr>
          </a:p>
          <a:p>
            <a:pPr indent="-312413" lvl="0" marL="457200" rtl="0" algn="l">
              <a:lnSpc>
                <a:spcPct val="115000"/>
              </a:lnSpc>
              <a:spcBef>
                <a:spcPts val="0"/>
              </a:spcBef>
              <a:spcAft>
                <a:spcPts val="0"/>
              </a:spcAft>
              <a:buClr>
                <a:schemeClr val="lt1"/>
              </a:buClr>
              <a:buSzPct val="100000"/>
              <a:buChar char="●"/>
            </a:pPr>
            <a:r>
              <a:rPr b="1" lang="es-CO" sz="4061">
                <a:latin typeface="Arial"/>
                <a:ea typeface="Arial"/>
                <a:cs typeface="Arial"/>
                <a:sym typeface="Arial"/>
              </a:rPr>
              <a:t>Propuesta de Mejora:</a:t>
            </a:r>
            <a:r>
              <a:rPr lang="es-CO" sz="4061">
                <a:latin typeface="Arial"/>
                <a:ea typeface="Arial"/>
                <a:cs typeface="Arial"/>
                <a:sym typeface="Arial"/>
              </a:rPr>
              <a:t> Delegar responsabilidades críticas entre líderes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a8e20dd7aa_0_43"/>
          <p:cNvSpPr txBox="1"/>
          <p:nvPr>
            <p:ph idx="1" type="body"/>
          </p:nvPr>
        </p:nvSpPr>
        <p:spPr>
          <a:xfrm>
            <a:off x="249525" y="1275650"/>
            <a:ext cx="11034600" cy="54585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800"/>
              </a:spcBef>
              <a:spcAft>
                <a:spcPts val="0"/>
              </a:spcAft>
              <a:buClr>
                <a:schemeClr val="dk1"/>
              </a:buClr>
              <a:buSzPts val="275"/>
              <a:buFont typeface="Arial"/>
              <a:buNone/>
            </a:pPr>
            <a:r>
              <a:rPr b="1" lang="es-CO" sz="4657">
                <a:latin typeface="Arial"/>
                <a:ea typeface="Arial"/>
                <a:cs typeface="Arial"/>
                <a:sym typeface="Arial"/>
              </a:rPr>
              <a:t>Métricas</a:t>
            </a:r>
            <a:endParaRPr b="1" sz="4657">
              <a:latin typeface="Arial"/>
              <a:ea typeface="Arial"/>
              <a:cs typeface="Arial"/>
              <a:sym typeface="Arial"/>
            </a:endParaRPr>
          </a:p>
          <a:p>
            <a:pPr indent="-299365" lvl="0" marL="457200" rtl="0" algn="l">
              <a:lnSpc>
                <a:spcPct val="115000"/>
              </a:lnSpc>
              <a:spcBef>
                <a:spcPts val="1200"/>
              </a:spcBef>
              <a:spcAft>
                <a:spcPts val="0"/>
              </a:spcAft>
              <a:buClr>
                <a:schemeClr val="lt1"/>
              </a:buClr>
              <a:buSzPct val="100000"/>
              <a:buChar char="●"/>
            </a:pPr>
            <a:r>
              <a:rPr lang="es-CO" sz="4457">
                <a:latin typeface="Arial"/>
                <a:ea typeface="Arial"/>
                <a:cs typeface="Arial"/>
                <a:sym typeface="Arial"/>
              </a:rPr>
              <a:t>Conducir reuniones semanales y entregar actas en máximo 24 horas.</a:t>
            </a:r>
            <a:br>
              <a:rPr lang="es-CO" sz="4457">
                <a:latin typeface="Arial"/>
                <a:ea typeface="Arial"/>
                <a:cs typeface="Arial"/>
                <a:sym typeface="Arial"/>
              </a:rPr>
            </a:br>
            <a:endParaRPr sz="4457">
              <a:latin typeface="Arial"/>
              <a:ea typeface="Arial"/>
              <a:cs typeface="Arial"/>
              <a:sym typeface="Arial"/>
            </a:endParaRPr>
          </a:p>
          <a:p>
            <a:pPr indent="-299365" lvl="0" marL="457200" rtl="0" algn="l">
              <a:lnSpc>
                <a:spcPct val="115000"/>
              </a:lnSpc>
              <a:spcBef>
                <a:spcPts val="0"/>
              </a:spcBef>
              <a:spcAft>
                <a:spcPts val="0"/>
              </a:spcAft>
              <a:buClr>
                <a:schemeClr val="lt1"/>
              </a:buClr>
              <a:buSzPct val="100000"/>
              <a:buChar char="●"/>
            </a:pPr>
            <a:r>
              <a:rPr lang="es-CO" sz="4457">
                <a:latin typeface="Arial"/>
                <a:ea typeface="Arial"/>
                <a:cs typeface="Arial"/>
                <a:sym typeface="Arial"/>
              </a:rPr>
              <a:t>Lograr al menos 90% de tareas completadas según el cronograma.</a:t>
            </a:r>
            <a:br>
              <a:rPr lang="es-CO" sz="4457">
                <a:latin typeface="Arial"/>
                <a:ea typeface="Arial"/>
                <a:cs typeface="Arial"/>
                <a:sym typeface="Arial"/>
              </a:rPr>
            </a:br>
            <a:endParaRPr sz="4457">
              <a:latin typeface="Arial"/>
              <a:ea typeface="Arial"/>
              <a:cs typeface="Arial"/>
              <a:sym typeface="Arial"/>
            </a:endParaRPr>
          </a:p>
          <a:p>
            <a:pPr indent="-299365" lvl="0" marL="457200" rtl="0" algn="l">
              <a:lnSpc>
                <a:spcPct val="115000"/>
              </a:lnSpc>
              <a:spcBef>
                <a:spcPts val="0"/>
              </a:spcBef>
              <a:spcAft>
                <a:spcPts val="0"/>
              </a:spcAft>
              <a:buClr>
                <a:schemeClr val="lt1"/>
              </a:buClr>
              <a:buSzPct val="100000"/>
              <a:buChar char="●"/>
            </a:pPr>
            <a:r>
              <a:rPr lang="es-CO" sz="4457">
                <a:latin typeface="Arial"/>
                <a:ea typeface="Arial"/>
                <a:cs typeface="Arial"/>
                <a:sym typeface="Arial"/>
              </a:rPr>
              <a:t>Satisfacción del equipo ≥ 85%.</a:t>
            </a:r>
            <a:br>
              <a:rPr lang="es-CO" sz="4457">
                <a:latin typeface="Arial"/>
                <a:ea typeface="Arial"/>
                <a:cs typeface="Arial"/>
                <a:sym typeface="Arial"/>
              </a:rPr>
            </a:br>
            <a:endParaRPr sz="4457">
              <a:latin typeface="Arial"/>
              <a:ea typeface="Arial"/>
              <a:cs typeface="Arial"/>
              <a:sym typeface="Arial"/>
            </a:endParaRPr>
          </a:p>
          <a:p>
            <a:pPr indent="-299365" lvl="0" marL="457200" rtl="0" algn="l">
              <a:lnSpc>
                <a:spcPct val="115000"/>
              </a:lnSpc>
              <a:spcBef>
                <a:spcPts val="0"/>
              </a:spcBef>
              <a:spcAft>
                <a:spcPts val="0"/>
              </a:spcAft>
              <a:buClr>
                <a:schemeClr val="lt1"/>
              </a:buClr>
              <a:buSzPct val="100000"/>
              <a:buChar char="●"/>
            </a:pPr>
            <a:r>
              <a:rPr lang="es-CO" sz="4457">
                <a:latin typeface="Arial"/>
                <a:ea typeface="Arial"/>
                <a:cs typeface="Arial"/>
                <a:sym typeface="Arial"/>
              </a:rPr>
              <a:t>Reducir en 15% los retrasos o incumplimientos.</a:t>
            </a:r>
            <a:br>
              <a:rPr lang="es-CO" sz="4457">
                <a:latin typeface="Arial"/>
                <a:ea typeface="Arial"/>
                <a:cs typeface="Arial"/>
                <a:sym typeface="Arial"/>
              </a:rPr>
            </a:br>
            <a:endParaRPr sz="4457">
              <a:latin typeface="Arial"/>
              <a:ea typeface="Arial"/>
              <a:cs typeface="Arial"/>
              <a:sym typeface="Arial"/>
            </a:endParaRPr>
          </a:p>
          <a:p>
            <a:pPr indent="0" lvl="0" marL="0" rtl="0" algn="l">
              <a:lnSpc>
                <a:spcPct val="115000"/>
              </a:lnSpc>
              <a:spcBef>
                <a:spcPts val="1400"/>
              </a:spcBef>
              <a:spcAft>
                <a:spcPts val="0"/>
              </a:spcAft>
              <a:buNone/>
            </a:pPr>
            <a:r>
              <a:rPr b="1" lang="es-CO" sz="4657">
                <a:latin typeface="Arial"/>
                <a:ea typeface="Arial"/>
                <a:cs typeface="Arial"/>
                <a:sym typeface="Arial"/>
              </a:rPr>
              <a:t>Aspectos positivos</a:t>
            </a:r>
            <a:endParaRPr b="1" sz="4657">
              <a:latin typeface="Arial"/>
              <a:ea typeface="Arial"/>
              <a:cs typeface="Arial"/>
              <a:sym typeface="Arial"/>
            </a:endParaRPr>
          </a:p>
          <a:p>
            <a:pPr indent="-299365" lvl="0" marL="457200" rtl="0" algn="l">
              <a:lnSpc>
                <a:spcPct val="115000"/>
              </a:lnSpc>
              <a:spcBef>
                <a:spcPts val="1200"/>
              </a:spcBef>
              <a:spcAft>
                <a:spcPts val="0"/>
              </a:spcAft>
              <a:buClr>
                <a:schemeClr val="lt1"/>
              </a:buClr>
              <a:buSzPct val="100000"/>
              <a:buChar char="●"/>
            </a:pPr>
            <a:r>
              <a:rPr lang="es-CO" sz="4457">
                <a:latin typeface="Arial"/>
                <a:ea typeface="Arial"/>
                <a:cs typeface="Arial"/>
                <a:sym typeface="Arial"/>
              </a:rPr>
              <a:t>Buena coordinación.</a:t>
            </a:r>
            <a:br>
              <a:rPr lang="es-CO" sz="4457">
                <a:latin typeface="Arial"/>
                <a:ea typeface="Arial"/>
                <a:cs typeface="Arial"/>
                <a:sym typeface="Arial"/>
              </a:rPr>
            </a:br>
            <a:endParaRPr sz="4457">
              <a:latin typeface="Arial"/>
              <a:ea typeface="Arial"/>
              <a:cs typeface="Arial"/>
              <a:sym typeface="Arial"/>
            </a:endParaRPr>
          </a:p>
          <a:p>
            <a:pPr indent="-299365" lvl="0" marL="457200" rtl="0" algn="l">
              <a:lnSpc>
                <a:spcPct val="115000"/>
              </a:lnSpc>
              <a:spcBef>
                <a:spcPts val="0"/>
              </a:spcBef>
              <a:spcAft>
                <a:spcPts val="0"/>
              </a:spcAft>
              <a:buClr>
                <a:schemeClr val="lt1"/>
              </a:buClr>
              <a:buSzPct val="100000"/>
              <a:buChar char="●"/>
            </a:pPr>
            <a:r>
              <a:rPr lang="es-CO" sz="4457">
                <a:latin typeface="Arial"/>
                <a:ea typeface="Arial"/>
                <a:cs typeface="Arial"/>
                <a:sym typeface="Arial"/>
              </a:rPr>
              <a:t>Puntualidad en las reuniones y entrega de actas.</a:t>
            </a:r>
            <a:br>
              <a:rPr lang="es-CO" sz="4457">
                <a:latin typeface="Arial"/>
                <a:ea typeface="Arial"/>
                <a:cs typeface="Arial"/>
                <a:sym typeface="Arial"/>
              </a:rPr>
            </a:br>
            <a:endParaRPr sz="4457">
              <a:latin typeface="Arial"/>
              <a:ea typeface="Arial"/>
              <a:cs typeface="Arial"/>
              <a:sym typeface="Arial"/>
            </a:endParaRPr>
          </a:p>
          <a:p>
            <a:pPr indent="-299365" lvl="0" marL="457200" rtl="0" algn="l">
              <a:lnSpc>
                <a:spcPct val="115000"/>
              </a:lnSpc>
              <a:spcBef>
                <a:spcPts val="0"/>
              </a:spcBef>
              <a:spcAft>
                <a:spcPts val="0"/>
              </a:spcAft>
              <a:buClr>
                <a:schemeClr val="lt1"/>
              </a:buClr>
              <a:buSzPct val="100000"/>
              <a:buChar char="●"/>
            </a:pPr>
            <a:r>
              <a:rPr lang="es-CO" sz="4457">
                <a:latin typeface="Arial"/>
                <a:ea typeface="Arial"/>
                <a:cs typeface="Arial"/>
                <a:sym typeface="Arial"/>
              </a:rPr>
              <a:t>Alto nivel de compromiso  con las tareas.</a:t>
            </a:r>
            <a:br>
              <a:rPr lang="es-CO" sz="4457">
                <a:latin typeface="Arial"/>
                <a:ea typeface="Arial"/>
                <a:cs typeface="Arial"/>
                <a:sym typeface="Arial"/>
              </a:rPr>
            </a:br>
            <a:endParaRPr sz="4457">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4657">
                <a:latin typeface="Arial"/>
                <a:ea typeface="Arial"/>
                <a:cs typeface="Arial"/>
                <a:sym typeface="Arial"/>
              </a:rPr>
              <a:t>Aspectos negativos</a:t>
            </a:r>
            <a:endParaRPr b="1" sz="4657">
              <a:latin typeface="Arial"/>
              <a:ea typeface="Arial"/>
              <a:cs typeface="Arial"/>
              <a:sym typeface="Arial"/>
            </a:endParaRPr>
          </a:p>
          <a:p>
            <a:pPr indent="-299365" lvl="0" marL="457200" rtl="0" algn="l">
              <a:lnSpc>
                <a:spcPct val="115000"/>
              </a:lnSpc>
              <a:spcBef>
                <a:spcPts val="1200"/>
              </a:spcBef>
              <a:spcAft>
                <a:spcPts val="0"/>
              </a:spcAft>
              <a:buClr>
                <a:schemeClr val="lt1"/>
              </a:buClr>
              <a:buSzPct val="100000"/>
              <a:buChar char="●"/>
            </a:pPr>
            <a:r>
              <a:rPr lang="es-CO" sz="4457">
                <a:latin typeface="Arial"/>
                <a:ea typeface="Arial"/>
                <a:cs typeface="Arial"/>
                <a:sym typeface="Arial"/>
              </a:rPr>
              <a:t>Algunas tareas pueden retrasarse por sobrecarga del mismo líder.</a:t>
            </a:r>
            <a:br>
              <a:rPr lang="es-CO" sz="4457">
                <a:latin typeface="Arial"/>
                <a:ea typeface="Arial"/>
                <a:cs typeface="Arial"/>
                <a:sym typeface="Arial"/>
              </a:rPr>
            </a:br>
            <a:endParaRPr sz="4457">
              <a:latin typeface="Arial"/>
              <a:ea typeface="Arial"/>
              <a:cs typeface="Arial"/>
              <a:sym typeface="Arial"/>
            </a:endParaRPr>
          </a:p>
          <a:p>
            <a:pPr indent="-299365" lvl="0" marL="457200" rtl="0" algn="l">
              <a:lnSpc>
                <a:spcPct val="115000"/>
              </a:lnSpc>
              <a:spcBef>
                <a:spcPts val="0"/>
              </a:spcBef>
              <a:spcAft>
                <a:spcPts val="0"/>
              </a:spcAft>
              <a:buClr>
                <a:schemeClr val="lt1"/>
              </a:buClr>
              <a:buSzPct val="100000"/>
              <a:buChar char="●"/>
            </a:pPr>
            <a:r>
              <a:rPr lang="es-CO" sz="4457">
                <a:latin typeface="Arial"/>
                <a:ea typeface="Arial"/>
                <a:cs typeface="Arial"/>
                <a:sym typeface="Arial"/>
              </a:rPr>
              <a:t>Dependencia alta de un solo integrante para múltiples roles.</a:t>
            </a:r>
            <a:br>
              <a:rPr lang="es-CO" sz="4457">
                <a:latin typeface="Arial"/>
                <a:ea typeface="Arial"/>
                <a:cs typeface="Arial"/>
                <a:sym typeface="Arial"/>
              </a:rPr>
            </a:br>
            <a:endParaRPr sz="4457">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4657">
                <a:latin typeface="Arial"/>
                <a:ea typeface="Arial"/>
                <a:cs typeface="Arial"/>
                <a:sym typeface="Arial"/>
              </a:rPr>
              <a:t>Propuesta de mejora</a:t>
            </a:r>
            <a:endParaRPr b="1" sz="4657">
              <a:latin typeface="Arial"/>
              <a:ea typeface="Arial"/>
              <a:cs typeface="Arial"/>
              <a:sym typeface="Arial"/>
            </a:endParaRPr>
          </a:p>
          <a:p>
            <a:pPr indent="-299365" lvl="0" marL="457200" rtl="0" algn="l">
              <a:lnSpc>
                <a:spcPct val="115000"/>
              </a:lnSpc>
              <a:spcBef>
                <a:spcPts val="1200"/>
              </a:spcBef>
              <a:spcAft>
                <a:spcPts val="0"/>
              </a:spcAft>
              <a:buClr>
                <a:schemeClr val="lt1"/>
              </a:buClr>
              <a:buSzPct val="100000"/>
              <a:buChar char="●"/>
            </a:pPr>
            <a:r>
              <a:rPr lang="es-CO" sz="4457">
                <a:latin typeface="Arial"/>
                <a:ea typeface="Arial"/>
                <a:cs typeface="Arial"/>
                <a:sym typeface="Arial"/>
              </a:rPr>
              <a:t>Delegar microtareas o actividades administrativas para evitar saturación.</a:t>
            </a:r>
            <a:br>
              <a:rPr lang="es-CO" sz="4457">
                <a:latin typeface="Arial"/>
                <a:ea typeface="Arial"/>
                <a:cs typeface="Arial"/>
                <a:sym typeface="Arial"/>
              </a:rPr>
            </a:br>
            <a:endParaRPr sz="4457">
              <a:latin typeface="Arial"/>
              <a:ea typeface="Arial"/>
              <a:cs typeface="Arial"/>
              <a:sym typeface="Arial"/>
            </a:endParaRPr>
          </a:p>
          <a:p>
            <a:pPr indent="-299365" lvl="0" marL="457200" rtl="0" algn="l">
              <a:lnSpc>
                <a:spcPct val="115000"/>
              </a:lnSpc>
              <a:spcBef>
                <a:spcPts val="0"/>
              </a:spcBef>
              <a:spcAft>
                <a:spcPts val="0"/>
              </a:spcAft>
              <a:buClr>
                <a:schemeClr val="lt1"/>
              </a:buClr>
              <a:buSzPct val="100000"/>
              <a:buChar char="●"/>
            </a:pPr>
            <a:r>
              <a:rPr lang="es-CO" sz="4457">
                <a:latin typeface="Arial"/>
                <a:ea typeface="Arial"/>
                <a:cs typeface="Arial"/>
                <a:sym typeface="Arial"/>
              </a:rPr>
              <a:t>Implementar un tablero de seguimiento visible para mejorar la distribución del trabajo.</a:t>
            </a:r>
            <a:endParaRPr sz="4457">
              <a:latin typeface="Arial"/>
              <a:ea typeface="Arial"/>
              <a:cs typeface="Arial"/>
              <a:sym typeface="Arial"/>
            </a:endParaRPr>
          </a:p>
          <a:p>
            <a:pPr indent="0" lvl="0" marL="0" rtl="0" algn="l">
              <a:spcBef>
                <a:spcPts val="1200"/>
              </a:spcBef>
              <a:spcAft>
                <a:spcPts val="0"/>
              </a:spcAft>
              <a:buNone/>
            </a:pPr>
            <a:r>
              <a:t/>
            </a:r>
            <a:endParaRPr/>
          </a:p>
        </p:txBody>
      </p:sp>
      <p:sp>
        <p:nvSpPr>
          <p:cNvPr id="251" name="Google Shape;251;g3a8e20dd7aa_0_43"/>
          <p:cNvSpPr txBox="1"/>
          <p:nvPr/>
        </p:nvSpPr>
        <p:spPr>
          <a:xfrm>
            <a:off x="0" y="629150"/>
            <a:ext cx="75345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s-CO" sz="3000">
                <a:solidFill>
                  <a:schemeClr val="lt1"/>
                </a:solidFill>
              </a:rPr>
              <a:t>Lider de Equipo fase 2</a:t>
            </a:r>
            <a:endParaRPr sz="30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a8e20dd7aa_0_49"/>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Comparación</a:t>
            </a:r>
            <a:r>
              <a:rPr lang="es-CO"/>
              <a:t> </a:t>
            </a:r>
            <a:r>
              <a:rPr lang="es-CO"/>
              <a:t>Líder</a:t>
            </a:r>
            <a:r>
              <a:rPr lang="es-CO"/>
              <a:t> de Equipo fase 1 VS fase 2</a:t>
            </a:r>
            <a:endParaRPr/>
          </a:p>
        </p:txBody>
      </p:sp>
      <p:graphicFrame>
        <p:nvGraphicFramePr>
          <p:cNvPr id="257" name="Google Shape;257;g3a8e20dd7aa_0_49"/>
          <p:cNvGraphicFramePr/>
          <p:nvPr/>
        </p:nvGraphicFramePr>
        <p:xfrm>
          <a:off x="210338" y="2344475"/>
          <a:ext cx="3000000" cy="3000000"/>
        </p:xfrm>
        <a:graphic>
          <a:graphicData uri="http://schemas.openxmlformats.org/drawingml/2006/table">
            <a:tbl>
              <a:tblPr>
                <a:noFill/>
                <a:tableStyleId>{E60CDD4A-6C10-425E-A22F-08132309E51D}</a:tableStyleId>
              </a:tblPr>
              <a:tblGrid>
                <a:gridCol w="906900"/>
                <a:gridCol w="3738700"/>
                <a:gridCol w="3664650"/>
                <a:gridCol w="3461075"/>
              </a:tblGrid>
              <a:tr h="358200">
                <a:tc>
                  <a:txBody>
                    <a:bodyPr/>
                    <a:lstStyle/>
                    <a:p>
                      <a:pPr indent="0" lvl="0" marL="0" rtl="0" algn="ctr">
                        <a:lnSpc>
                          <a:spcPct val="115000"/>
                        </a:lnSpc>
                        <a:spcBef>
                          <a:spcPts val="0"/>
                        </a:spcBef>
                        <a:spcAft>
                          <a:spcPts val="0"/>
                        </a:spcAft>
                        <a:buNone/>
                      </a:pPr>
                      <a:r>
                        <a:rPr b="1" lang="es-CO" sz="1100">
                          <a:solidFill>
                            <a:schemeClr val="lt1"/>
                          </a:solidFill>
                        </a:rPr>
                        <a:t>Categoría</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1 – Líder de Equipo</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2 – Líder de Equipo</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Comparación / Evolución</a:t>
                      </a:r>
                      <a:endParaRPr b="1" sz="1100">
                        <a:solidFill>
                          <a:schemeClr val="lt1"/>
                        </a:solidFill>
                      </a:endParaRPr>
                    </a:p>
                  </a:txBody>
                  <a:tcPr marT="91425" marB="91425" marR="91425" marL="91425"/>
                </a:tc>
              </a:tr>
              <a:tr h="979650">
                <a:tc>
                  <a:txBody>
                    <a:bodyPr/>
                    <a:lstStyle/>
                    <a:p>
                      <a:pPr indent="0" lvl="0" marL="0" rtl="0" algn="l">
                        <a:spcBef>
                          <a:spcPts val="0"/>
                        </a:spcBef>
                        <a:spcAft>
                          <a:spcPts val="0"/>
                        </a:spcAft>
                        <a:buNone/>
                      </a:pPr>
                      <a:r>
                        <a:rPr b="1" lang="es-CO" sz="1100">
                          <a:solidFill>
                            <a:schemeClr val="lt1"/>
                          </a:solidFill>
                        </a:rPr>
                        <a:t>Métricas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Actas publicadas en &lt;24h.• Cumplimiento de tareas según cronograma.• Satisfacción del equipo.• Retrasos por entregas incompletas del LD.</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Reuniones semanales con actas en &lt;24h.• ≥ 90% de tareas completadas según cronograma.• Satisfacción ≥ 85%.• Reducir 15% de retrasos.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Fase 2 agrega métricas cuantitativas claras y medibles.✔ Mayor enfoque en reducción de retrasos.✔ Más rigurosidad y seguimiento.</a:t>
                      </a:r>
                      <a:endParaRPr>
                        <a:solidFill>
                          <a:schemeClr val="lt1"/>
                        </a:solidFill>
                      </a:endParaRPr>
                    </a:p>
                  </a:txBody>
                  <a:tcPr marT="91425" marB="91425" marR="91425" marL="91425"/>
                </a:tc>
              </a:tr>
              <a:tr h="979650">
                <a:tc>
                  <a:txBody>
                    <a:bodyPr/>
                    <a:lstStyle/>
                    <a:p>
                      <a:pPr indent="0" lvl="0" marL="0" rtl="0" algn="l">
                        <a:spcBef>
                          <a:spcPts val="0"/>
                        </a:spcBef>
                        <a:spcAft>
                          <a:spcPts val="0"/>
                        </a:spcAft>
                        <a:buNone/>
                      </a:pPr>
                      <a:r>
                        <a:rPr b="1" lang="es-CO" sz="1100">
                          <a:solidFill>
                            <a:schemeClr val="lt1"/>
                          </a:solidFill>
                        </a:rPr>
                        <a:t>Aspectos Positivos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Comunicación efectiva.• Buena organización.• Liderazgo fuerte.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Coordinación eficiente.• Puntualidad en reuniones y actas.• Alto compromiso del equipo.</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Fase 2 mantiene fortalezas y mejora la puntualidad y cohesión del equipo.✔ Evolución hacia un liderazgo más estructurado.</a:t>
                      </a:r>
                      <a:endParaRPr>
                        <a:solidFill>
                          <a:schemeClr val="lt1"/>
                        </a:solidFill>
                      </a:endParaRPr>
                    </a:p>
                  </a:txBody>
                  <a:tcPr marT="91425" marB="91425" marR="91425" marL="91425"/>
                </a:tc>
              </a:tr>
              <a:tr h="979650">
                <a:tc>
                  <a:txBody>
                    <a:bodyPr/>
                    <a:lstStyle/>
                    <a:p>
                      <a:pPr indent="0" lvl="0" marL="0" rtl="0" algn="l">
                        <a:spcBef>
                          <a:spcPts val="0"/>
                        </a:spcBef>
                        <a:spcAft>
                          <a:spcPts val="0"/>
                        </a:spcAft>
                        <a:buNone/>
                      </a:pPr>
                      <a:r>
                        <a:rPr b="1" lang="es-CO" sz="1100">
                          <a:solidFill>
                            <a:schemeClr val="lt1"/>
                          </a:solidFill>
                        </a:rPr>
                        <a:t>Aspectos Negativos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Sobrecarga del líder en decisiones.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Retrasos por sobrecarga del líder.• Alta dependencia de un solo integrante.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Problema se mantiene: sobrecarga del líder.✔ En Fase 2 aparece un problema más claro: dependencia del líder por multitareas.</a:t>
                      </a:r>
                      <a:endParaRPr>
                        <a:solidFill>
                          <a:schemeClr val="lt1"/>
                        </a:solidFill>
                      </a:endParaRPr>
                    </a:p>
                  </a:txBody>
                  <a:tcPr marT="91425" marB="91425" marR="91425" marL="91425"/>
                </a:tc>
              </a:tr>
              <a:tr h="778600">
                <a:tc>
                  <a:txBody>
                    <a:bodyPr/>
                    <a:lstStyle/>
                    <a:p>
                      <a:pPr indent="0" lvl="0" marL="0" rtl="0" algn="l">
                        <a:spcBef>
                          <a:spcPts val="0"/>
                        </a:spcBef>
                        <a:spcAft>
                          <a:spcPts val="0"/>
                        </a:spcAft>
                        <a:buNone/>
                      </a:pPr>
                      <a:r>
                        <a:rPr b="1" lang="es-CO" sz="1100">
                          <a:solidFill>
                            <a:schemeClr val="lt1"/>
                          </a:solidFill>
                        </a:rPr>
                        <a:t>Propuesta de Mejora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Delegar responsabilidades críticas entre líderes.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Delegar microtareas administrativas.• Implementar tablero de seguimiento visible.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Mejora en Fase 2 es más específica y accionable.✔ Se busca distribuir carga y mejorar visibilidad.</a:t>
                      </a:r>
                      <a:endParaRPr>
                        <a:solidFill>
                          <a:schemeClr val="lt1"/>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a8e20dd7aa_0_58"/>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Líder de Planeación fase 1</a:t>
            </a:r>
            <a:endParaRPr/>
          </a:p>
        </p:txBody>
      </p:sp>
      <p:sp>
        <p:nvSpPr>
          <p:cNvPr id="263" name="Google Shape;263;g3a8e20dd7aa_0_58"/>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s-CO" sz="2000">
                <a:latin typeface="Arial"/>
                <a:ea typeface="Arial"/>
                <a:cs typeface="Arial"/>
                <a:sym typeface="Arial"/>
              </a:rPr>
              <a:t>Métricas:</a:t>
            </a:r>
            <a:r>
              <a:rPr lang="es-CO" sz="2000">
                <a:latin typeface="Arial"/>
                <a:ea typeface="Arial"/>
                <a:cs typeface="Arial"/>
                <a:sym typeface="Arial"/>
              </a:rPr>
              <a:t> Cumplimiento de actividades, detección de errores solo en reuniones, falta de planes de mitigación.</a:t>
            </a:r>
            <a:br>
              <a:rPr lang="es-CO" sz="2000">
                <a:latin typeface="Arial"/>
                <a:ea typeface="Arial"/>
                <a:cs typeface="Arial"/>
                <a:sym typeface="Arial"/>
              </a:rPr>
            </a:br>
            <a:endParaRPr sz="20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s-CO" sz="2000">
                <a:latin typeface="Arial"/>
                <a:ea typeface="Arial"/>
                <a:cs typeface="Arial"/>
                <a:sym typeface="Arial"/>
              </a:rPr>
              <a:t>Aspectos Positivos:</a:t>
            </a:r>
            <a:r>
              <a:rPr lang="es-CO" sz="2000">
                <a:latin typeface="Arial"/>
                <a:ea typeface="Arial"/>
                <a:cs typeface="Arial"/>
                <a:sym typeface="Arial"/>
              </a:rPr>
              <a:t> Planificación clara.</a:t>
            </a:r>
            <a:br>
              <a:rPr lang="es-CO" sz="2000">
                <a:latin typeface="Arial"/>
                <a:ea typeface="Arial"/>
                <a:cs typeface="Arial"/>
                <a:sym typeface="Arial"/>
              </a:rPr>
            </a:br>
            <a:endParaRPr sz="20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s-CO" sz="2000">
                <a:latin typeface="Arial"/>
                <a:ea typeface="Arial"/>
                <a:cs typeface="Arial"/>
                <a:sym typeface="Arial"/>
              </a:rPr>
              <a:t>Aspectos Negativos:</a:t>
            </a:r>
            <a:r>
              <a:rPr lang="es-CO" sz="2000">
                <a:latin typeface="Arial"/>
                <a:ea typeface="Arial"/>
                <a:cs typeface="Arial"/>
                <a:sym typeface="Arial"/>
              </a:rPr>
              <a:t> Detección reactiva de desviaciones.</a:t>
            </a:r>
            <a:br>
              <a:rPr lang="es-CO" sz="2000">
                <a:latin typeface="Arial"/>
                <a:ea typeface="Arial"/>
                <a:cs typeface="Arial"/>
                <a:sym typeface="Arial"/>
              </a:rPr>
            </a:br>
            <a:endParaRPr sz="20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s-CO" sz="2000">
                <a:latin typeface="Arial"/>
                <a:ea typeface="Arial"/>
                <a:cs typeface="Arial"/>
                <a:sym typeface="Arial"/>
              </a:rPr>
              <a:t>Propuesta de Mejora:</a:t>
            </a:r>
            <a:r>
              <a:rPr lang="es-CO" sz="2000">
                <a:latin typeface="Arial"/>
                <a:ea typeface="Arial"/>
                <a:cs typeface="Arial"/>
                <a:sym typeface="Arial"/>
              </a:rPr>
              <a:t> Revisiones semanales para detectar desviaciones tempranas.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a8e20dd7aa_0_63"/>
          <p:cNvSpPr txBox="1"/>
          <p:nvPr>
            <p:ph type="title"/>
          </p:nvPr>
        </p:nvSpPr>
        <p:spPr>
          <a:xfrm>
            <a:off x="100996" y="520753"/>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Lider de Planeacion fase 2</a:t>
            </a:r>
            <a:endParaRPr/>
          </a:p>
        </p:txBody>
      </p:sp>
      <p:sp>
        <p:nvSpPr>
          <p:cNvPr id="269" name="Google Shape;269;g3a8e20dd7aa_0_63"/>
          <p:cNvSpPr txBox="1"/>
          <p:nvPr>
            <p:ph idx="1" type="body"/>
          </p:nvPr>
        </p:nvSpPr>
        <p:spPr>
          <a:xfrm>
            <a:off x="101000" y="1385100"/>
            <a:ext cx="10940700" cy="54729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400"/>
              </a:spcBef>
              <a:spcAft>
                <a:spcPts val="0"/>
              </a:spcAft>
              <a:buClr>
                <a:schemeClr val="dk1"/>
              </a:buClr>
              <a:buSzPts val="275"/>
              <a:buFont typeface="Arial"/>
              <a:buNone/>
            </a:pPr>
            <a:r>
              <a:rPr b="1" lang="es-CO" sz="4868">
                <a:latin typeface="Arial"/>
                <a:ea typeface="Arial"/>
                <a:cs typeface="Arial"/>
                <a:sym typeface="Arial"/>
              </a:rPr>
              <a:t>Métricas</a:t>
            </a:r>
            <a:endParaRPr b="1" sz="4868">
              <a:latin typeface="Arial"/>
              <a:ea typeface="Arial"/>
              <a:cs typeface="Arial"/>
              <a:sym typeface="Arial"/>
            </a:endParaRPr>
          </a:p>
          <a:p>
            <a:pPr indent="-302708" lvl="0" marL="457200" rtl="0" algn="l">
              <a:lnSpc>
                <a:spcPct val="115000"/>
              </a:lnSpc>
              <a:spcBef>
                <a:spcPts val="1200"/>
              </a:spcBef>
              <a:spcAft>
                <a:spcPts val="0"/>
              </a:spcAft>
              <a:buClr>
                <a:schemeClr val="lt1"/>
              </a:buClr>
              <a:buSzPct val="100000"/>
              <a:buChar char="●"/>
            </a:pPr>
            <a:r>
              <a:rPr lang="es-CO" sz="4668">
                <a:latin typeface="Arial"/>
                <a:ea typeface="Arial"/>
                <a:cs typeface="Arial"/>
                <a:sym typeface="Arial"/>
              </a:rPr>
              <a:t>Actualizar el plan de trabajo semanalmente.</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Detectar retrasos con una semana de anticipación en el 90% de los casos.</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Registrar y dar seguimiento al 100% de los riesgos.</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Mitigar el 90% de los riesgos críticos.</a:t>
            </a:r>
            <a:br>
              <a:rPr lang="es-CO" sz="4668">
                <a:latin typeface="Arial"/>
                <a:ea typeface="Arial"/>
                <a:cs typeface="Arial"/>
                <a:sym typeface="Arial"/>
              </a:rPr>
            </a:br>
            <a:endParaRPr sz="46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4868">
                <a:latin typeface="Arial"/>
                <a:ea typeface="Arial"/>
                <a:cs typeface="Arial"/>
                <a:sym typeface="Arial"/>
              </a:rPr>
              <a:t>Aspectos positivos</a:t>
            </a:r>
            <a:endParaRPr b="1" sz="4868">
              <a:latin typeface="Arial"/>
              <a:ea typeface="Arial"/>
              <a:cs typeface="Arial"/>
              <a:sym typeface="Arial"/>
            </a:endParaRPr>
          </a:p>
          <a:p>
            <a:pPr indent="-302708" lvl="0" marL="457200" rtl="0" algn="l">
              <a:lnSpc>
                <a:spcPct val="115000"/>
              </a:lnSpc>
              <a:spcBef>
                <a:spcPts val="1200"/>
              </a:spcBef>
              <a:spcAft>
                <a:spcPts val="0"/>
              </a:spcAft>
              <a:buClr>
                <a:schemeClr val="lt1"/>
              </a:buClr>
              <a:buSzPct val="100000"/>
              <a:buChar char="●"/>
            </a:pPr>
            <a:r>
              <a:rPr lang="es-CO" sz="4668">
                <a:latin typeface="Arial"/>
                <a:ea typeface="Arial"/>
                <a:cs typeface="Arial"/>
                <a:sym typeface="Arial"/>
              </a:rPr>
              <a:t>Buena capacidad de anticipación.</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Control adecuado de riesgos identificados.</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Actualización constante del cronograma.</a:t>
            </a:r>
            <a:br>
              <a:rPr lang="es-CO" sz="4668">
                <a:latin typeface="Arial"/>
                <a:ea typeface="Arial"/>
                <a:cs typeface="Arial"/>
                <a:sym typeface="Arial"/>
              </a:rPr>
            </a:br>
            <a:endParaRPr sz="46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4868">
                <a:latin typeface="Arial"/>
                <a:ea typeface="Arial"/>
                <a:cs typeface="Arial"/>
                <a:sym typeface="Arial"/>
              </a:rPr>
              <a:t>Aspectos negativos</a:t>
            </a:r>
            <a:endParaRPr b="1" sz="4868">
              <a:latin typeface="Arial"/>
              <a:ea typeface="Arial"/>
              <a:cs typeface="Arial"/>
              <a:sym typeface="Arial"/>
            </a:endParaRPr>
          </a:p>
          <a:p>
            <a:pPr indent="-302708" lvl="0" marL="457200" rtl="0" algn="l">
              <a:lnSpc>
                <a:spcPct val="115000"/>
              </a:lnSpc>
              <a:spcBef>
                <a:spcPts val="1200"/>
              </a:spcBef>
              <a:spcAft>
                <a:spcPts val="0"/>
              </a:spcAft>
              <a:buClr>
                <a:schemeClr val="lt1"/>
              </a:buClr>
              <a:buSzPct val="100000"/>
              <a:buChar char="●"/>
            </a:pPr>
            <a:r>
              <a:rPr lang="es-CO" sz="4668">
                <a:latin typeface="Arial"/>
                <a:ea typeface="Arial"/>
                <a:cs typeface="Arial"/>
                <a:sym typeface="Arial"/>
              </a:rPr>
              <a:t>Algunas desviaciones no previstas debido a cambios externos del proyecto.</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Falta de indicadores visuales que resalten riesgos urgentes.</a:t>
            </a:r>
            <a:br>
              <a:rPr lang="es-CO" sz="4668">
                <a:latin typeface="Arial"/>
                <a:ea typeface="Arial"/>
                <a:cs typeface="Arial"/>
                <a:sym typeface="Arial"/>
              </a:rPr>
            </a:br>
            <a:endParaRPr sz="46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4868">
                <a:latin typeface="Arial"/>
                <a:ea typeface="Arial"/>
                <a:cs typeface="Arial"/>
                <a:sym typeface="Arial"/>
              </a:rPr>
              <a:t>Propuesta de mejora</a:t>
            </a:r>
            <a:endParaRPr b="1" sz="4868">
              <a:latin typeface="Arial"/>
              <a:ea typeface="Arial"/>
              <a:cs typeface="Arial"/>
              <a:sym typeface="Arial"/>
            </a:endParaRPr>
          </a:p>
          <a:p>
            <a:pPr indent="-302708" lvl="0" marL="457200" rtl="0" algn="l">
              <a:lnSpc>
                <a:spcPct val="115000"/>
              </a:lnSpc>
              <a:spcBef>
                <a:spcPts val="1200"/>
              </a:spcBef>
              <a:spcAft>
                <a:spcPts val="0"/>
              </a:spcAft>
              <a:buClr>
                <a:schemeClr val="lt1"/>
              </a:buClr>
              <a:buSzPct val="100000"/>
              <a:buChar char="●"/>
            </a:pPr>
            <a:r>
              <a:rPr lang="es-CO" sz="4668">
                <a:latin typeface="Arial"/>
                <a:ea typeface="Arial"/>
                <a:cs typeface="Arial"/>
                <a:sym typeface="Arial"/>
              </a:rPr>
              <a:t>Incorporar gráficos de calor (heatmaps) para riesgos.</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Realizar sesiones quincenales de verificación de dependencias entre tareas.</a:t>
            </a:r>
            <a:endParaRPr sz="4668">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a8e20dd7aa_0_69"/>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Comparación</a:t>
            </a:r>
            <a:r>
              <a:rPr lang="es-CO"/>
              <a:t> Lider de Planeacion fase 1 Vs Lider de Planeacion fase 2</a:t>
            </a:r>
            <a:endParaRPr/>
          </a:p>
        </p:txBody>
      </p:sp>
      <p:graphicFrame>
        <p:nvGraphicFramePr>
          <p:cNvPr id="275" name="Google Shape;275;g3a8e20dd7aa_0_69"/>
          <p:cNvGraphicFramePr/>
          <p:nvPr/>
        </p:nvGraphicFramePr>
        <p:xfrm>
          <a:off x="172225" y="2250500"/>
          <a:ext cx="3000000" cy="3000000"/>
        </p:xfrm>
        <a:graphic>
          <a:graphicData uri="http://schemas.openxmlformats.org/drawingml/2006/table">
            <a:tbl>
              <a:tblPr>
                <a:noFill/>
                <a:tableStyleId>{E60CDD4A-6C10-425E-A22F-08132309E51D}</a:tableStyleId>
              </a:tblPr>
              <a:tblGrid>
                <a:gridCol w="897675"/>
                <a:gridCol w="2692975"/>
                <a:gridCol w="4562325"/>
                <a:gridCol w="3618375"/>
              </a:tblGrid>
              <a:tr h="370600">
                <a:tc>
                  <a:txBody>
                    <a:bodyPr/>
                    <a:lstStyle/>
                    <a:p>
                      <a:pPr indent="0" lvl="0" marL="0" rtl="0" algn="ctr">
                        <a:lnSpc>
                          <a:spcPct val="115000"/>
                        </a:lnSpc>
                        <a:spcBef>
                          <a:spcPts val="0"/>
                        </a:spcBef>
                        <a:spcAft>
                          <a:spcPts val="0"/>
                        </a:spcAft>
                        <a:buNone/>
                      </a:pPr>
                      <a:r>
                        <a:rPr b="1" lang="es-CO" sz="1100">
                          <a:solidFill>
                            <a:schemeClr val="lt1"/>
                          </a:solidFill>
                        </a:rPr>
                        <a:t>Categoría</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1 – Líder de Planeación</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2 – Líder de Planeación</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Comparación / Evolución</a:t>
                      </a:r>
                      <a:endParaRPr b="1" sz="1100">
                        <a:solidFill>
                          <a:schemeClr val="lt1"/>
                        </a:solidFill>
                      </a:endParaRPr>
                    </a:p>
                  </a:txBody>
                  <a:tcPr marT="91425" marB="91425" marR="91425" marL="91425"/>
                </a:tc>
              </a:tr>
              <a:tr h="1013525">
                <a:tc>
                  <a:txBody>
                    <a:bodyPr/>
                    <a:lstStyle/>
                    <a:p>
                      <a:pPr indent="0" lvl="0" marL="0" rtl="0" algn="l">
                        <a:spcBef>
                          <a:spcPts val="0"/>
                        </a:spcBef>
                        <a:spcAft>
                          <a:spcPts val="0"/>
                        </a:spcAft>
                        <a:buNone/>
                      </a:pPr>
                      <a:r>
                        <a:rPr b="1" lang="es-CO" sz="1100">
                          <a:solidFill>
                            <a:schemeClr val="lt1"/>
                          </a:solidFill>
                        </a:rPr>
                        <a:t>Métricas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Cumplimiento de actividades.• Errores detectados solo en reuniones.• No existen planes de mitigación.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Actualización semanal del plan de trabajo.• Detectar retrasos con 1 semana de anticipación (90%).• Registrar y dar seguimiento al 100% de los riesgos.• Mitigar el 90% de riesgos críticos.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sz="1100">
                          <a:solidFill>
                            <a:schemeClr val="lt1"/>
                          </a:solidFill>
                        </a:rPr>
                        <a:t>✔ Fase 2 pasa de métricas básicas a métricas </a:t>
                      </a:r>
                      <a:r>
                        <a:rPr b="1" lang="es-CO" sz="1100">
                          <a:solidFill>
                            <a:schemeClr val="lt1"/>
                          </a:solidFill>
                        </a:rPr>
                        <a:t>predictivas y de gestión de riesgos</a:t>
                      </a:r>
                      <a:r>
                        <a:rPr lang="es-CO" sz="1100">
                          <a:solidFill>
                            <a:schemeClr val="lt1"/>
                          </a:solidFill>
                        </a:rPr>
                        <a:t>.✔ Evolución hacia un proceso más controlado y preventivo.</a:t>
                      </a:r>
                      <a:endParaRPr sz="1100">
                        <a:solidFill>
                          <a:schemeClr val="lt1"/>
                        </a:solidFill>
                      </a:endParaRPr>
                    </a:p>
                  </a:txBody>
                  <a:tcPr marT="91425" marB="91425" marR="91425" marL="91425"/>
                </a:tc>
              </a:tr>
              <a:tr h="805525">
                <a:tc>
                  <a:txBody>
                    <a:bodyPr/>
                    <a:lstStyle/>
                    <a:p>
                      <a:pPr indent="0" lvl="0" marL="0" rtl="0" algn="l">
                        <a:spcBef>
                          <a:spcPts val="0"/>
                        </a:spcBef>
                        <a:spcAft>
                          <a:spcPts val="0"/>
                        </a:spcAft>
                        <a:buNone/>
                      </a:pPr>
                      <a:r>
                        <a:rPr b="1" lang="es-CO" sz="1100">
                          <a:solidFill>
                            <a:schemeClr val="lt1"/>
                          </a:solidFill>
                        </a:rPr>
                        <a:t>Aspectos Positivos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Planificación clara.</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Alta anticipación.• Gestión activa de riesgos.• Cronograma actualizado permanentemente.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Se fortalece la capacidad de prevención y seguimiento.✔ Mayor madurez en la gestión del cronograma.</a:t>
                      </a:r>
                      <a:endParaRPr>
                        <a:solidFill>
                          <a:schemeClr val="lt1"/>
                        </a:solidFill>
                      </a:endParaRPr>
                    </a:p>
                  </a:txBody>
                  <a:tcPr marT="91425" marB="91425" marR="91425" marL="91425"/>
                </a:tc>
              </a:tr>
              <a:tr h="1013525">
                <a:tc>
                  <a:txBody>
                    <a:bodyPr/>
                    <a:lstStyle/>
                    <a:p>
                      <a:pPr indent="0" lvl="0" marL="0" rtl="0" algn="l">
                        <a:spcBef>
                          <a:spcPts val="0"/>
                        </a:spcBef>
                        <a:spcAft>
                          <a:spcPts val="0"/>
                        </a:spcAft>
                        <a:buNone/>
                      </a:pPr>
                      <a:r>
                        <a:rPr b="1" lang="es-CO" sz="1100">
                          <a:solidFill>
                            <a:schemeClr val="lt1"/>
                          </a:solidFill>
                        </a:rPr>
                        <a:t>Aspectos Negativos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Detecta desviaciones solo de forma reactiva.• No identifica riesgos a tiempo.</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Algunas desviaciones por factores externos.• Falta de indicadores visuales para priorizar riesgos.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Fase 2 reduce la reactividad, pero aún presenta retos en visualización.✔ Problemas más avanzados, menos críticos que en Fase 1.</a:t>
                      </a:r>
                      <a:endParaRPr>
                        <a:solidFill>
                          <a:schemeClr val="lt1"/>
                        </a:solidFill>
                      </a:endParaRPr>
                    </a:p>
                  </a:txBody>
                  <a:tcPr marT="91425" marB="91425" marR="91425" marL="91425"/>
                </a:tc>
              </a:tr>
              <a:tr h="1013525">
                <a:tc>
                  <a:txBody>
                    <a:bodyPr/>
                    <a:lstStyle/>
                    <a:p>
                      <a:pPr indent="0" lvl="0" marL="0" rtl="0" algn="l">
                        <a:spcBef>
                          <a:spcPts val="0"/>
                        </a:spcBef>
                        <a:spcAft>
                          <a:spcPts val="0"/>
                        </a:spcAft>
                        <a:buNone/>
                      </a:pPr>
                      <a:r>
                        <a:rPr b="1" lang="es-CO" sz="1100">
                          <a:solidFill>
                            <a:schemeClr val="lt1"/>
                          </a:solidFill>
                        </a:rPr>
                        <a:t>Propuesta de Mejora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Implementar revisiones semanales para detectar desviaciones tempranas.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Usar heatmaps para riesgos.• Sesiones quincenales para revisar dependencias entre tareas.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Fase 2 propone mejoras específicas y orientadas a herramientas avanzadas.✔ Evolución desde revisiones básicas → técnicas estratégicas de PM.</a:t>
                      </a:r>
                      <a:endParaRPr>
                        <a:solidFill>
                          <a:schemeClr val="lt1"/>
                        </a:solidFill>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a8e20dd7aa_0_7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Líder de Procesos/Calidad fase 1</a:t>
            </a:r>
            <a:endParaRPr/>
          </a:p>
        </p:txBody>
      </p:sp>
      <p:sp>
        <p:nvSpPr>
          <p:cNvPr id="281" name="Google Shape;281;g3a8e20dd7aa_0_76"/>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s-CO" sz="2200">
                <a:latin typeface="Arial"/>
                <a:ea typeface="Arial"/>
                <a:cs typeface="Arial"/>
                <a:sym typeface="Arial"/>
              </a:rPr>
              <a:t>Métricas:</a:t>
            </a:r>
            <a:r>
              <a:rPr lang="es-CO" sz="2200">
                <a:latin typeface="Arial"/>
                <a:ea typeface="Arial"/>
                <a:cs typeface="Arial"/>
                <a:sym typeface="Arial"/>
              </a:rPr>
              <a:t> 50% de conformidad en auditorías, mejoras de productos, aumento de calidad general.</a:t>
            </a:r>
            <a:br>
              <a:rPr lang="es-CO" sz="2200">
                <a:latin typeface="Arial"/>
                <a:ea typeface="Arial"/>
                <a:cs typeface="Arial"/>
                <a:sym typeface="Arial"/>
              </a:rPr>
            </a:br>
            <a:endParaRPr sz="22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s-CO" sz="2200">
                <a:latin typeface="Arial"/>
                <a:ea typeface="Arial"/>
                <a:cs typeface="Arial"/>
                <a:sym typeface="Arial"/>
              </a:rPr>
              <a:t>Aspectos Positivos:</a:t>
            </a:r>
            <a:r>
              <a:rPr lang="es-CO" sz="2200">
                <a:latin typeface="Arial"/>
                <a:ea typeface="Arial"/>
                <a:cs typeface="Arial"/>
                <a:sym typeface="Arial"/>
              </a:rPr>
              <a:t> Cumplimiento de auditorías y estándares.</a:t>
            </a:r>
            <a:br>
              <a:rPr lang="es-CO" sz="2200">
                <a:latin typeface="Arial"/>
                <a:ea typeface="Arial"/>
                <a:cs typeface="Arial"/>
                <a:sym typeface="Arial"/>
              </a:rPr>
            </a:br>
            <a:endParaRPr sz="22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s-CO" sz="2200">
                <a:latin typeface="Arial"/>
                <a:ea typeface="Arial"/>
                <a:cs typeface="Arial"/>
                <a:sym typeface="Arial"/>
              </a:rPr>
              <a:t>Aspectos Negativos:</a:t>
            </a:r>
            <a:r>
              <a:rPr lang="es-CO" sz="2200">
                <a:latin typeface="Arial"/>
                <a:ea typeface="Arial"/>
                <a:cs typeface="Arial"/>
                <a:sym typeface="Arial"/>
              </a:rPr>
              <a:t> Tiempo limitado para pruebas.</a:t>
            </a:r>
            <a:br>
              <a:rPr lang="es-CO" sz="2200">
                <a:latin typeface="Arial"/>
                <a:ea typeface="Arial"/>
                <a:cs typeface="Arial"/>
                <a:sym typeface="Arial"/>
              </a:rPr>
            </a:br>
            <a:endParaRPr sz="22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s-CO" sz="2200">
                <a:latin typeface="Arial"/>
                <a:ea typeface="Arial"/>
                <a:cs typeface="Arial"/>
                <a:sym typeface="Arial"/>
              </a:rPr>
              <a:t>Propuesta de Mejora:</a:t>
            </a:r>
            <a:r>
              <a:rPr lang="es-CO" sz="2200">
                <a:latin typeface="Arial"/>
                <a:ea typeface="Arial"/>
                <a:cs typeface="Arial"/>
                <a:sym typeface="Arial"/>
              </a:rPr>
              <a:t> Ampliar tiempo destinado a control de calidad en cronograma.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a8e20dd7aa_0_81"/>
          <p:cNvSpPr txBox="1"/>
          <p:nvPr>
            <p:ph type="title"/>
          </p:nvPr>
        </p:nvSpPr>
        <p:spPr>
          <a:xfrm>
            <a:off x="-4" y="148803"/>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Líder de Procesos/Calidad fase 2</a:t>
            </a:r>
            <a:endParaRPr/>
          </a:p>
        </p:txBody>
      </p:sp>
      <p:sp>
        <p:nvSpPr>
          <p:cNvPr id="287" name="Google Shape;287;g3a8e20dd7aa_0_81"/>
          <p:cNvSpPr txBox="1"/>
          <p:nvPr>
            <p:ph idx="1" type="body"/>
          </p:nvPr>
        </p:nvSpPr>
        <p:spPr>
          <a:xfrm>
            <a:off x="0" y="974750"/>
            <a:ext cx="9613800" cy="60846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400"/>
              </a:spcBef>
              <a:spcAft>
                <a:spcPts val="0"/>
              </a:spcAft>
              <a:buClr>
                <a:schemeClr val="dk1"/>
              </a:buClr>
              <a:buSzPts val="275"/>
              <a:buFont typeface="Arial"/>
              <a:buNone/>
            </a:pPr>
            <a:r>
              <a:rPr b="1" lang="es-CO" sz="5268">
                <a:latin typeface="Arial"/>
                <a:ea typeface="Arial"/>
                <a:cs typeface="Arial"/>
                <a:sym typeface="Arial"/>
              </a:rPr>
              <a:t>Métricas</a:t>
            </a:r>
            <a:endParaRPr b="1" sz="5268">
              <a:latin typeface="Arial"/>
              <a:ea typeface="Arial"/>
              <a:cs typeface="Arial"/>
              <a:sym typeface="Arial"/>
            </a:endParaRPr>
          </a:p>
          <a:p>
            <a:pPr indent="-309058" lvl="0" marL="457200" rtl="0" algn="l">
              <a:lnSpc>
                <a:spcPct val="115000"/>
              </a:lnSpc>
              <a:spcBef>
                <a:spcPts val="1200"/>
              </a:spcBef>
              <a:spcAft>
                <a:spcPts val="0"/>
              </a:spcAft>
              <a:buClr>
                <a:schemeClr val="lt1"/>
              </a:buClr>
              <a:buSzPct val="100000"/>
              <a:buChar char="●"/>
            </a:pPr>
            <a:r>
              <a:rPr lang="es-CO" sz="5068">
                <a:latin typeface="Arial"/>
                <a:ea typeface="Arial"/>
                <a:cs typeface="Arial"/>
                <a:sym typeface="Arial"/>
              </a:rPr>
              <a:t>95% de cumplimiento en auditorías internas.</a:t>
            </a:r>
            <a:br>
              <a:rPr lang="es-CO" sz="5068">
                <a:latin typeface="Arial"/>
                <a:ea typeface="Arial"/>
                <a:cs typeface="Arial"/>
                <a:sym typeface="Arial"/>
              </a:rPr>
            </a:br>
            <a:endParaRPr sz="5068">
              <a:latin typeface="Arial"/>
              <a:ea typeface="Arial"/>
              <a:cs typeface="Arial"/>
              <a:sym typeface="Arial"/>
            </a:endParaRPr>
          </a:p>
          <a:p>
            <a:pPr indent="-309058" lvl="0" marL="457200" rtl="0" algn="l">
              <a:lnSpc>
                <a:spcPct val="115000"/>
              </a:lnSpc>
              <a:spcBef>
                <a:spcPts val="0"/>
              </a:spcBef>
              <a:spcAft>
                <a:spcPts val="0"/>
              </a:spcAft>
              <a:buClr>
                <a:schemeClr val="lt1"/>
              </a:buClr>
              <a:buSzPct val="100000"/>
              <a:buChar char="●"/>
            </a:pPr>
            <a:r>
              <a:rPr lang="es-CO" sz="5068">
                <a:latin typeface="Arial"/>
                <a:ea typeface="Arial"/>
                <a:cs typeface="Arial"/>
                <a:sym typeface="Arial"/>
              </a:rPr>
              <a:t>Reducción del 20% de incidencias repetitivas por ciclo.</a:t>
            </a:r>
            <a:br>
              <a:rPr lang="es-CO" sz="5068">
                <a:latin typeface="Arial"/>
                <a:ea typeface="Arial"/>
                <a:cs typeface="Arial"/>
                <a:sym typeface="Arial"/>
              </a:rPr>
            </a:br>
            <a:endParaRPr sz="5068">
              <a:latin typeface="Arial"/>
              <a:ea typeface="Arial"/>
              <a:cs typeface="Arial"/>
              <a:sym typeface="Arial"/>
            </a:endParaRPr>
          </a:p>
          <a:p>
            <a:pPr indent="-309058" lvl="0" marL="457200" rtl="0" algn="l">
              <a:lnSpc>
                <a:spcPct val="115000"/>
              </a:lnSpc>
              <a:spcBef>
                <a:spcPts val="0"/>
              </a:spcBef>
              <a:spcAft>
                <a:spcPts val="0"/>
              </a:spcAft>
              <a:buClr>
                <a:schemeClr val="lt1"/>
              </a:buClr>
              <a:buSzPct val="100000"/>
              <a:buChar char="●"/>
            </a:pPr>
            <a:r>
              <a:rPr lang="es-CO" sz="5068">
                <a:latin typeface="Arial"/>
                <a:ea typeface="Arial"/>
                <a:cs typeface="Arial"/>
                <a:sym typeface="Arial"/>
              </a:rPr>
              <a:t>Implementar mínimo 2 mejoras por ciclo.</a:t>
            </a:r>
            <a:br>
              <a:rPr lang="es-CO" sz="5068">
                <a:latin typeface="Arial"/>
                <a:ea typeface="Arial"/>
                <a:cs typeface="Arial"/>
                <a:sym typeface="Arial"/>
              </a:rPr>
            </a:br>
            <a:endParaRPr sz="5068">
              <a:latin typeface="Arial"/>
              <a:ea typeface="Arial"/>
              <a:cs typeface="Arial"/>
              <a:sym typeface="Arial"/>
            </a:endParaRPr>
          </a:p>
          <a:p>
            <a:pPr indent="-309058" lvl="0" marL="457200" rtl="0" algn="l">
              <a:lnSpc>
                <a:spcPct val="115000"/>
              </a:lnSpc>
              <a:spcBef>
                <a:spcPts val="0"/>
              </a:spcBef>
              <a:spcAft>
                <a:spcPts val="0"/>
              </a:spcAft>
              <a:buClr>
                <a:schemeClr val="lt1"/>
              </a:buClr>
              <a:buSzPct val="100000"/>
              <a:buChar char="●"/>
            </a:pPr>
            <a:r>
              <a:rPr lang="es-CO" sz="5068">
                <a:latin typeface="Arial"/>
                <a:ea typeface="Arial"/>
                <a:cs typeface="Arial"/>
                <a:sym typeface="Arial"/>
              </a:rPr>
              <a:t>Al menos 80% de mejoras con impacto positivo medible.</a:t>
            </a:r>
            <a:br>
              <a:rPr lang="es-CO" sz="5068">
                <a:latin typeface="Arial"/>
                <a:ea typeface="Arial"/>
                <a:cs typeface="Arial"/>
                <a:sym typeface="Arial"/>
              </a:rPr>
            </a:br>
            <a:endParaRPr sz="50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5268">
                <a:latin typeface="Arial"/>
                <a:ea typeface="Arial"/>
                <a:cs typeface="Arial"/>
                <a:sym typeface="Arial"/>
              </a:rPr>
              <a:t>Aspectos positivos</a:t>
            </a:r>
            <a:endParaRPr b="1" sz="5268">
              <a:latin typeface="Arial"/>
              <a:ea typeface="Arial"/>
              <a:cs typeface="Arial"/>
              <a:sym typeface="Arial"/>
            </a:endParaRPr>
          </a:p>
          <a:p>
            <a:pPr indent="-309058" lvl="0" marL="457200" rtl="0" algn="l">
              <a:lnSpc>
                <a:spcPct val="115000"/>
              </a:lnSpc>
              <a:spcBef>
                <a:spcPts val="1200"/>
              </a:spcBef>
              <a:spcAft>
                <a:spcPts val="0"/>
              </a:spcAft>
              <a:buClr>
                <a:schemeClr val="lt1"/>
              </a:buClr>
              <a:buSzPct val="100000"/>
              <a:buChar char="●"/>
            </a:pPr>
            <a:r>
              <a:rPr lang="es-CO" sz="5068">
                <a:latin typeface="Arial"/>
                <a:ea typeface="Arial"/>
                <a:cs typeface="Arial"/>
                <a:sym typeface="Arial"/>
              </a:rPr>
              <a:t>Buena disciplina en el seguimiento a los procesos.</a:t>
            </a:r>
            <a:br>
              <a:rPr lang="es-CO" sz="5068">
                <a:latin typeface="Arial"/>
                <a:ea typeface="Arial"/>
                <a:cs typeface="Arial"/>
                <a:sym typeface="Arial"/>
              </a:rPr>
            </a:br>
            <a:endParaRPr sz="5068">
              <a:latin typeface="Arial"/>
              <a:ea typeface="Arial"/>
              <a:cs typeface="Arial"/>
              <a:sym typeface="Arial"/>
            </a:endParaRPr>
          </a:p>
          <a:p>
            <a:pPr indent="-309058" lvl="0" marL="457200" rtl="0" algn="l">
              <a:lnSpc>
                <a:spcPct val="115000"/>
              </a:lnSpc>
              <a:spcBef>
                <a:spcPts val="0"/>
              </a:spcBef>
              <a:spcAft>
                <a:spcPts val="0"/>
              </a:spcAft>
              <a:buClr>
                <a:schemeClr val="lt1"/>
              </a:buClr>
              <a:buSzPct val="100000"/>
              <a:buChar char="●"/>
            </a:pPr>
            <a:r>
              <a:rPr lang="es-CO" sz="5068">
                <a:latin typeface="Arial"/>
                <a:ea typeface="Arial"/>
                <a:cs typeface="Arial"/>
                <a:sym typeface="Arial"/>
              </a:rPr>
              <a:t>Alto nivel de cumplimiento en auditorías.</a:t>
            </a:r>
            <a:br>
              <a:rPr lang="es-CO" sz="5068">
                <a:latin typeface="Arial"/>
                <a:ea typeface="Arial"/>
                <a:cs typeface="Arial"/>
                <a:sym typeface="Arial"/>
              </a:rPr>
            </a:br>
            <a:endParaRPr sz="5068">
              <a:latin typeface="Arial"/>
              <a:ea typeface="Arial"/>
              <a:cs typeface="Arial"/>
              <a:sym typeface="Arial"/>
            </a:endParaRPr>
          </a:p>
          <a:p>
            <a:pPr indent="-309058" lvl="0" marL="457200" rtl="0" algn="l">
              <a:lnSpc>
                <a:spcPct val="115000"/>
              </a:lnSpc>
              <a:spcBef>
                <a:spcPts val="0"/>
              </a:spcBef>
              <a:spcAft>
                <a:spcPts val="0"/>
              </a:spcAft>
              <a:buClr>
                <a:schemeClr val="lt1"/>
              </a:buClr>
              <a:buSzPct val="100000"/>
              <a:buChar char="●"/>
            </a:pPr>
            <a:r>
              <a:rPr lang="es-CO" sz="5068">
                <a:latin typeface="Arial"/>
                <a:ea typeface="Arial"/>
                <a:cs typeface="Arial"/>
                <a:sym typeface="Arial"/>
              </a:rPr>
              <a:t>Identificación oportuna de fallas en el flujo de trabajo.</a:t>
            </a:r>
            <a:br>
              <a:rPr lang="es-CO" sz="5068">
                <a:latin typeface="Arial"/>
                <a:ea typeface="Arial"/>
                <a:cs typeface="Arial"/>
                <a:sym typeface="Arial"/>
              </a:rPr>
            </a:br>
            <a:endParaRPr sz="50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5268">
                <a:latin typeface="Arial"/>
                <a:ea typeface="Arial"/>
                <a:cs typeface="Arial"/>
                <a:sym typeface="Arial"/>
              </a:rPr>
              <a:t>Aspectos negativos</a:t>
            </a:r>
            <a:endParaRPr b="1" sz="5268">
              <a:latin typeface="Arial"/>
              <a:ea typeface="Arial"/>
              <a:cs typeface="Arial"/>
              <a:sym typeface="Arial"/>
            </a:endParaRPr>
          </a:p>
          <a:p>
            <a:pPr indent="-309058" lvl="0" marL="457200" rtl="0" algn="l">
              <a:lnSpc>
                <a:spcPct val="115000"/>
              </a:lnSpc>
              <a:spcBef>
                <a:spcPts val="1200"/>
              </a:spcBef>
              <a:spcAft>
                <a:spcPts val="0"/>
              </a:spcAft>
              <a:buClr>
                <a:schemeClr val="lt1"/>
              </a:buClr>
              <a:buSzPct val="100000"/>
              <a:buChar char="●"/>
            </a:pPr>
            <a:r>
              <a:rPr lang="es-CO" sz="5068">
                <a:latin typeface="Arial"/>
                <a:ea typeface="Arial"/>
                <a:cs typeface="Arial"/>
                <a:sym typeface="Arial"/>
              </a:rPr>
              <a:t>La documentación puede resultar extensa o difícil de mantener al día.</a:t>
            </a:r>
            <a:br>
              <a:rPr lang="es-CO" sz="5068">
                <a:latin typeface="Arial"/>
                <a:ea typeface="Arial"/>
                <a:cs typeface="Arial"/>
                <a:sym typeface="Arial"/>
              </a:rPr>
            </a:br>
            <a:endParaRPr sz="5068">
              <a:latin typeface="Arial"/>
              <a:ea typeface="Arial"/>
              <a:cs typeface="Arial"/>
              <a:sym typeface="Arial"/>
            </a:endParaRPr>
          </a:p>
          <a:p>
            <a:pPr indent="-309058" lvl="0" marL="457200" rtl="0" algn="l">
              <a:lnSpc>
                <a:spcPct val="115000"/>
              </a:lnSpc>
              <a:spcBef>
                <a:spcPts val="0"/>
              </a:spcBef>
              <a:spcAft>
                <a:spcPts val="0"/>
              </a:spcAft>
              <a:buClr>
                <a:schemeClr val="lt1"/>
              </a:buClr>
              <a:buSzPct val="100000"/>
              <a:buChar char="●"/>
            </a:pPr>
            <a:r>
              <a:rPr lang="es-CO" sz="5068">
                <a:latin typeface="Arial"/>
                <a:ea typeface="Arial"/>
                <a:cs typeface="Arial"/>
                <a:sym typeface="Arial"/>
              </a:rPr>
              <a:t>Escasa retroalimentación sobre los procesos.</a:t>
            </a:r>
            <a:br>
              <a:rPr lang="es-CO" sz="5068">
                <a:latin typeface="Arial"/>
                <a:ea typeface="Arial"/>
                <a:cs typeface="Arial"/>
                <a:sym typeface="Arial"/>
              </a:rPr>
            </a:br>
            <a:endParaRPr sz="50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5268">
                <a:latin typeface="Arial"/>
                <a:ea typeface="Arial"/>
                <a:cs typeface="Arial"/>
                <a:sym typeface="Arial"/>
              </a:rPr>
              <a:t>Propuesta de mejora</a:t>
            </a:r>
            <a:endParaRPr b="1" sz="5268">
              <a:latin typeface="Arial"/>
              <a:ea typeface="Arial"/>
              <a:cs typeface="Arial"/>
              <a:sym typeface="Arial"/>
            </a:endParaRPr>
          </a:p>
          <a:p>
            <a:pPr indent="-309058" lvl="0" marL="457200" rtl="0" algn="l">
              <a:lnSpc>
                <a:spcPct val="115000"/>
              </a:lnSpc>
              <a:spcBef>
                <a:spcPts val="1200"/>
              </a:spcBef>
              <a:spcAft>
                <a:spcPts val="0"/>
              </a:spcAft>
              <a:buClr>
                <a:schemeClr val="lt1"/>
              </a:buClr>
              <a:buSzPct val="100000"/>
              <a:buChar char="●"/>
            </a:pPr>
            <a:r>
              <a:rPr lang="es-CO" sz="5068">
                <a:latin typeface="Arial"/>
                <a:ea typeface="Arial"/>
                <a:cs typeface="Arial"/>
                <a:sym typeface="Arial"/>
              </a:rPr>
              <a:t>Simplificar formatos de documentación.</a:t>
            </a:r>
            <a:br>
              <a:rPr lang="es-CO" sz="5068">
                <a:latin typeface="Arial"/>
                <a:ea typeface="Arial"/>
                <a:cs typeface="Arial"/>
                <a:sym typeface="Arial"/>
              </a:rPr>
            </a:br>
            <a:endParaRPr sz="5068">
              <a:latin typeface="Arial"/>
              <a:ea typeface="Arial"/>
              <a:cs typeface="Arial"/>
              <a:sym typeface="Arial"/>
            </a:endParaRPr>
          </a:p>
          <a:p>
            <a:pPr indent="-309058" lvl="0" marL="457200" rtl="0" algn="l">
              <a:lnSpc>
                <a:spcPct val="115000"/>
              </a:lnSpc>
              <a:spcBef>
                <a:spcPts val="0"/>
              </a:spcBef>
              <a:spcAft>
                <a:spcPts val="0"/>
              </a:spcAft>
              <a:buClr>
                <a:schemeClr val="lt1"/>
              </a:buClr>
              <a:buSzPct val="100000"/>
              <a:buChar char="●"/>
            </a:pPr>
            <a:r>
              <a:rPr lang="es-CO" sz="5068">
                <a:latin typeface="Arial"/>
                <a:ea typeface="Arial"/>
                <a:cs typeface="Arial"/>
                <a:sym typeface="Arial"/>
              </a:rPr>
              <a:t>Realizar miniauditorías internas semanales de 10 minutos.</a:t>
            </a:r>
            <a:endParaRPr sz="5068">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a8e20dd7aa_0_87"/>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Comparación</a:t>
            </a:r>
            <a:r>
              <a:rPr lang="es-CO"/>
              <a:t> </a:t>
            </a:r>
            <a:r>
              <a:rPr lang="es-CO"/>
              <a:t>Líder de Procesos/Calidad fase 1 VS Líder de Procesos/Calidad fase 2</a:t>
            </a:r>
            <a:endParaRPr/>
          </a:p>
        </p:txBody>
      </p:sp>
      <p:graphicFrame>
        <p:nvGraphicFramePr>
          <p:cNvPr id="293" name="Google Shape;293;g3a8e20dd7aa_0_87"/>
          <p:cNvGraphicFramePr/>
          <p:nvPr/>
        </p:nvGraphicFramePr>
        <p:xfrm>
          <a:off x="38100" y="2131600"/>
          <a:ext cx="3000000" cy="3000000"/>
        </p:xfrm>
        <a:graphic>
          <a:graphicData uri="http://schemas.openxmlformats.org/drawingml/2006/table">
            <a:tbl>
              <a:tblPr>
                <a:noFill/>
                <a:tableStyleId>{E60CDD4A-6C10-425E-A22F-08132309E51D}</a:tableStyleId>
              </a:tblPr>
              <a:tblGrid>
                <a:gridCol w="885825"/>
                <a:gridCol w="2705100"/>
                <a:gridCol w="4314825"/>
                <a:gridCol w="4210050"/>
              </a:tblGrid>
              <a:tr h="190500">
                <a:tc>
                  <a:txBody>
                    <a:bodyPr/>
                    <a:lstStyle/>
                    <a:p>
                      <a:pPr indent="0" lvl="0" marL="0" rtl="0" algn="ctr">
                        <a:lnSpc>
                          <a:spcPct val="115000"/>
                        </a:lnSpc>
                        <a:spcBef>
                          <a:spcPts val="0"/>
                        </a:spcBef>
                        <a:spcAft>
                          <a:spcPts val="0"/>
                        </a:spcAft>
                        <a:buNone/>
                      </a:pPr>
                      <a:r>
                        <a:rPr b="1" lang="es-CO" sz="1100">
                          <a:solidFill>
                            <a:schemeClr val="lt1"/>
                          </a:solidFill>
                        </a:rPr>
                        <a:t>Categoría</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1 – Líder de Procesos</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2 – Líder de Procesos</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Comparación / Evolución</a:t>
                      </a:r>
                      <a:endParaRPr b="1" sz="1100">
                        <a:solidFill>
                          <a:schemeClr val="lt1"/>
                        </a:solidFill>
                      </a:endParaRPr>
                    </a:p>
                  </a:txBody>
                  <a:tcPr marT="91425" marB="91425" marR="91425" marL="91425"/>
                </a:tc>
              </a:tr>
              <a:tr h="609600">
                <a:tc>
                  <a:txBody>
                    <a:bodyPr/>
                    <a:lstStyle/>
                    <a:p>
                      <a:pPr indent="0" lvl="0" marL="0" rtl="0" algn="l">
                        <a:spcBef>
                          <a:spcPts val="0"/>
                        </a:spcBef>
                        <a:spcAft>
                          <a:spcPts val="0"/>
                        </a:spcAft>
                        <a:buNone/>
                      </a:pPr>
                      <a:r>
                        <a:rPr b="1" lang="es-CO" sz="1100">
                          <a:solidFill>
                            <a:schemeClr val="lt1"/>
                          </a:solidFill>
                        </a:rPr>
                        <a:t>Métricas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50% de conformidad en auditorías.• Mejoras de productos sin medición precisa.• Aumento general de la calidad.</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95% de cumplimiento en auditorías internas.• Reducción del 20% de incidencias repetitivas por ciclo.• Implementar mínimo 2 mejoras por ciclo.• 80% de mejoras con impacto positivo medible.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Mejora significativa: de métricas generales → métricas cuantitativas, medibles y orientadas a reducción de fallas.✔ Fase 2 muestra madurez en auditorías y control de calidad.</a:t>
                      </a:r>
                      <a:endParaRPr>
                        <a:solidFill>
                          <a:schemeClr val="lt1"/>
                        </a:solidFill>
                      </a:endParaRPr>
                    </a:p>
                  </a:txBody>
                  <a:tcPr marT="91425" marB="91425" marR="91425" marL="91425"/>
                </a:tc>
              </a:tr>
              <a:tr h="428625">
                <a:tc>
                  <a:txBody>
                    <a:bodyPr/>
                    <a:lstStyle/>
                    <a:p>
                      <a:pPr indent="0" lvl="0" marL="0" rtl="0" algn="l">
                        <a:spcBef>
                          <a:spcPts val="0"/>
                        </a:spcBef>
                        <a:spcAft>
                          <a:spcPts val="0"/>
                        </a:spcAft>
                        <a:buNone/>
                      </a:pPr>
                      <a:r>
                        <a:rPr b="1" lang="es-CO" sz="1100">
                          <a:solidFill>
                            <a:schemeClr val="lt1"/>
                          </a:solidFill>
                        </a:rPr>
                        <a:t>Aspectos Positivos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Cumplimiento de auditorías y estándares básicos.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Alto cumplimiento en auditorías.• Seguimiento disciplinado a procesos.• Identificación oportuna de fallas.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Evolución notable en disciplina, detección de fallas y rigor en auditorías.✔ Avance de controles básicos → controles avanzados.</a:t>
                      </a:r>
                      <a:endParaRPr>
                        <a:solidFill>
                          <a:schemeClr val="lt1"/>
                        </a:solidFill>
                      </a:endParaRPr>
                    </a:p>
                  </a:txBody>
                  <a:tcPr marT="91425" marB="91425" marR="91425" marL="91425"/>
                </a:tc>
              </a:tr>
              <a:tr h="609600">
                <a:tc>
                  <a:txBody>
                    <a:bodyPr/>
                    <a:lstStyle/>
                    <a:p>
                      <a:pPr indent="0" lvl="0" marL="0" rtl="0" algn="l">
                        <a:spcBef>
                          <a:spcPts val="0"/>
                        </a:spcBef>
                        <a:spcAft>
                          <a:spcPts val="0"/>
                        </a:spcAft>
                        <a:buNone/>
                      </a:pPr>
                      <a:r>
                        <a:rPr b="1" lang="es-CO" sz="1100">
                          <a:solidFill>
                            <a:schemeClr val="lt1"/>
                          </a:solidFill>
                        </a:rPr>
                        <a:t>Aspectos Negativos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Tiempo limitado para pruebas, afectando calidad.</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Documentación extensa y difícil de mantener.• Poca retroalimentación entre los procesos.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En Fase 1 la limitación es operativa (poco tiempo).✔ En Fase 2 los retos son administrativos (documentación, feedback).✔ Evolución de problemas básicos → problemas de optimización.</a:t>
                      </a:r>
                      <a:endParaRPr>
                        <a:solidFill>
                          <a:schemeClr val="lt1"/>
                        </a:solidFill>
                      </a:endParaRPr>
                    </a:p>
                  </a:txBody>
                  <a:tcPr marT="91425" marB="91425" marR="91425" marL="91425"/>
                </a:tc>
              </a:tr>
              <a:tr h="571500">
                <a:tc>
                  <a:txBody>
                    <a:bodyPr/>
                    <a:lstStyle/>
                    <a:p>
                      <a:pPr indent="0" lvl="0" marL="0" rtl="0" algn="l">
                        <a:spcBef>
                          <a:spcPts val="0"/>
                        </a:spcBef>
                        <a:spcAft>
                          <a:spcPts val="0"/>
                        </a:spcAft>
                        <a:buNone/>
                      </a:pPr>
                      <a:r>
                        <a:rPr b="1" lang="es-CO" sz="1100">
                          <a:solidFill>
                            <a:schemeClr val="lt1"/>
                          </a:solidFill>
                        </a:rPr>
                        <a:t>Propuesta de Mejora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Ampliar el tiempo de control de calidad.</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Simplificar formatos de documentación.• Realizar miniauditorías internas de 10 minutos semanalmente.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Fase 1 propone una solución simple (más tiempo).✔ Fase 2 propone mejoras efectivas y escalables (documentación ligera + microauditorías).</a:t>
                      </a:r>
                      <a:endParaRPr>
                        <a:solidFill>
                          <a:schemeClr val="lt1"/>
                        </a:solidFill>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a8e20dd7aa_0_94"/>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Líder de Desarrollo fase 1</a:t>
            </a:r>
            <a:endParaRPr/>
          </a:p>
        </p:txBody>
      </p:sp>
      <p:sp>
        <p:nvSpPr>
          <p:cNvPr id="299" name="Google Shape;299;g3a8e20dd7aa_0_94"/>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s-CO" sz="2100">
                <a:latin typeface="Arial"/>
                <a:ea typeface="Arial"/>
                <a:cs typeface="Arial"/>
                <a:sym typeface="Arial"/>
              </a:rPr>
              <a:t>Métricas:</a:t>
            </a:r>
            <a:r>
              <a:rPr lang="es-CO" sz="2100">
                <a:latin typeface="Arial"/>
                <a:ea typeface="Arial"/>
                <a:cs typeface="Arial"/>
                <a:sym typeface="Arial"/>
              </a:rPr>
              <a:t> Entregas incompletas, defectos críticos, actividades finalizadas con apoyo de LE.</a:t>
            </a:r>
            <a:br>
              <a:rPr lang="es-CO" sz="2100">
                <a:latin typeface="Arial"/>
                <a:ea typeface="Arial"/>
                <a:cs typeface="Arial"/>
                <a:sym typeface="Arial"/>
              </a:rPr>
            </a:br>
            <a:endParaRPr sz="21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s-CO" sz="2100">
                <a:latin typeface="Arial"/>
                <a:ea typeface="Arial"/>
                <a:cs typeface="Arial"/>
                <a:sym typeface="Arial"/>
              </a:rPr>
              <a:t>Aspectos Positivos:</a:t>
            </a:r>
            <a:r>
              <a:rPr lang="es-CO" sz="2100">
                <a:latin typeface="Arial"/>
                <a:ea typeface="Arial"/>
                <a:cs typeface="Arial"/>
                <a:sym typeface="Arial"/>
              </a:rPr>
              <a:t> Código funcional y estable.</a:t>
            </a:r>
            <a:br>
              <a:rPr lang="es-CO" sz="2100">
                <a:latin typeface="Arial"/>
                <a:ea typeface="Arial"/>
                <a:cs typeface="Arial"/>
                <a:sym typeface="Arial"/>
              </a:rPr>
            </a:br>
            <a:endParaRPr sz="21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s-CO" sz="2100">
                <a:latin typeface="Arial"/>
                <a:ea typeface="Arial"/>
                <a:cs typeface="Arial"/>
                <a:sym typeface="Arial"/>
              </a:rPr>
              <a:t>Aspectos Negativos:</a:t>
            </a:r>
            <a:r>
              <a:rPr lang="es-CO" sz="2100">
                <a:latin typeface="Arial"/>
                <a:ea typeface="Arial"/>
                <a:cs typeface="Arial"/>
                <a:sym typeface="Arial"/>
              </a:rPr>
              <a:t> Falta de automatización de pruebas.</a:t>
            </a:r>
            <a:br>
              <a:rPr lang="es-CO" sz="2100">
                <a:latin typeface="Arial"/>
                <a:ea typeface="Arial"/>
                <a:cs typeface="Arial"/>
                <a:sym typeface="Arial"/>
              </a:rPr>
            </a:br>
            <a:endParaRPr sz="21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s-CO" sz="2100">
                <a:latin typeface="Arial"/>
                <a:ea typeface="Arial"/>
                <a:cs typeface="Arial"/>
                <a:sym typeface="Arial"/>
              </a:rPr>
              <a:t>Propuesta de Mejora:</a:t>
            </a:r>
            <a:r>
              <a:rPr lang="es-CO" sz="2100">
                <a:latin typeface="Arial"/>
                <a:ea typeface="Arial"/>
                <a:cs typeface="Arial"/>
                <a:sym typeface="Arial"/>
              </a:rPr>
              <a:t> Implementar pruebas automatizadas.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a8e20dd7aa_0_99"/>
          <p:cNvSpPr txBox="1"/>
          <p:nvPr>
            <p:ph type="title"/>
          </p:nvPr>
        </p:nvSpPr>
        <p:spPr>
          <a:xfrm>
            <a:off x="-4" y="241803"/>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Líder de Desarrollo fase 2</a:t>
            </a:r>
            <a:endParaRPr/>
          </a:p>
        </p:txBody>
      </p:sp>
      <p:sp>
        <p:nvSpPr>
          <p:cNvPr id="305" name="Google Shape;305;g3a8e20dd7aa_0_99"/>
          <p:cNvSpPr txBox="1"/>
          <p:nvPr>
            <p:ph idx="1" type="body"/>
          </p:nvPr>
        </p:nvSpPr>
        <p:spPr>
          <a:xfrm>
            <a:off x="94350" y="1136725"/>
            <a:ext cx="9613800" cy="5721300"/>
          </a:xfrm>
          <a:prstGeom prst="rect">
            <a:avLst/>
          </a:prstGeom>
        </p:spPr>
        <p:txBody>
          <a:bodyPr anchorCtr="0" anchor="t" bIns="45700" lIns="91425" spcFirstLastPara="1" rIns="91425" wrap="square" tIns="45700">
            <a:noAutofit/>
          </a:bodyPr>
          <a:lstStyle/>
          <a:p>
            <a:pPr indent="0" lvl="0" marL="0" rtl="0" algn="l">
              <a:lnSpc>
                <a:spcPct val="95000"/>
              </a:lnSpc>
              <a:spcBef>
                <a:spcPts val="1400"/>
              </a:spcBef>
              <a:spcAft>
                <a:spcPts val="0"/>
              </a:spcAft>
              <a:buClr>
                <a:schemeClr val="dk1"/>
              </a:buClr>
              <a:buSzPts val="275"/>
              <a:buFont typeface="Arial"/>
              <a:buNone/>
            </a:pPr>
            <a:r>
              <a:rPr b="1" lang="es-CO" sz="1217">
                <a:latin typeface="Arial"/>
                <a:ea typeface="Arial"/>
                <a:cs typeface="Arial"/>
                <a:sym typeface="Arial"/>
              </a:rPr>
              <a:t>Métricas</a:t>
            </a:r>
            <a:endParaRPr b="1" sz="1217">
              <a:latin typeface="Arial"/>
              <a:ea typeface="Arial"/>
              <a:cs typeface="Arial"/>
              <a:sym typeface="Arial"/>
            </a:endParaRPr>
          </a:p>
          <a:p>
            <a:pPr indent="-302707" lvl="0" marL="457200" rtl="0" algn="l">
              <a:lnSpc>
                <a:spcPct val="95000"/>
              </a:lnSpc>
              <a:spcBef>
                <a:spcPts val="1200"/>
              </a:spcBef>
              <a:spcAft>
                <a:spcPts val="0"/>
              </a:spcAft>
              <a:buClr>
                <a:schemeClr val="lt1"/>
              </a:buClr>
              <a:buSzPts val="1167"/>
              <a:buChar char="●"/>
            </a:pPr>
            <a:r>
              <a:rPr lang="es-CO" sz="1167">
                <a:latin typeface="Arial"/>
                <a:ea typeface="Arial"/>
                <a:cs typeface="Arial"/>
                <a:sym typeface="Arial"/>
              </a:rPr>
              <a:t>Completar el 90% de entregables técnicos a tiempo.</a:t>
            </a:r>
            <a:br>
              <a:rPr lang="es-CO" sz="1167">
                <a:latin typeface="Arial"/>
                <a:ea typeface="Arial"/>
                <a:cs typeface="Arial"/>
                <a:sym typeface="Arial"/>
              </a:rPr>
            </a:br>
            <a:endParaRPr sz="1167">
              <a:latin typeface="Arial"/>
              <a:ea typeface="Arial"/>
              <a:cs typeface="Arial"/>
              <a:sym typeface="Arial"/>
            </a:endParaRPr>
          </a:p>
          <a:p>
            <a:pPr indent="-302707" lvl="0" marL="457200" rtl="0" algn="l">
              <a:lnSpc>
                <a:spcPct val="95000"/>
              </a:lnSpc>
              <a:spcBef>
                <a:spcPts val="0"/>
              </a:spcBef>
              <a:spcAft>
                <a:spcPts val="0"/>
              </a:spcAft>
              <a:buClr>
                <a:schemeClr val="lt1"/>
              </a:buClr>
              <a:buSzPts val="1167"/>
              <a:buChar char="●"/>
            </a:pPr>
            <a:r>
              <a:rPr lang="es-CO" sz="1167">
                <a:latin typeface="Arial"/>
                <a:ea typeface="Arial"/>
                <a:cs typeface="Arial"/>
                <a:sym typeface="Arial"/>
              </a:rPr>
              <a:t>95% de entregables sin defectos críticos.</a:t>
            </a:r>
            <a:br>
              <a:rPr lang="es-CO" sz="1167">
                <a:latin typeface="Arial"/>
                <a:ea typeface="Arial"/>
                <a:cs typeface="Arial"/>
                <a:sym typeface="Arial"/>
              </a:rPr>
            </a:br>
            <a:endParaRPr sz="1167">
              <a:latin typeface="Arial"/>
              <a:ea typeface="Arial"/>
              <a:cs typeface="Arial"/>
              <a:sym typeface="Arial"/>
            </a:endParaRPr>
          </a:p>
          <a:p>
            <a:pPr indent="-302707" lvl="0" marL="457200" rtl="0" algn="l">
              <a:lnSpc>
                <a:spcPct val="95000"/>
              </a:lnSpc>
              <a:spcBef>
                <a:spcPts val="0"/>
              </a:spcBef>
              <a:spcAft>
                <a:spcPts val="0"/>
              </a:spcAft>
              <a:buClr>
                <a:schemeClr val="lt1"/>
              </a:buClr>
              <a:buSzPts val="1167"/>
              <a:buChar char="●"/>
            </a:pPr>
            <a:r>
              <a:rPr lang="es-CO" sz="1167">
                <a:latin typeface="Arial"/>
                <a:ea typeface="Arial"/>
                <a:cs typeface="Arial"/>
                <a:sym typeface="Arial"/>
              </a:rPr>
              <a:t>80% de cobertura de pruebas unitarias.</a:t>
            </a:r>
            <a:br>
              <a:rPr lang="es-CO" sz="1167">
                <a:latin typeface="Arial"/>
                <a:ea typeface="Arial"/>
                <a:cs typeface="Arial"/>
                <a:sym typeface="Arial"/>
              </a:rPr>
            </a:br>
            <a:endParaRPr sz="1167">
              <a:latin typeface="Arial"/>
              <a:ea typeface="Arial"/>
              <a:cs typeface="Arial"/>
              <a:sym typeface="Arial"/>
            </a:endParaRPr>
          </a:p>
          <a:p>
            <a:pPr indent="-302707" lvl="0" marL="457200" rtl="0" algn="l">
              <a:lnSpc>
                <a:spcPct val="95000"/>
              </a:lnSpc>
              <a:spcBef>
                <a:spcPts val="0"/>
              </a:spcBef>
              <a:spcAft>
                <a:spcPts val="0"/>
              </a:spcAft>
              <a:buClr>
                <a:schemeClr val="lt1"/>
              </a:buClr>
              <a:buSzPts val="1167"/>
              <a:buChar char="●"/>
            </a:pPr>
            <a:r>
              <a:rPr lang="es-CO" sz="1167">
                <a:latin typeface="Arial"/>
                <a:ea typeface="Arial"/>
                <a:cs typeface="Arial"/>
                <a:sym typeface="Arial"/>
              </a:rPr>
              <a:t>Reducir en 15% errores de integración.</a:t>
            </a:r>
            <a:br>
              <a:rPr lang="es-CO" sz="1167">
                <a:latin typeface="Arial"/>
                <a:ea typeface="Arial"/>
                <a:cs typeface="Arial"/>
                <a:sym typeface="Arial"/>
              </a:rPr>
            </a:br>
            <a:endParaRPr sz="1167">
              <a:latin typeface="Arial"/>
              <a:ea typeface="Arial"/>
              <a:cs typeface="Arial"/>
              <a:sym typeface="Arial"/>
            </a:endParaRPr>
          </a:p>
          <a:p>
            <a:pPr indent="0" lvl="0" marL="0" rtl="0" algn="l">
              <a:lnSpc>
                <a:spcPct val="95000"/>
              </a:lnSpc>
              <a:spcBef>
                <a:spcPts val="1400"/>
              </a:spcBef>
              <a:spcAft>
                <a:spcPts val="0"/>
              </a:spcAft>
              <a:buClr>
                <a:schemeClr val="dk1"/>
              </a:buClr>
              <a:buSzPts val="275"/>
              <a:buFont typeface="Arial"/>
              <a:buNone/>
            </a:pPr>
            <a:r>
              <a:rPr b="1" lang="es-CO" sz="1217">
                <a:latin typeface="Arial"/>
                <a:ea typeface="Arial"/>
                <a:cs typeface="Arial"/>
                <a:sym typeface="Arial"/>
              </a:rPr>
              <a:t>Aspectos positivos</a:t>
            </a:r>
            <a:endParaRPr b="1" sz="1217">
              <a:latin typeface="Arial"/>
              <a:ea typeface="Arial"/>
              <a:cs typeface="Arial"/>
              <a:sym typeface="Arial"/>
            </a:endParaRPr>
          </a:p>
          <a:p>
            <a:pPr indent="-302707" lvl="0" marL="457200" rtl="0" algn="l">
              <a:lnSpc>
                <a:spcPct val="95000"/>
              </a:lnSpc>
              <a:spcBef>
                <a:spcPts val="1200"/>
              </a:spcBef>
              <a:spcAft>
                <a:spcPts val="0"/>
              </a:spcAft>
              <a:buClr>
                <a:schemeClr val="lt1"/>
              </a:buClr>
              <a:buSzPts val="1167"/>
              <a:buChar char="●"/>
            </a:pPr>
            <a:r>
              <a:rPr lang="es-CO" sz="1167">
                <a:latin typeface="Arial"/>
                <a:ea typeface="Arial"/>
                <a:cs typeface="Arial"/>
                <a:sym typeface="Arial"/>
              </a:rPr>
              <a:t>Buen manejo de entregables y calidad de código.</a:t>
            </a:r>
            <a:br>
              <a:rPr lang="es-CO" sz="1167">
                <a:latin typeface="Arial"/>
                <a:ea typeface="Arial"/>
                <a:cs typeface="Arial"/>
                <a:sym typeface="Arial"/>
              </a:rPr>
            </a:br>
            <a:endParaRPr sz="1167">
              <a:latin typeface="Arial"/>
              <a:ea typeface="Arial"/>
              <a:cs typeface="Arial"/>
              <a:sym typeface="Arial"/>
            </a:endParaRPr>
          </a:p>
          <a:p>
            <a:pPr indent="-302707" lvl="0" marL="457200" rtl="0" algn="l">
              <a:lnSpc>
                <a:spcPct val="95000"/>
              </a:lnSpc>
              <a:spcBef>
                <a:spcPts val="0"/>
              </a:spcBef>
              <a:spcAft>
                <a:spcPts val="0"/>
              </a:spcAft>
              <a:buClr>
                <a:schemeClr val="lt1"/>
              </a:buClr>
              <a:buSzPts val="1167"/>
              <a:buChar char="●"/>
            </a:pPr>
            <a:r>
              <a:rPr lang="es-CO" sz="1167">
                <a:latin typeface="Arial"/>
                <a:ea typeface="Arial"/>
                <a:cs typeface="Arial"/>
                <a:sym typeface="Arial"/>
              </a:rPr>
              <a:t>Alto nivel técnico y cumplimiento.</a:t>
            </a:r>
            <a:br>
              <a:rPr lang="es-CO" sz="1167">
                <a:latin typeface="Arial"/>
                <a:ea typeface="Arial"/>
                <a:cs typeface="Arial"/>
                <a:sym typeface="Arial"/>
              </a:rPr>
            </a:br>
            <a:endParaRPr sz="1167">
              <a:latin typeface="Arial"/>
              <a:ea typeface="Arial"/>
              <a:cs typeface="Arial"/>
              <a:sym typeface="Arial"/>
            </a:endParaRPr>
          </a:p>
          <a:p>
            <a:pPr indent="-302707" lvl="0" marL="457200" rtl="0" algn="l">
              <a:lnSpc>
                <a:spcPct val="95000"/>
              </a:lnSpc>
              <a:spcBef>
                <a:spcPts val="0"/>
              </a:spcBef>
              <a:spcAft>
                <a:spcPts val="0"/>
              </a:spcAft>
              <a:buClr>
                <a:schemeClr val="lt1"/>
              </a:buClr>
              <a:buSzPts val="1167"/>
              <a:buChar char="●"/>
            </a:pPr>
            <a:r>
              <a:rPr lang="es-CO" sz="1167">
                <a:latin typeface="Arial"/>
                <a:ea typeface="Arial"/>
                <a:cs typeface="Arial"/>
                <a:sym typeface="Arial"/>
              </a:rPr>
              <a:t>Control adecuado sobre las pruebas unitarias.</a:t>
            </a:r>
            <a:br>
              <a:rPr lang="es-CO" sz="1167">
                <a:latin typeface="Arial"/>
                <a:ea typeface="Arial"/>
                <a:cs typeface="Arial"/>
                <a:sym typeface="Arial"/>
              </a:rPr>
            </a:br>
            <a:endParaRPr sz="1167">
              <a:latin typeface="Arial"/>
              <a:ea typeface="Arial"/>
              <a:cs typeface="Arial"/>
              <a:sym typeface="Arial"/>
            </a:endParaRPr>
          </a:p>
          <a:p>
            <a:pPr indent="0" lvl="0" marL="0" rtl="0" algn="l">
              <a:lnSpc>
                <a:spcPct val="95000"/>
              </a:lnSpc>
              <a:spcBef>
                <a:spcPts val="1400"/>
              </a:spcBef>
              <a:spcAft>
                <a:spcPts val="0"/>
              </a:spcAft>
              <a:buClr>
                <a:schemeClr val="dk1"/>
              </a:buClr>
              <a:buSzPts val="275"/>
              <a:buFont typeface="Arial"/>
              <a:buNone/>
            </a:pPr>
            <a:r>
              <a:rPr b="1" lang="es-CO" sz="1217">
                <a:latin typeface="Arial"/>
                <a:ea typeface="Arial"/>
                <a:cs typeface="Arial"/>
                <a:sym typeface="Arial"/>
              </a:rPr>
              <a:t>Aspectos negativos</a:t>
            </a:r>
            <a:endParaRPr b="1" sz="1217">
              <a:latin typeface="Arial"/>
              <a:ea typeface="Arial"/>
              <a:cs typeface="Arial"/>
              <a:sym typeface="Arial"/>
            </a:endParaRPr>
          </a:p>
          <a:p>
            <a:pPr indent="-302707" lvl="0" marL="457200" rtl="0" algn="l">
              <a:lnSpc>
                <a:spcPct val="95000"/>
              </a:lnSpc>
              <a:spcBef>
                <a:spcPts val="1200"/>
              </a:spcBef>
              <a:spcAft>
                <a:spcPts val="0"/>
              </a:spcAft>
              <a:buClr>
                <a:schemeClr val="lt1"/>
              </a:buClr>
              <a:buSzPts val="1167"/>
              <a:buChar char="●"/>
            </a:pPr>
            <a:r>
              <a:rPr lang="es-CO" sz="1167">
                <a:latin typeface="Arial"/>
                <a:ea typeface="Arial"/>
                <a:cs typeface="Arial"/>
                <a:sym typeface="Arial"/>
              </a:rPr>
              <a:t>Carga de trabajo concentrada en una sola persona.</a:t>
            </a:r>
            <a:br>
              <a:rPr lang="es-CO" sz="1167">
                <a:latin typeface="Arial"/>
                <a:ea typeface="Arial"/>
                <a:cs typeface="Arial"/>
                <a:sym typeface="Arial"/>
              </a:rPr>
            </a:br>
            <a:endParaRPr sz="1167">
              <a:latin typeface="Arial"/>
              <a:ea typeface="Arial"/>
              <a:cs typeface="Arial"/>
              <a:sym typeface="Arial"/>
            </a:endParaRPr>
          </a:p>
          <a:p>
            <a:pPr indent="-302707" lvl="0" marL="457200" rtl="0" algn="l">
              <a:lnSpc>
                <a:spcPct val="95000"/>
              </a:lnSpc>
              <a:spcBef>
                <a:spcPts val="0"/>
              </a:spcBef>
              <a:spcAft>
                <a:spcPts val="0"/>
              </a:spcAft>
              <a:buClr>
                <a:schemeClr val="lt1"/>
              </a:buClr>
              <a:buSzPts val="1167"/>
              <a:buChar char="●"/>
            </a:pPr>
            <a:r>
              <a:rPr lang="es-CO" sz="1167">
                <a:latin typeface="Arial"/>
                <a:ea typeface="Arial"/>
                <a:cs typeface="Arial"/>
                <a:sym typeface="Arial"/>
              </a:rPr>
              <a:t>Algunos defectos pueden reaparecer por falta de revisión cruzada.</a:t>
            </a:r>
            <a:br>
              <a:rPr lang="es-CO" sz="1167">
                <a:latin typeface="Arial"/>
                <a:ea typeface="Arial"/>
                <a:cs typeface="Arial"/>
                <a:sym typeface="Arial"/>
              </a:rPr>
            </a:br>
            <a:endParaRPr sz="1167">
              <a:latin typeface="Arial"/>
              <a:ea typeface="Arial"/>
              <a:cs typeface="Arial"/>
              <a:sym typeface="Arial"/>
            </a:endParaRPr>
          </a:p>
          <a:p>
            <a:pPr indent="0" lvl="0" marL="0" rtl="0" algn="l">
              <a:lnSpc>
                <a:spcPct val="95000"/>
              </a:lnSpc>
              <a:spcBef>
                <a:spcPts val="1400"/>
              </a:spcBef>
              <a:spcAft>
                <a:spcPts val="0"/>
              </a:spcAft>
              <a:buClr>
                <a:schemeClr val="dk1"/>
              </a:buClr>
              <a:buSzPts val="275"/>
              <a:buFont typeface="Arial"/>
              <a:buNone/>
            </a:pPr>
            <a:r>
              <a:rPr b="1" lang="es-CO" sz="1217">
                <a:latin typeface="Arial"/>
                <a:ea typeface="Arial"/>
                <a:cs typeface="Arial"/>
                <a:sym typeface="Arial"/>
              </a:rPr>
              <a:t>Propuesta de mejora</a:t>
            </a:r>
            <a:endParaRPr b="1" sz="1217">
              <a:latin typeface="Arial"/>
              <a:ea typeface="Arial"/>
              <a:cs typeface="Arial"/>
              <a:sym typeface="Arial"/>
            </a:endParaRPr>
          </a:p>
          <a:p>
            <a:pPr indent="-302707" lvl="0" marL="457200" rtl="0" algn="l">
              <a:lnSpc>
                <a:spcPct val="95000"/>
              </a:lnSpc>
              <a:spcBef>
                <a:spcPts val="1200"/>
              </a:spcBef>
              <a:spcAft>
                <a:spcPts val="0"/>
              </a:spcAft>
              <a:buClr>
                <a:schemeClr val="lt1"/>
              </a:buClr>
              <a:buSzPts val="1167"/>
              <a:buChar char="●"/>
            </a:pPr>
            <a:r>
              <a:rPr lang="es-CO" sz="1167">
                <a:latin typeface="Arial"/>
                <a:ea typeface="Arial"/>
                <a:cs typeface="Arial"/>
                <a:sym typeface="Arial"/>
              </a:rPr>
              <a:t>Implementar revisiones de código entre pares (peer review).</a:t>
            </a:r>
            <a:br>
              <a:rPr lang="es-CO" sz="1167">
                <a:latin typeface="Arial"/>
                <a:ea typeface="Arial"/>
                <a:cs typeface="Arial"/>
                <a:sym typeface="Arial"/>
              </a:rPr>
            </a:br>
            <a:endParaRPr sz="1167">
              <a:latin typeface="Arial"/>
              <a:ea typeface="Arial"/>
              <a:cs typeface="Arial"/>
              <a:sym typeface="Arial"/>
            </a:endParaRPr>
          </a:p>
          <a:p>
            <a:pPr indent="-302707" lvl="0" marL="457200" rtl="0" algn="l">
              <a:lnSpc>
                <a:spcPct val="95000"/>
              </a:lnSpc>
              <a:spcBef>
                <a:spcPts val="0"/>
              </a:spcBef>
              <a:spcAft>
                <a:spcPts val="0"/>
              </a:spcAft>
              <a:buClr>
                <a:schemeClr val="lt1"/>
              </a:buClr>
              <a:buSzPts val="1167"/>
              <a:buChar char="●"/>
            </a:pPr>
            <a:r>
              <a:rPr lang="es-CO" sz="1167">
                <a:latin typeface="Arial"/>
                <a:ea typeface="Arial"/>
                <a:cs typeface="Arial"/>
                <a:sym typeface="Arial"/>
              </a:rPr>
              <a:t>Automatizar pruebas recurrentes para detectar errores antes de integrar.</a:t>
            </a:r>
            <a:endParaRPr sz="1167">
              <a:latin typeface="Arial"/>
              <a:ea typeface="Arial"/>
              <a:cs typeface="Arial"/>
              <a:sym typeface="Arial"/>
            </a:endParaRPr>
          </a:p>
          <a:p>
            <a:pPr indent="0" lvl="0" marL="0" rtl="0" algn="l">
              <a:lnSpc>
                <a:spcPct val="70000"/>
              </a:lnSpc>
              <a:spcBef>
                <a:spcPts val="1200"/>
              </a:spcBef>
              <a:spcAft>
                <a:spcPts val="0"/>
              </a:spcAft>
              <a:buSzPts val="275"/>
              <a:buNone/>
            </a:pPr>
            <a:r>
              <a:t/>
            </a:r>
            <a:endParaRPr sz="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a8e20dd7aa_0_105"/>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Comparación</a:t>
            </a:r>
            <a:r>
              <a:rPr lang="es-CO"/>
              <a:t> </a:t>
            </a:r>
            <a:r>
              <a:rPr lang="es-CO"/>
              <a:t>Líder</a:t>
            </a:r>
            <a:r>
              <a:rPr lang="es-CO"/>
              <a:t> de desarrollo fase 1 Vs Lider de desarrollo fase 2</a:t>
            </a:r>
            <a:endParaRPr/>
          </a:p>
        </p:txBody>
      </p:sp>
      <p:graphicFrame>
        <p:nvGraphicFramePr>
          <p:cNvPr id="311" name="Google Shape;311;g3a8e20dd7aa_0_105"/>
          <p:cNvGraphicFramePr/>
          <p:nvPr/>
        </p:nvGraphicFramePr>
        <p:xfrm>
          <a:off x="528175" y="2015625"/>
          <a:ext cx="3000000" cy="3000000"/>
        </p:xfrm>
        <a:graphic>
          <a:graphicData uri="http://schemas.openxmlformats.org/drawingml/2006/table">
            <a:tbl>
              <a:tblPr>
                <a:noFill/>
                <a:tableStyleId>{E60CDD4A-6C10-425E-A22F-08132309E51D}</a:tableStyleId>
              </a:tblPr>
              <a:tblGrid>
                <a:gridCol w="829325"/>
                <a:gridCol w="2626175"/>
                <a:gridCol w="3602350"/>
                <a:gridCol w="3930625"/>
              </a:tblGrid>
              <a:tr h="251750">
                <a:tc>
                  <a:txBody>
                    <a:bodyPr/>
                    <a:lstStyle/>
                    <a:p>
                      <a:pPr indent="0" lvl="0" marL="0" rtl="0" algn="ctr">
                        <a:lnSpc>
                          <a:spcPct val="115000"/>
                        </a:lnSpc>
                        <a:spcBef>
                          <a:spcPts val="0"/>
                        </a:spcBef>
                        <a:spcAft>
                          <a:spcPts val="0"/>
                        </a:spcAft>
                        <a:buNone/>
                      </a:pPr>
                      <a:r>
                        <a:rPr b="1" lang="es-CO" sz="1100">
                          <a:solidFill>
                            <a:schemeClr val="lt1"/>
                          </a:solidFill>
                        </a:rPr>
                        <a:t>Categoría</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1 – Líder de Desarrollo</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2 – Líder de Desarrollo</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Comparación / Evolución</a:t>
                      </a:r>
                      <a:endParaRPr b="1" sz="1100">
                        <a:solidFill>
                          <a:schemeClr val="lt1"/>
                        </a:solidFill>
                      </a:endParaRPr>
                    </a:p>
                  </a:txBody>
                  <a:tcPr marT="91425" marB="91425" marR="91425" marL="91425"/>
                </a:tc>
              </a:tr>
              <a:tr h="688525">
                <a:tc>
                  <a:txBody>
                    <a:bodyPr/>
                    <a:lstStyle/>
                    <a:p>
                      <a:pPr indent="0" lvl="0" marL="0" rtl="0" algn="l">
                        <a:spcBef>
                          <a:spcPts val="0"/>
                        </a:spcBef>
                        <a:spcAft>
                          <a:spcPts val="0"/>
                        </a:spcAft>
                        <a:buNone/>
                      </a:pPr>
                      <a:r>
                        <a:rPr b="1" lang="es-CO" sz="1100">
                          <a:solidFill>
                            <a:schemeClr val="lt1"/>
                          </a:solidFill>
                        </a:rPr>
                        <a:t>Métricas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Entregas incompletas.• Presencia de defectos críticos.• Actividades finalizadas con apoyo constante del LE.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90% de entregables técnicos entregados a tiempo.• 95% sin defectos críticos.• 80% de cobertura de pruebas unitarias.• Reducción del 15% de errores de integración.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Evolución muy grande: de metas básicas no cumplidas → métricas avanzadas de calidad y pruebas.✔ Mayor independencia y control del proceso técnico.</a:t>
                      </a:r>
                      <a:endParaRPr>
                        <a:solidFill>
                          <a:schemeClr val="lt1"/>
                        </a:solidFill>
                      </a:endParaRPr>
                    </a:p>
                  </a:txBody>
                  <a:tcPr marT="91425" marB="91425" marR="91425" marL="91425"/>
                </a:tc>
              </a:tr>
              <a:tr h="547225">
                <a:tc>
                  <a:txBody>
                    <a:bodyPr/>
                    <a:lstStyle/>
                    <a:p>
                      <a:pPr indent="0" lvl="0" marL="0" rtl="0" algn="l">
                        <a:spcBef>
                          <a:spcPts val="0"/>
                        </a:spcBef>
                        <a:spcAft>
                          <a:spcPts val="0"/>
                        </a:spcAft>
                        <a:buNone/>
                      </a:pPr>
                      <a:r>
                        <a:rPr b="1" lang="es-CO" sz="1100">
                          <a:solidFill>
                            <a:schemeClr val="lt1"/>
                          </a:solidFill>
                        </a:rPr>
                        <a:t>Aspectos Positivos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Código funcional y estable.</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Buen manejo de entregables y calidad.• Alto nivel técnico.• Buen control sobre pruebas unitarias.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Evolución del simple funcionamiento → calidad robusta y prácticas técnicas maduras.✔ Mayor dominio de pruebas y entregables.</a:t>
                      </a:r>
                      <a:endParaRPr>
                        <a:solidFill>
                          <a:schemeClr val="lt1"/>
                        </a:solidFill>
                      </a:endParaRPr>
                    </a:p>
                  </a:txBody>
                  <a:tcPr marT="91425" marB="91425" marR="91425" marL="91425"/>
                </a:tc>
              </a:tr>
              <a:tr h="688525">
                <a:tc>
                  <a:txBody>
                    <a:bodyPr/>
                    <a:lstStyle/>
                    <a:p>
                      <a:pPr indent="0" lvl="0" marL="0" rtl="0" algn="l">
                        <a:spcBef>
                          <a:spcPts val="0"/>
                        </a:spcBef>
                        <a:spcAft>
                          <a:spcPts val="0"/>
                        </a:spcAft>
                        <a:buNone/>
                      </a:pPr>
                      <a:r>
                        <a:rPr b="1" lang="es-CO" sz="1100">
                          <a:solidFill>
                            <a:schemeClr val="lt1"/>
                          </a:solidFill>
                        </a:rPr>
                        <a:t>Aspectos Negativos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Falta de automatización de pruebas.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Sobrecarga del rol en una sola persona.• Algunos defectos reaparecen por falta de revisión cruzada.</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Fase 1: problemas técnicos (falta de pruebas).✔ Fase 2: problemas organizativos (sobrecarga, poco peer review).✔ Cambia de problemas básicos a problemas de escalabilidad.</a:t>
                      </a:r>
                      <a:endParaRPr>
                        <a:solidFill>
                          <a:schemeClr val="lt1"/>
                        </a:solidFill>
                      </a:endParaRPr>
                    </a:p>
                  </a:txBody>
                  <a:tcPr marT="91425" marB="91425" marR="91425" marL="91425"/>
                </a:tc>
              </a:tr>
              <a:tr h="547225">
                <a:tc>
                  <a:txBody>
                    <a:bodyPr/>
                    <a:lstStyle/>
                    <a:p>
                      <a:pPr indent="0" lvl="0" marL="0" rtl="0" algn="l">
                        <a:spcBef>
                          <a:spcPts val="0"/>
                        </a:spcBef>
                        <a:spcAft>
                          <a:spcPts val="0"/>
                        </a:spcAft>
                        <a:buNone/>
                      </a:pPr>
                      <a:r>
                        <a:rPr b="1" lang="es-CO" sz="1100">
                          <a:solidFill>
                            <a:schemeClr val="lt1"/>
                          </a:solidFill>
                        </a:rPr>
                        <a:t>Propuesta de Mejora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Implementar pruebas automatizadas.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Implementar revisiones de código entre pares.• Automatizar pruebas recurrentes para detección temprana.</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Fase 2 amplía la propuesta de mejora inicial.✔ Introduce prácticas de ingeniería avanzadas (peer reviews + automatización continua).</a:t>
                      </a:r>
                      <a:endParaRPr>
                        <a:solidFill>
                          <a:schemeClr val="lt1"/>
                        </a:solidFill>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a8e20dd7aa_0_112"/>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Lider de soporte fase 1</a:t>
            </a:r>
            <a:endParaRPr/>
          </a:p>
        </p:txBody>
      </p:sp>
      <p:sp>
        <p:nvSpPr>
          <p:cNvPr id="317" name="Google Shape;317;g3a8e20dd7aa_0_112"/>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s-CO" sz="2100">
                <a:latin typeface="Arial"/>
                <a:ea typeface="Arial"/>
                <a:cs typeface="Arial"/>
                <a:sym typeface="Arial"/>
              </a:rPr>
              <a:t>Métricas:</a:t>
            </a:r>
            <a:r>
              <a:rPr lang="es-CO" sz="2100">
                <a:latin typeface="Arial"/>
                <a:ea typeface="Arial"/>
                <a:cs typeface="Arial"/>
                <a:sym typeface="Arial"/>
              </a:rPr>
              <a:t> Incumplimiento de tickets, satisfacción del 85%, actualización de scripts, documentación parcial.</a:t>
            </a:r>
            <a:br>
              <a:rPr lang="es-CO" sz="2100">
                <a:latin typeface="Arial"/>
                <a:ea typeface="Arial"/>
                <a:cs typeface="Arial"/>
                <a:sym typeface="Arial"/>
              </a:rPr>
            </a:br>
            <a:endParaRPr sz="2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s-CO" sz="2100">
                <a:latin typeface="Arial"/>
                <a:ea typeface="Arial"/>
                <a:cs typeface="Arial"/>
                <a:sym typeface="Arial"/>
              </a:rPr>
              <a:t>Aspectos Positivos:</a:t>
            </a:r>
            <a:r>
              <a:rPr lang="es-CO" sz="2100">
                <a:latin typeface="Arial"/>
                <a:ea typeface="Arial"/>
                <a:cs typeface="Arial"/>
                <a:sym typeface="Arial"/>
              </a:rPr>
              <a:t> Atención rápida y documentación actualizada.</a:t>
            </a:r>
            <a:br>
              <a:rPr lang="es-CO" sz="2100">
                <a:latin typeface="Arial"/>
                <a:ea typeface="Arial"/>
                <a:cs typeface="Arial"/>
                <a:sym typeface="Arial"/>
              </a:rPr>
            </a:br>
            <a:endParaRPr sz="2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s-CO" sz="2100">
                <a:latin typeface="Arial"/>
                <a:ea typeface="Arial"/>
                <a:cs typeface="Arial"/>
                <a:sym typeface="Arial"/>
              </a:rPr>
              <a:t>Aspectos Negativos:</a:t>
            </a:r>
            <a:r>
              <a:rPr lang="es-CO" sz="2100">
                <a:latin typeface="Arial"/>
                <a:ea typeface="Arial"/>
                <a:cs typeface="Arial"/>
                <a:sym typeface="Arial"/>
              </a:rPr>
              <a:t> Sobrecarga de tickets.</a:t>
            </a:r>
            <a:br>
              <a:rPr lang="es-CO" sz="2100">
                <a:latin typeface="Arial"/>
                <a:ea typeface="Arial"/>
                <a:cs typeface="Arial"/>
                <a:sym typeface="Arial"/>
              </a:rPr>
            </a:br>
            <a:endParaRPr sz="2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s-CO" sz="2100">
                <a:latin typeface="Arial"/>
                <a:ea typeface="Arial"/>
                <a:cs typeface="Arial"/>
                <a:sym typeface="Arial"/>
              </a:rPr>
              <a:t>Propuesta de Mejora:</a:t>
            </a:r>
            <a:r>
              <a:rPr lang="es-CO" sz="2100">
                <a:latin typeface="Arial"/>
                <a:ea typeface="Arial"/>
                <a:cs typeface="Arial"/>
                <a:sym typeface="Arial"/>
              </a:rPr>
              <a:t> Sistema de priorización y refuerzo temporal en picos críticos.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a8e20dd7aa_0_117"/>
          <p:cNvSpPr txBox="1"/>
          <p:nvPr>
            <p:ph type="title"/>
          </p:nvPr>
        </p:nvSpPr>
        <p:spPr>
          <a:xfrm>
            <a:off x="122396" y="28827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Lider de soporte fase 2</a:t>
            </a:r>
            <a:endParaRPr/>
          </a:p>
        </p:txBody>
      </p:sp>
      <p:sp>
        <p:nvSpPr>
          <p:cNvPr id="323" name="Google Shape;323;g3a8e20dd7aa_0_117"/>
          <p:cNvSpPr txBox="1"/>
          <p:nvPr>
            <p:ph idx="1" type="body"/>
          </p:nvPr>
        </p:nvSpPr>
        <p:spPr>
          <a:xfrm>
            <a:off x="477725" y="1230475"/>
            <a:ext cx="9613800" cy="54105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400"/>
              </a:spcBef>
              <a:spcAft>
                <a:spcPts val="0"/>
              </a:spcAft>
              <a:buClr>
                <a:schemeClr val="dk1"/>
              </a:buClr>
              <a:buSzPts val="275"/>
              <a:buFont typeface="Arial"/>
              <a:buNone/>
            </a:pPr>
            <a:r>
              <a:rPr b="1" lang="es-CO" sz="4868">
                <a:latin typeface="Arial"/>
                <a:ea typeface="Arial"/>
                <a:cs typeface="Arial"/>
                <a:sym typeface="Arial"/>
              </a:rPr>
              <a:t>Métricas</a:t>
            </a:r>
            <a:endParaRPr b="1" sz="4868">
              <a:latin typeface="Arial"/>
              <a:ea typeface="Arial"/>
              <a:cs typeface="Arial"/>
              <a:sym typeface="Arial"/>
            </a:endParaRPr>
          </a:p>
          <a:p>
            <a:pPr indent="-302708" lvl="0" marL="457200" rtl="0" algn="l">
              <a:lnSpc>
                <a:spcPct val="115000"/>
              </a:lnSpc>
              <a:spcBef>
                <a:spcPts val="1200"/>
              </a:spcBef>
              <a:spcAft>
                <a:spcPts val="0"/>
              </a:spcAft>
              <a:buClr>
                <a:schemeClr val="lt1"/>
              </a:buClr>
              <a:buSzPct val="100000"/>
              <a:buChar char="●"/>
            </a:pPr>
            <a:r>
              <a:rPr lang="es-CO" sz="4668">
                <a:latin typeface="Arial"/>
                <a:ea typeface="Arial"/>
                <a:cs typeface="Arial"/>
                <a:sym typeface="Arial"/>
              </a:rPr>
              <a:t>90% de tickets cerrados dentro del SLA.</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Satisfacción del usuario &gt; 85%.</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Documentación actualizada en 48 horas.</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95% de consultas resueltas con documentación.</a:t>
            </a:r>
            <a:br>
              <a:rPr lang="es-CO" sz="4668">
                <a:latin typeface="Arial"/>
                <a:ea typeface="Arial"/>
                <a:cs typeface="Arial"/>
                <a:sym typeface="Arial"/>
              </a:rPr>
            </a:br>
            <a:endParaRPr sz="46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4868">
                <a:latin typeface="Arial"/>
                <a:ea typeface="Arial"/>
                <a:cs typeface="Arial"/>
                <a:sym typeface="Arial"/>
              </a:rPr>
              <a:t>Aspectos positivos</a:t>
            </a:r>
            <a:endParaRPr b="1" sz="4868">
              <a:latin typeface="Arial"/>
              <a:ea typeface="Arial"/>
              <a:cs typeface="Arial"/>
              <a:sym typeface="Arial"/>
            </a:endParaRPr>
          </a:p>
          <a:p>
            <a:pPr indent="-302708" lvl="0" marL="457200" rtl="0" algn="l">
              <a:lnSpc>
                <a:spcPct val="115000"/>
              </a:lnSpc>
              <a:spcBef>
                <a:spcPts val="1200"/>
              </a:spcBef>
              <a:spcAft>
                <a:spcPts val="0"/>
              </a:spcAft>
              <a:buClr>
                <a:schemeClr val="lt1"/>
              </a:buClr>
              <a:buSzPct val="100000"/>
              <a:buChar char="●"/>
            </a:pPr>
            <a:r>
              <a:rPr lang="es-CO" sz="4668">
                <a:latin typeface="Arial"/>
                <a:ea typeface="Arial"/>
                <a:cs typeface="Arial"/>
                <a:sym typeface="Arial"/>
              </a:rPr>
              <a:t>Respuesta rápida a incidentes.</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Alta calidad de soporte y satisfacción del usuario.</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Excelente mantenimiento de documentación.</a:t>
            </a:r>
            <a:br>
              <a:rPr lang="es-CO" sz="4668">
                <a:latin typeface="Arial"/>
                <a:ea typeface="Arial"/>
                <a:cs typeface="Arial"/>
                <a:sym typeface="Arial"/>
              </a:rPr>
            </a:br>
            <a:endParaRPr sz="46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4868">
                <a:latin typeface="Arial"/>
                <a:ea typeface="Arial"/>
                <a:cs typeface="Arial"/>
                <a:sym typeface="Arial"/>
              </a:rPr>
              <a:t>Aspectos negativos</a:t>
            </a:r>
            <a:endParaRPr b="1" sz="4868">
              <a:latin typeface="Arial"/>
              <a:ea typeface="Arial"/>
              <a:cs typeface="Arial"/>
              <a:sym typeface="Arial"/>
            </a:endParaRPr>
          </a:p>
          <a:p>
            <a:pPr indent="-302708" lvl="0" marL="457200" rtl="0" algn="l">
              <a:lnSpc>
                <a:spcPct val="115000"/>
              </a:lnSpc>
              <a:spcBef>
                <a:spcPts val="1200"/>
              </a:spcBef>
              <a:spcAft>
                <a:spcPts val="0"/>
              </a:spcAft>
              <a:buClr>
                <a:schemeClr val="lt1"/>
              </a:buClr>
              <a:buSzPct val="100000"/>
              <a:buChar char="●"/>
            </a:pPr>
            <a:r>
              <a:rPr lang="es-CO" sz="4668">
                <a:latin typeface="Arial"/>
                <a:ea typeface="Arial"/>
                <a:cs typeface="Arial"/>
                <a:sym typeface="Arial"/>
              </a:rPr>
              <a:t>Algunos tickets pueden escalarse por falta de herramientas o acceso.</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Dependencia del mismo líder para resolver todo el soporte.</a:t>
            </a:r>
            <a:br>
              <a:rPr lang="es-CO" sz="4668">
                <a:latin typeface="Arial"/>
                <a:ea typeface="Arial"/>
                <a:cs typeface="Arial"/>
                <a:sym typeface="Arial"/>
              </a:rPr>
            </a:br>
            <a:endParaRPr sz="4668">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s-CO" sz="4868">
                <a:latin typeface="Arial"/>
                <a:ea typeface="Arial"/>
                <a:cs typeface="Arial"/>
                <a:sym typeface="Arial"/>
              </a:rPr>
              <a:t>Propuesta de mejora</a:t>
            </a:r>
            <a:endParaRPr b="1" sz="4868">
              <a:latin typeface="Arial"/>
              <a:ea typeface="Arial"/>
              <a:cs typeface="Arial"/>
              <a:sym typeface="Arial"/>
            </a:endParaRPr>
          </a:p>
          <a:p>
            <a:pPr indent="-302708" lvl="0" marL="457200" rtl="0" algn="l">
              <a:lnSpc>
                <a:spcPct val="115000"/>
              </a:lnSpc>
              <a:spcBef>
                <a:spcPts val="1200"/>
              </a:spcBef>
              <a:spcAft>
                <a:spcPts val="0"/>
              </a:spcAft>
              <a:buClr>
                <a:schemeClr val="lt1"/>
              </a:buClr>
              <a:buSzPct val="100000"/>
              <a:buChar char="●"/>
            </a:pPr>
            <a:r>
              <a:rPr lang="es-CO" sz="4668">
                <a:latin typeface="Arial"/>
                <a:ea typeface="Arial"/>
                <a:cs typeface="Arial"/>
                <a:sym typeface="Arial"/>
              </a:rPr>
              <a:t>Crear una base de conocimientos más automatizada.</a:t>
            </a:r>
            <a:br>
              <a:rPr lang="es-CO" sz="4668">
                <a:latin typeface="Arial"/>
                <a:ea typeface="Arial"/>
                <a:cs typeface="Arial"/>
                <a:sym typeface="Arial"/>
              </a:rPr>
            </a:br>
            <a:endParaRPr sz="4668">
              <a:latin typeface="Arial"/>
              <a:ea typeface="Arial"/>
              <a:cs typeface="Arial"/>
              <a:sym typeface="Arial"/>
            </a:endParaRPr>
          </a:p>
          <a:p>
            <a:pPr indent="-302708" lvl="0" marL="457200" rtl="0" algn="l">
              <a:lnSpc>
                <a:spcPct val="115000"/>
              </a:lnSpc>
              <a:spcBef>
                <a:spcPts val="0"/>
              </a:spcBef>
              <a:spcAft>
                <a:spcPts val="0"/>
              </a:spcAft>
              <a:buClr>
                <a:schemeClr val="lt1"/>
              </a:buClr>
              <a:buSzPct val="100000"/>
              <a:buChar char="●"/>
            </a:pPr>
            <a:r>
              <a:rPr lang="es-CO" sz="4668">
                <a:latin typeface="Arial"/>
                <a:ea typeface="Arial"/>
                <a:cs typeface="Arial"/>
                <a:sym typeface="Arial"/>
              </a:rPr>
              <a:t>Implementar plantillas de respuesta para incidentes comunes.</a:t>
            </a:r>
            <a:endParaRPr sz="4668">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a8e20dd7aa_0_123"/>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Comparación</a:t>
            </a:r>
            <a:r>
              <a:rPr lang="es-CO"/>
              <a:t> </a:t>
            </a:r>
            <a:r>
              <a:rPr lang="es-CO"/>
              <a:t>Líder</a:t>
            </a:r>
            <a:r>
              <a:rPr lang="es-CO"/>
              <a:t> de soporte fase 1 Vs Lider de soporte fase 2</a:t>
            </a:r>
            <a:endParaRPr/>
          </a:p>
        </p:txBody>
      </p:sp>
      <p:graphicFrame>
        <p:nvGraphicFramePr>
          <p:cNvPr id="329" name="Google Shape;329;g3a8e20dd7aa_0_123"/>
          <p:cNvGraphicFramePr/>
          <p:nvPr/>
        </p:nvGraphicFramePr>
        <p:xfrm>
          <a:off x="449875" y="2046950"/>
          <a:ext cx="3000000" cy="3000000"/>
        </p:xfrm>
        <a:graphic>
          <a:graphicData uri="http://schemas.openxmlformats.org/drawingml/2006/table">
            <a:tbl>
              <a:tblPr>
                <a:noFill/>
                <a:tableStyleId>{E60CDD4A-6C10-425E-A22F-08132309E51D}</a:tableStyleId>
              </a:tblPr>
              <a:tblGrid>
                <a:gridCol w="837750"/>
                <a:gridCol w="2837525"/>
                <a:gridCol w="3918500"/>
                <a:gridCol w="3864450"/>
              </a:tblGrid>
              <a:tr h="295975">
                <a:tc>
                  <a:txBody>
                    <a:bodyPr/>
                    <a:lstStyle/>
                    <a:p>
                      <a:pPr indent="0" lvl="0" marL="0" rtl="0" algn="ctr">
                        <a:lnSpc>
                          <a:spcPct val="115000"/>
                        </a:lnSpc>
                        <a:spcBef>
                          <a:spcPts val="0"/>
                        </a:spcBef>
                        <a:spcAft>
                          <a:spcPts val="0"/>
                        </a:spcAft>
                        <a:buNone/>
                      </a:pPr>
                      <a:r>
                        <a:rPr b="1" lang="es-CO" sz="1100">
                          <a:solidFill>
                            <a:schemeClr val="lt1"/>
                          </a:solidFill>
                        </a:rPr>
                        <a:t>Categoría</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1 – Líder de Soporte</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Fase 2 – Líder de Soporte</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Comparación / Evolución</a:t>
                      </a:r>
                      <a:endParaRPr b="1" sz="1100">
                        <a:solidFill>
                          <a:schemeClr val="lt1"/>
                        </a:solidFill>
                      </a:endParaRPr>
                    </a:p>
                  </a:txBody>
                  <a:tcPr marT="91425" marB="91425" marR="91425" marL="91425"/>
                </a:tc>
              </a:tr>
              <a:tr h="975575">
                <a:tc>
                  <a:txBody>
                    <a:bodyPr/>
                    <a:lstStyle/>
                    <a:p>
                      <a:pPr indent="0" lvl="0" marL="0" rtl="0" algn="l">
                        <a:spcBef>
                          <a:spcPts val="0"/>
                        </a:spcBef>
                        <a:spcAft>
                          <a:spcPts val="0"/>
                        </a:spcAft>
                        <a:buNone/>
                      </a:pPr>
                      <a:r>
                        <a:rPr b="1" lang="es-CO" sz="1100">
                          <a:solidFill>
                            <a:schemeClr val="lt1"/>
                          </a:solidFill>
                        </a:rPr>
                        <a:t>Métricas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Incumplimiento frecuente de tickets.• Satisfacción del usuario: 85%.• Actualización de scripts básica.• Documentación parcial.</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90% de tickets cerrados dentro del SLA.• Satisfacción del usuario &gt; 85%.• Documentación actualizada en máximo 48 horas.• 95% de consultas resueltas usando documentación.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Avance significativo: de incumplimiento de tickets → cumplimiento del SLA.✔ Documentación pasa de parcial → completa y actualizada.✔ Se formaliza el proceso con métricas claras.</a:t>
                      </a:r>
                      <a:endParaRPr>
                        <a:solidFill>
                          <a:schemeClr val="lt1"/>
                        </a:solidFill>
                      </a:endParaRPr>
                    </a:p>
                  </a:txBody>
                  <a:tcPr marT="91425" marB="91425" marR="91425" marL="91425"/>
                </a:tc>
              </a:tr>
              <a:tr h="643325">
                <a:tc>
                  <a:txBody>
                    <a:bodyPr/>
                    <a:lstStyle/>
                    <a:p>
                      <a:pPr indent="0" lvl="0" marL="0" rtl="0" algn="l">
                        <a:spcBef>
                          <a:spcPts val="0"/>
                        </a:spcBef>
                        <a:spcAft>
                          <a:spcPts val="0"/>
                        </a:spcAft>
                        <a:buNone/>
                      </a:pPr>
                      <a:r>
                        <a:rPr b="1" lang="es-CO" sz="1100">
                          <a:solidFill>
                            <a:schemeClr val="lt1"/>
                          </a:solidFill>
                        </a:rPr>
                        <a:t>Aspectos Positivos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Atención rápida.• Documentación actualizada de manera puntual.</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Respuesta rápida.• Alta calidad en el soporte y satisfacción del usuario.• Excelente mantenimiento de documentación.</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La rapidez se mantiene y se fortalece con calidad y consistencia.✔ Incremento notable en el uso y valor de la documentación.</a:t>
                      </a:r>
                      <a:endParaRPr>
                        <a:solidFill>
                          <a:schemeClr val="lt1"/>
                        </a:solidFill>
                      </a:endParaRPr>
                    </a:p>
                  </a:txBody>
                  <a:tcPr marT="91425" marB="91425" marR="91425" marL="91425"/>
                </a:tc>
              </a:tr>
              <a:tr h="975575">
                <a:tc>
                  <a:txBody>
                    <a:bodyPr/>
                    <a:lstStyle/>
                    <a:p>
                      <a:pPr indent="0" lvl="0" marL="0" rtl="0" algn="l">
                        <a:spcBef>
                          <a:spcPts val="0"/>
                        </a:spcBef>
                        <a:spcAft>
                          <a:spcPts val="0"/>
                        </a:spcAft>
                        <a:buNone/>
                      </a:pPr>
                      <a:r>
                        <a:rPr b="1" lang="es-CO" sz="1100">
                          <a:solidFill>
                            <a:schemeClr val="lt1"/>
                          </a:solidFill>
                        </a:rPr>
                        <a:t>Aspectos Negativos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Sobrecarga de tickets.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Algunos tickets escalan por falta de herramientas/acceso.• Mucha dependencia del líder para resolver todo.</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En Fase 1, el problema era volumen de trabajo.✔ En Fase 2, el problema es acceso y centralización del conocimiento.✔ Evolución de problemas operativos → problemas estructurales.</a:t>
                      </a:r>
                      <a:endParaRPr>
                        <a:solidFill>
                          <a:schemeClr val="lt1"/>
                        </a:solidFill>
                      </a:endParaRPr>
                    </a:p>
                  </a:txBody>
                  <a:tcPr marT="91425" marB="91425" marR="91425" marL="91425"/>
                </a:tc>
              </a:tr>
              <a:tr h="643325">
                <a:tc>
                  <a:txBody>
                    <a:bodyPr/>
                    <a:lstStyle/>
                    <a:p>
                      <a:pPr indent="0" lvl="0" marL="0" rtl="0" algn="l">
                        <a:spcBef>
                          <a:spcPts val="0"/>
                        </a:spcBef>
                        <a:spcAft>
                          <a:spcPts val="0"/>
                        </a:spcAft>
                        <a:buNone/>
                      </a:pPr>
                      <a:r>
                        <a:rPr b="1" lang="es-CO" sz="1100">
                          <a:solidFill>
                            <a:schemeClr val="lt1"/>
                          </a:solidFill>
                        </a:rPr>
                        <a:t>Propuesta de Mejora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Crear sistema de priorización.• Refuerzo temporal en picos críticos.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Base de conocimientos más automatizada.• Plantillas de respuesta para incidentes comunes.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 Las mejoras pasan de soluciones temporales → soluciones escalables y automatizadas.</a:t>
                      </a:r>
                      <a:endParaRPr>
                        <a:solidFill>
                          <a:schemeClr val="lt1"/>
                        </a:solidFill>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a8e20dd7aa_0_128"/>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Planeación</a:t>
            </a:r>
            <a:r>
              <a:rPr lang="es-CO"/>
              <a:t> y Seguimiento Semanal</a:t>
            </a:r>
            <a:endParaRPr/>
          </a:p>
        </p:txBody>
      </p:sp>
      <p:sp>
        <p:nvSpPr>
          <p:cNvPr id="335" name="Google Shape;335;g3a8e20dd7aa_0_128"/>
          <p:cNvSpPr txBox="1"/>
          <p:nvPr>
            <p:ph idx="1" type="body"/>
          </p:nvPr>
        </p:nvSpPr>
        <p:spPr>
          <a:xfrm>
            <a:off x="742971" y="2289898"/>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CO"/>
              <a:t>Grafica de rendimiento: Fase Iniciación y Estrategia fase 1</a:t>
            </a:r>
            <a:endParaRPr/>
          </a:p>
          <a:p>
            <a:pPr indent="0" lvl="0" marL="0" rtl="0" algn="l">
              <a:spcBef>
                <a:spcPts val="1000"/>
              </a:spcBef>
              <a:spcAft>
                <a:spcPts val="0"/>
              </a:spcAft>
              <a:buNone/>
            </a:pPr>
            <a:r>
              <a:t/>
            </a:r>
            <a:endParaRPr/>
          </a:p>
        </p:txBody>
      </p:sp>
      <p:pic>
        <p:nvPicPr>
          <p:cNvPr id="336" name="Google Shape;336;g3a8e20dd7aa_0_128"/>
          <p:cNvPicPr preferRelativeResize="0"/>
          <p:nvPr/>
        </p:nvPicPr>
        <p:blipFill>
          <a:blip r:embed="rId3">
            <a:alphaModFix/>
          </a:blip>
          <a:stretch>
            <a:fillRect/>
          </a:stretch>
        </p:blipFill>
        <p:spPr>
          <a:xfrm>
            <a:off x="742975" y="2846925"/>
            <a:ext cx="5151500" cy="3168675"/>
          </a:xfrm>
          <a:prstGeom prst="rect">
            <a:avLst/>
          </a:prstGeom>
          <a:noFill/>
          <a:ln>
            <a:noFill/>
          </a:ln>
        </p:spPr>
      </p:pic>
      <p:pic>
        <p:nvPicPr>
          <p:cNvPr id="337" name="Google Shape;337;g3a8e20dd7aa_0_128"/>
          <p:cNvPicPr preferRelativeResize="0"/>
          <p:nvPr/>
        </p:nvPicPr>
        <p:blipFill>
          <a:blip r:embed="rId4">
            <a:alphaModFix/>
          </a:blip>
          <a:stretch>
            <a:fillRect/>
          </a:stretch>
        </p:blipFill>
        <p:spPr>
          <a:xfrm>
            <a:off x="6247900" y="2913400"/>
            <a:ext cx="5736634" cy="3168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a8e20dd7aa_0_136"/>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CO"/>
              <a:t>Grafica de rendimiento: Fase Iniciación/Estrategia</a:t>
            </a:r>
            <a:endParaRPr/>
          </a:p>
        </p:txBody>
      </p:sp>
      <p:pic>
        <p:nvPicPr>
          <p:cNvPr id="343" name="Google Shape;343;g3a8e20dd7aa_0_136"/>
          <p:cNvPicPr preferRelativeResize="0"/>
          <p:nvPr/>
        </p:nvPicPr>
        <p:blipFill>
          <a:blip r:embed="rId3">
            <a:alphaModFix/>
          </a:blip>
          <a:stretch>
            <a:fillRect/>
          </a:stretch>
        </p:blipFill>
        <p:spPr>
          <a:xfrm>
            <a:off x="2586925" y="2867275"/>
            <a:ext cx="5800600" cy="3489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a8e20dd7aa_0_145"/>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Fase Requerimientos-LE,LD fase 1 y Fase de Planeación-LE,LD</a:t>
            </a:r>
            <a:endParaRPr/>
          </a:p>
        </p:txBody>
      </p:sp>
      <p:pic>
        <p:nvPicPr>
          <p:cNvPr id="349" name="Google Shape;349;g3a8e20dd7aa_0_145"/>
          <p:cNvPicPr preferRelativeResize="0"/>
          <p:nvPr/>
        </p:nvPicPr>
        <p:blipFill>
          <a:blip r:embed="rId3">
            <a:alphaModFix/>
          </a:blip>
          <a:stretch>
            <a:fillRect/>
          </a:stretch>
        </p:blipFill>
        <p:spPr>
          <a:xfrm>
            <a:off x="98100" y="2555925"/>
            <a:ext cx="5964500" cy="3585050"/>
          </a:xfrm>
          <a:prstGeom prst="rect">
            <a:avLst/>
          </a:prstGeom>
          <a:noFill/>
          <a:ln>
            <a:noFill/>
          </a:ln>
        </p:spPr>
      </p:pic>
      <p:pic>
        <p:nvPicPr>
          <p:cNvPr id="350" name="Google Shape;350;g3a8e20dd7aa_0_145"/>
          <p:cNvPicPr preferRelativeResize="0"/>
          <p:nvPr/>
        </p:nvPicPr>
        <p:blipFill>
          <a:blip r:embed="rId4">
            <a:alphaModFix/>
          </a:blip>
          <a:stretch>
            <a:fillRect/>
          </a:stretch>
        </p:blipFill>
        <p:spPr>
          <a:xfrm>
            <a:off x="6426275" y="2555925"/>
            <a:ext cx="5240175" cy="3585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a8e20dd7aa_0_152"/>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Requerimiento/</a:t>
            </a:r>
            <a:r>
              <a:rPr lang="es-CO"/>
              <a:t>Planeación fase 2</a:t>
            </a:r>
            <a:endParaRPr/>
          </a:p>
        </p:txBody>
      </p:sp>
      <p:pic>
        <p:nvPicPr>
          <p:cNvPr id="356" name="Google Shape;356;g3a8e20dd7aa_0_152"/>
          <p:cNvPicPr preferRelativeResize="0"/>
          <p:nvPr/>
        </p:nvPicPr>
        <p:blipFill>
          <a:blip r:embed="rId3">
            <a:alphaModFix/>
          </a:blip>
          <a:stretch>
            <a:fillRect/>
          </a:stretch>
        </p:blipFill>
        <p:spPr>
          <a:xfrm>
            <a:off x="1463200" y="2131775"/>
            <a:ext cx="7120250" cy="4282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a8e20dd7aa_0_159"/>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Fase de diseño-LE,LD fase 1</a:t>
            </a:r>
            <a:endParaRPr/>
          </a:p>
        </p:txBody>
      </p:sp>
      <p:pic>
        <p:nvPicPr>
          <p:cNvPr id="362" name="Google Shape;362;g3a8e20dd7aa_0_159"/>
          <p:cNvPicPr preferRelativeResize="0"/>
          <p:nvPr/>
        </p:nvPicPr>
        <p:blipFill>
          <a:blip r:embed="rId3">
            <a:alphaModFix/>
          </a:blip>
          <a:stretch>
            <a:fillRect/>
          </a:stretch>
        </p:blipFill>
        <p:spPr>
          <a:xfrm>
            <a:off x="1887275" y="2237600"/>
            <a:ext cx="7233475" cy="4374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a8e20dd7aa_0_165"/>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de Diseño fase 2</a:t>
            </a:r>
            <a:endParaRPr/>
          </a:p>
        </p:txBody>
      </p:sp>
      <p:pic>
        <p:nvPicPr>
          <p:cNvPr id="368" name="Google Shape;368;g3a8e20dd7aa_0_165"/>
          <p:cNvPicPr preferRelativeResize="0"/>
          <p:nvPr/>
        </p:nvPicPr>
        <p:blipFill>
          <a:blip r:embed="rId3">
            <a:alphaModFix/>
          </a:blip>
          <a:stretch>
            <a:fillRect/>
          </a:stretch>
        </p:blipFill>
        <p:spPr>
          <a:xfrm>
            <a:off x="825675" y="2258125"/>
            <a:ext cx="6755700" cy="4076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a8e20dd7aa_0_172"/>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Fase </a:t>
            </a:r>
            <a:r>
              <a:rPr lang="es-CO"/>
              <a:t>Implementación</a:t>
            </a:r>
            <a:r>
              <a:rPr lang="es-CO"/>
              <a:t>-LE y Fase Pruebas-LE</a:t>
            </a:r>
            <a:endParaRPr/>
          </a:p>
        </p:txBody>
      </p:sp>
      <p:pic>
        <p:nvPicPr>
          <p:cNvPr id="374" name="Google Shape;374;g3a8e20dd7aa_0_172"/>
          <p:cNvPicPr preferRelativeResize="0"/>
          <p:nvPr/>
        </p:nvPicPr>
        <p:blipFill>
          <a:blip r:embed="rId3">
            <a:alphaModFix/>
          </a:blip>
          <a:stretch>
            <a:fillRect/>
          </a:stretch>
        </p:blipFill>
        <p:spPr>
          <a:xfrm>
            <a:off x="304550" y="2420175"/>
            <a:ext cx="5147400" cy="3505400"/>
          </a:xfrm>
          <a:prstGeom prst="rect">
            <a:avLst/>
          </a:prstGeom>
          <a:noFill/>
          <a:ln>
            <a:noFill/>
          </a:ln>
        </p:spPr>
      </p:pic>
      <p:pic>
        <p:nvPicPr>
          <p:cNvPr id="375" name="Google Shape;375;g3a8e20dd7aa_0_172"/>
          <p:cNvPicPr preferRelativeResize="0"/>
          <p:nvPr/>
        </p:nvPicPr>
        <p:blipFill>
          <a:blip r:embed="rId4">
            <a:alphaModFix/>
          </a:blip>
          <a:stretch>
            <a:fillRect/>
          </a:stretch>
        </p:blipFill>
        <p:spPr>
          <a:xfrm>
            <a:off x="5794850" y="2420175"/>
            <a:ext cx="5851900" cy="35054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a8e20dd7aa_0_179"/>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a:t>
            </a:r>
            <a:r>
              <a:rPr lang="es-CO"/>
              <a:t>Implementación</a:t>
            </a:r>
            <a:r>
              <a:rPr lang="es-CO"/>
              <a:t>/Pruebas fase 2</a:t>
            </a:r>
            <a:endParaRPr/>
          </a:p>
        </p:txBody>
      </p:sp>
      <p:pic>
        <p:nvPicPr>
          <p:cNvPr id="381" name="Google Shape;381;g3a8e20dd7aa_0_179"/>
          <p:cNvPicPr preferRelativeResize="0"/>
          <p:nvPr/>
        </p:nvPicPr>
        <p:blipFill>
          <a:blip r:embed="rId3">
            <a:alphaModFix/>
          </a:blip>
          <a:stretch>
            <a:fillRect/>
          </a:stretch>
        </p:blipFill>
        <p:spPr>
          <a:xfrm>
            <a:off x="1232775" y="2057175"/>
            <a:ext cx="7162775" cy="4316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a8e20dd7aa_0_18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Postmortem fase 1</a:t>
            </a:r>
            <a:endParaRPr/>
          </a:p>
        </p:txBody>
      </p:sp>
      <p:pic>
        <p:nvPicPr>
          <p:cNvPr id="387" name="Google Shape;387;g3a8e20dd7aa_0_186"/>
          <p:cNvPicPr preferRelativeResize="0"/>
          <p:nvPr/>
        </p:nvPicPr>
        <p:blipFill>
          <a:blip r:embed="rId3">
            <a:alphaModFix/>
          </a:blip>
          <a:stretch>
            <a:fillRect/>
          </a:stretch>
        </p:blipFill>
        <p:spPr>
          <a:xfrm>
            <a:off x="2179325" y="2336875"/>
            <a:ext cx="6755450" cy="4053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a8e20dd7aa_0_192"/>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Postmortem fase 2</a:t>
            </a:r>
            <a:endParaRPr/>
          </a:p>
        </p:txBody>
      </p:sp>
      <p:pic>
        <p:nvPicPr>
          <p:cNvPr id="393" name="Google Shape;393;g3a8e20dd7aa_0_192"/>
          <p:cNvPicPr preferRelativeResize="0"/>
          <p:nvPr/>
        </p:nvPicPr>
        <p:blipFill>
          <a:blip r:embed="rId3">
            <a:alphaModFix/>
          </a:blip>
          <a:stretch>
            <a:fillRect/>
          </a:stretch>
        </p:blipFill>
        <p:spPr>
          <a:xfrm>
            <a:off x="1577225" y="2167000"/>
            <a:ext cx="7027875" cy="4231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a8e20dd7aa_0_199"/>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600"/>
              <a:buFont typeface="Trebuchet MS"/>
              <a:buNone/>
            </a:pPr>
            <a:r>
              <a:rPr lang="es-CO"/>
              <a:t>Cantidad de actividad hechas por cada integrante en cada fase en fase 1 y fase 2</a:t>
            </a:r>
            <a:endParaRPr/>
          </a:p>
        </p:txBody>
      </p:sp>
      <p:sp>
        <p:nvSpPr>
          <p:cNvPr id="399" name="Google Shape;399;g3a8e20dd7aa_0_199"/>
          <p:cNvSpPr txBox="1"/>
          <p:nvPr>
            <p:ph idx="1" type="body"/>
          </p:nvPr>
        </p:nvSpPr>
        <p:spPr>
          <a:xfrm>
            <a:off x="680321" y="2336873"/>
            <a:ext cx="9613800" cy="3599400"/>
          </a:xfrm>
          <a:prstGeom prst="rect">
            <a:avLst/>
          </a:prstGeom>
        </p:spPr>
        <p:txBody>
          <a:bodyPr anchorCtr="0" anchor="t" bIns="45700" lIns="91425" spcFirstLastPara="1" rIns="91425" wrap="square" tIns="45700">
            <a:normAutofit fontScale="85000" lnSpcReduction="20000"/>
          </a:bodyPr>
          <a:lstStyle/>
          <a:p>
            <a:pPr indent="0" lvl="0" marL="0" rtl="0" algn="l">
              <a:lnSpc>
                <a:spcPct val="200000"/>
              </a:lnSpc>
              <a:spcBef>
                <a:spcPts val="0"/>
              </a:spcBef>
              <a:spcAft>
                <a:spcPts val="0"/>
              </a:spcAft>
              <a:buClr>
                <a:schemeClr val="dk1"/>
              </a:buClr>
              <a:buSzPct val="50000"/>
              <a:buFont typeface="Arial"/>
              <a:buNone/>
            </a:pPr>
            <a:r>
              <a:rPr lang="es-CO" sz="2200">
                <a:latin typeface="Times New Roman"/>
                <a:ea typeface="Times New Roman"/>
                <a:cs typeface="Times New Roman"/>
                <a:sym typeface="Times New Roman"/>
              </a:rPr>
              <a:t>Fase Iniciacion:</a:t>
            </a:r>
            <a:endParaRPr sz="220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ct val="55000"/>
              <a:buFont typeface="Arial"/>
              <a:buNone/>
            </a:pPr>
            <a:r>
              <a:rPr lang="es-CO" sz="2000">
                <a:latin typeface="Times New Roman"/>
                <a:ea typeface="Times New Roman"/>
                <a:cs typeface="Times New Roman"/>
                <a:sym typeface="Times New Roman"/>
              </a:rPr>
              <a:t>Trabajos realizado por el LE: 35 actividades</a:t>
            </a:r>
            <a:r>
              <a:rPr lang="es-CO" sz="2200">
                <a:latin typeface="Times New Roman"/>
                <a:ea typeface="Times New Roman"/>
                <a:cs typeface="Times New Roman"/>
                <a:sym typeface="Times New Roman"/>
              </a:rPr>
              <a:t> </a:t>
            </a:r>
            <a:endParaRPr sz="220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ct val="50000"/>
              <a:buFont typeface="Arial"/>
              <a:buNone/>
            </a:pPr>
            <a:r>
              <a:rPr lang="es-CO" sz="2200">
                <a:latin typeface="Times New Roman"/>
                <a:ea typeface="Times New Roman"/>
                <a:cs typeface="Times New Roman"/>
                <a:sym typeface="Times New Roman"/>
              </a:rPr>
              <a:t>Fase Estrategia:</a:t>
            </a:r>
            <a:endParaRPr sz="220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ct val="55000"/>
              <a:buFont typeface="Arial"/>
              <a:buNone/>
            </a:pPr>
            <a:r>
              <a:rPr lang="es-CO" sz="2000">
                <a:latin typeface="Times New Roman"/>
                <a:ea typeface="Times New Roman"/>
                <a:cs typeface="Times New Roman"/>
                <a:sym typeface="Times New Roman"/>
              </a:rPr>
              <a:t>Trabajo realizado por el LE: 33 actividades</a:t>
            </a:r>
            <a:endParaRPr sz="200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ct val="55000"/>
              <a:buFont typeface="Arial"/>
              <a:buNone/>
            </a:pPr>
            <a:r>
              <a:rPr lang="es-CO" sz="2000">
                <a:latin typeface="Times New Roman"/>
                <a:ea typeface="Times New Roman"/>
                <a:cs typeface="Times New Roman"/>
                <a:sym typeface="Times New Roman"/>
              </a:rPr>
              <a:t>Trabajo realizado por el LD: 16 actividades</a:t>
            </a:r>
            <a:endParaRPr sz="2000">
              <a:latin typeface="Times New Roman"/>
              <a:ea typeface="Times New Roman"/>
              <a:cs typeface="Times New Roman"/>
              <a:sym typeface="Times New Roman"/>
            </a:endParaRPr>
          </a:p>
          <a:p>
            <a:pPr indent="0" lvl="0" marL="0" rtl="0" algn="l">
              <a:spcBef>
                <a:spcPts val="1200"/>
              </a:spcBef>
              <a:spcAft>
                <a:spcPts val="0"/>
              </a:spcAft>
              <a:buClr>
                <a:schemeClr val="lt1"/>
              </a:buClr>
              <a:buSzPct val="150000"/>
              <a:buFont typeface="Trebuchet MS"/>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a8e20dd7aa_0_204"/>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2</a:t>
            </a:r>
            <a:endParaRPr/>
          </a:p>
        </p:txBody>
      </p:sp>
      <p:sp>
        <p:nvSpPr>
          <p:cNvPr id="405" name="Google Shape;405;g3a8e20dd7aa_0_204"/>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CO"/>
              <a:t>Fase Iniciación/Estrategia</a:t>
            </a:r>
            <a:endParaRPr/>
          </a:p>
          <a:p>
            <a:pPr indent="0" lvl="0" marL="0" rtl="0" algn="l">
              <a:spcBef>
                <a:spcPts val="1000"/>
              </a:spcBef>
              <a:spcAft>
                <a:spcPts val="0"/>
              </a:spcAft>
              <a:buClr>
                <a:schemeClr val="dk1"/>
              </a:buClr>
              <a:buSzPts val="1100"/>
              <a:buFont typeface="Arial"/>
              <a:buNone/>
            </a:pPr>
            <a:r>
              <a:rPr lang="es-CO"/>
              <a:t>Trabajos Realizados:72 actividades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a8e20dd7aa_0_21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1 Requerimientos y </a:t>
            </a:r>
            <a:r>
              <a:rPr lang="es-CO"/>
              <a:t>Planeación</a:t>
            </a:r>
            <a:endParaRPr/>
          </a:p>
        </p:txBody>
      </p:sp>
      <p:sp>
        <p:nvSpPr>
          <p:cNvPr id="411" name="Google Shape;411;g3a8e20dd7aa_0_211"/>
          <p:cNvSpPr txBox="1"/>
          <p:nvPr>
            <p:ph idx="1" type="body"/>
          </p:nvPr>
        </p:nvSpPr>
        <p:spPr>
          <a:xfrm>
            <a:off x="680321" y="2336873"/>
            <a:ext cx="9613800" cy="3599400"/>
          </a:xfrm>
          <a:prstGeom prst="rect">
            <a:avLst/>
          </a:prstGeom>
        </p:spPr>
        <p:txBody>
          <a:bodyPr anchorCtr="0" anchor="t" bIns="45700" lIns="91425" spcFirstLastPara="1" rIns="91425" wrap="square" tIns="45700">
            <a:normAutofit fontScale="25000" lnSpcReduction="20000"/>
          </a:bodyPr>
          <a:lstStyle/>
          <a:p>
            <a:pPr indent="0" lvl="0" marL="0" rtl="0" algn="l">
              <a:lnSpc>
                <a:spcPct val="200000"/>
              </a:lnSpc>
              <a:spcBef>
                <a:spcPts val="0"/>
              </a:spcBef>
              <a:spcAft>
                <a:spcPts val="0"/>
              </a:spcAft>
              <a:buClr>
                <a:schemeClr val="dk1"/>
              </a:buClr>
              <a:buSzPts val="275"/>
              <a:buFont typeface="Arial"/>
              <a:buNone/>
            </a:pPr>
            <a:r>
              <a:rPr lang="es-CO" sz="6928">
                <a:latin typeface="Times New Roman"/>
                <a:ea typeface="Times New Roman"/>
                <a:cs typeface="Times New Roman"/>
                <a:sym typeface="Times New Roman"/>
              </a:rPr>
              <a:t>Fase Requerimientos:</a:t>
            </a:r>
            <a:endParaRPr sz="6928">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275"/>
              <a:buFont typeface="Arial"/>
              <a:buNone/>
            </a:pPr>
            <a:r>
              <a:rPr lang="es-CO" sz="6728">
                <a:latin typeface="Times New Roman"/>
                <a:ea typeface="Times New Roman"/>
                <a:cs typeface="Times New Roman"/>
                <a:sym typeface="Times New Roman"/>
              </a:rPr>
              <a:t>Trabajo realizado por el LE: 8 actividades</a:t>
            </a:r>
            <a:endParaRPr sz="6728">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275"/>
              <a:buFont typeface="Arial"/>
              <a:buNone/>
            </a:pPr>
            <a:r>
              <a:rPr lang="es-CO" sz="6728">
                <a:latin typeface="Times New Roman"/>
                <a:ea typeface="Times New Roman"/>
                <a:cs typeface="Times New Roman"/>
                <a:sym typeface="Times New Roman"/>
              </a:rPr>
              <a:t>Trabajo realizado por el LD: 9 actividades</a:t>
            </a:r>
            <a:endParaRPr sz="6728">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275"/>
              <a:buFont typeface="Arial"/>
              <a:buNone/>
            </a:pPr>
            <a:r>
              <a:rPr lang="es-CO" sz="6928">
                <a:latin typeface="Times New Roman"/>
                <a:ea typeface="Times New Roman"/>
                <a:cs typeface="Times New Roman"/>
                <a:sym typeface="Times New Roman"/>
              </a:rPr>
              <a:t>Fase </a:t>
            </a:r>
            <a:r>
              <a:rPr lang="es-CO" sz="6928">
                <a:latin typeface="Times New Roman"/>
                <a:ea typeface="Times New Roman"/>
                <a:cs typeface="Times New Roman"/>
                <a:sym typeface="Times New Roman"/>
              </a:rPr>
              <a:t>Planeación</a:t>
            </a:r>
            <a:r>
              <a:rPr lang="es-CO" sz="6928">
                <a:latin typeface="Times New Roman"/>
                <a:ea typeface="Times New Roman"/>
                <a:cs typeface="Times New Roman"/>
                <a:sym typeface="Times New Roman"/>
              </a:rPr>
              <a:t>:</a:t>
            </a:r>
            <a:endParaRPr sz="6928">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275"/>
              <a:buFont typeface="Arial"/>
              <a:buNone/>
            </a:pPr>
            <a:r>
              <a:rPr lang="es-CO" sz="6728">
                <a:latin typeface="Times New Roman"/>
                <a:ea typeface="Times New Roman"/>
                <a:cs typeface="Times New Roman"/>
                <a:sym typeface="Times New Roman"/>
              </a:rPr>
              <a:t>Trabajo realizado por el LE: 6 actividades</a:t>
            </a:r>
            <a:endParaRPr sz="6728">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275"/>
              <a:buFont typeface="Arial"/>
              <a:buNone/>
            </a:pPr>
            <a:r>
              <a:rPr lang="es-CO" sz="6728">
                <a:latin typeface="Times New Roman"/>
                <a:ea typeface="Times New Roman"/>
                <a:cs typeface="Times New Roman"/>
                <a:sym typeface="Times New Roman"/>
              </a:rPr>
              <a:t>Trabajo realizado por el LD: 5 actividades</a:t>
            </a:r>
            <a:endParaRPr sz="6728">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a8e20dd7aa_0_21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2 Requerimientos/</a:t>
            </a:r>
            <a:r>
              <a:rPr lang="es-CO"/>
              <a:t>Planeación</a:t>
            </a:r>
            <a:endParaRPr/>
          </a:p>
        </p:txBody>
      </p:sp>
      <p:sp>
        <p:nvSpPr>
          <p:cNvPr id="417" name="Google Shape;417;g3a8e20dd7aa_0_216"/>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Fase Requerimientos/</a:t>
            </a:r>
            <a:r>
              <a:rPr lang="es-CO"/>
              <a:t>Planeación</a:t>
            </a:r>
            <a:endParaRPr/>
          </a:p>
          <a:p>
            <a:pPr indent="0" lvl="0" marL="0" rtl="0" algn="l">
              <a:spcBef>
                <a:spcPts val="1000"/>
              </a:spcBef>
              <a:spcAft>
                <a:spcPts val="0"/>
              </a:spcAft>
              <a:buNone/>
            </a:pPr>
            <a:r>
              <a:rPr lang="es-CO"/>
              <a:t>Trabajos Realizados:19 Actividades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a8e20dd7aa_0_22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1 Diseño</a:t>
            </a:r>
            <a:endParaRPr/>
          </a:p>
        </p:txBody>
      </p:sp>
      <p:sp>
        <p:nvSpPr>
          <p:cNvPr id="423" name="Google Shape;423;g3a8e20dd7aa_0_221"/>
          <p:cNvSpPr txBox="1"/>
          <p:nvPr>
            <p:ph idx="1" type="body"/>
          </p:nvPr>
        </p:nvSpPr>
        <p:spPr>
          <a:xfrm>
            <a:off x="680321" y="2336873"/>
            <a:ext cx="9613800" cy="3599400"/>
          </a:xfrm>
          <a:prstGeom prst="rect">
            <a:avLst/>
          </a:prstGeom>
        </p:spPr>
        <p:txBody>
          <a:bodyPr anchorCtr="0" anchor="t" bIns="45700" lIns="91425" spcFirstLastPara="1" rIns="91425" wrap="square" tIns="45700">
            <a:normAutofit fontScale="40000" lnSpcReduction="10000"/>
          </a:bodyPr>
          <a:lstStyle/>
          <a:p>
            <a:pPr indent="0" lvl="0" marL="0" rtl="0" algn="l">
              <a:lnSpc>
                <a:spcPct val="200000"/>
              </a:lnSpc>
              <a:spcBef>
                <a:spcPts val="0"/>
              </a:spcBef>
              <a:spcAft>
                <a:spcPts val="0"/>
              </a:spcAft>
              <a:buClr>
                <a:schemeClr val="dk1"/>
              </a:buClr>
              <a:buSzPts val="440"/>
              <a:buFont typeface="Arial"/>
              <a:buNone/>
            </a:pPr>
            <a:r>
              <a:rPr lang="es-CO" sz="8273">
                <a:latin typeface="Times New Roman"/>
                <a:ea typeface="Times New Roman"/>
                <a:cs typeface="Times New Roman"/>
                <a:sym typeface="Times New Roman"/>
              </a:rPr>
              <a:t>Fase Diseño:</a:t>
            </a:r>
            <a:endParaRPr sz="8273">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440"/>
              <a:buFont typeface="Arial"/>
              <a:buNone/>
            </a:pPr>
            <a:r>
              <a:rPr lang="es-CO" sz="8073">
                <a:latin typeface="Times New Roman"/>
                <a:ea typeface="Times New Roman"/>
                <a:cs typeface="Times New Roman"/>
                <a:sym typeface="Times New Roman"/>
              </a:rPr>
              <a:t>Trabajo realizado por el LE: 9 actividades</a:t>
            </a:r>
            <a:endParaRPr sz="8073">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440"/>
              <a:buFont typeface="Arial"/>
              <a:buNone/>
            </a:pPr>
            <a:r>
              <a:rPr lang="es-CO" sz="8073">
                <a:latin typeface="Times New Roman"/>
                <a:ea typeface="Times New Roman"/>
                <a:cs typeface="Times New Roman"/>
                <a:sym typeface="Times New Roman"/>
              </a:rPr>
              <a:t>Trabajo realizado por el LD: 14 actividades</a:t>
            </a:r>
            <a:endParaRPr sz="8073">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a8e20dd7aa_0_22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2 Diseño</a:t>
            </a:r>
            <a:endParaRPr/>
          </a:p>
        </p:txBody>
      </p:sp>
      <p:sp>
        <p:nvSpPr>
          <p:cNvPr id="429" name="Google Shape;429;g3a8e20dd7aa_0_226"/>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Trabajo Realizado:19 Actividades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3a8e20dd7aa_0_23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a:t>
            </a:r>
            <a:r>
              <a:rPr lang="es-CO"/>
              <a:t>Implementación</a:t>
            </a:r>
            <a:r>
              <a:rPr lang="es-CO"/>
              <a:t> y Pruebas fase 1</a:t>
            </a:r>
            <a:endParaRPr/>
          </a:p>
        </p:txBody>
      </p:sp>
      <p:sp>
        <p:nvSpPr>
          <p:cNvPr id="435" name="Google Shape;435;g3a8e20dd7aa_0_231"/>
          <p:cNvSpPr txBox="1"/>
          <p:nvPr>
            <p:ph idx="1" type="body"/>
          </p:nvPr>
        </p:nvSpPr>
        <p:spPr>
          <a:xfrm>
            <a:off x="680321" y="2336873"/>
            <a:ext cx="9613800" cy="3599400"/>
          </a:xfrm>
          <a:prstGeom prst="rect">
            <a:avLst/>
          </a:prstGeom>
        </p:spPr>
        <p:txBody>
          <a:bodyPr anchorCtr="0" anchor="t" bIns="45700" lIns="91425" spcFirstLastPara="1" rIns="91425" wrap="square" tIns="45700">
            <a:normAutofit fontScale="40000" lnSpcReduction="20000"/>
          </a:bodyPr>
          <a:lstStyle/>
          <a:p>
            <a:pPr indent="0" lvl="0" marL="0" rtl="0" algn="l">
              <a:lnSpc>
                <a:spcPct val="200000"/>
              </a:lnSpc>
              <a:spcBef>
                <a:spcPts val="0"/>
              </a:spcBef>
              <a:spcAft>
                <a:spcPts val="0"/>
              </a:spcAft>
              <a:buClr>
                <a:schemeClr val="dk1"/>
              </a:buClr>
              <a:buSzPts val="440"/>
              <a:buFont typeface="Arial"/>
              <a:buNone/>
            </a:pPr>
            <a:r>
              <a:rPr lang="es-CO" sz="6150">
                <a:latin typeface="Times New Roman"/>
                <a:ea typeface="Times New Roman"/>
                <a:cs typeface="Times New Roman"/>
                <a:sym typeface="Times New Roman"/>
              </a:rPr>
              <a:t>Fase Implementación:</a:t>
            </a:r>
            <a:endParaRPr sz="615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440"/>
              <a:buFont typeface="Arial"/>
              <a:buNone/>
            </a:pPr>
            <a:r>
              <a:rPr lang="es-CO" sz="6150">
                <a:latin typeface="Times New Roman"/>
                <a:ea typeface="Times New Roman"/>
                <a:cs typeface="Times New Roman"/>
                <a:sym typeface="Times New Roman"/>
              </a:rPr>
              <a:t>Trabajo realizado por el LE: 15 actividades</a:t>
            </a:r>
            <a:endParaRPr sz="615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440"/>
              <a:buFont typeface="Arial"/>
              <a:buNone/>
            </a:pPr>
            <a:r>
              <a:rPr lang="es-CO" sz="6400">
                <a:latin typeface="Times New Roman"/>
                <a:ea typeface="Times New Roman"/>
                <a:cs typeface="Times New Roman"/>
                <a:sym typeface="Times New Roman"/>
              </a:rPr>
              <a:t>Fase Pruebas:</a:t>
            </a:r>
            <a:endParaRPr sz="640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440"/>
              <a:buFont typeface="Arial"/>
              <a:buNone/>
            </a:pPr>
            <a:r>
              <a:rPr lang="es-CO" sz="6200">
                <a:latin typeface="Times New Roman"/>
                <a:ea typeface="Times New Roman"/>
                <a:cs typeface="Times New Roman"/>
                <a:sym typeface="Times New Roman"/>
              </a:rPr>
              <a:t>Trabajo realizado por el LE: 20 actividades</a:t>
            </a:r>
            <a:endParaRPr sz="6200">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a8e20dd7aa_0_23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a:t>
            </a:r>
            <a:r>
              <a:rPr lang="es-CO"/>
              <a:t>Implementación</a:t>
            </a:r>
            <a:r>
              <a:rPr lang="es-CO"/>
              <a:t>/Pruebas</a:t>
            </a:r>
            <a:endParaRPr/>
          </a:p>
        </p:txBody>
      </p:sp>
      <p:sp>
        <p:nvSpPr>
          <p:cNvPr id="441" name="Google Shape;441;g3a8e20dd7aa_0_236"/>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Trabajos Realizado:46 </a:t>
            </a:r>
            <a:r>
              <a:rPr lang="es-CO"/>
              <a:t>Actividades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3a8e20dd7aa_0_24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Postmortem fase 1</a:t>
            </a:r>
            <a:endParaRPr/>
          </a:p>
        </p:txBody>
      </p:sp>
      <p:sp>
        <p:nvSpPr>
          <p:cNvPr id="447" name="Google Shape;447;g3a8e20dd7aa_0_241"/>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lnSpc>
                <a:spcPct val="200000"/>
              </a:lnSpc>
              <a:spcBef>
                <a:spcPts val="0"/>
              </a:spcBef>
              <a:spcAft>
                <a:spcPts val="0"/>
              </a:spcAft>
              <a:buClr>
                <a:schemeClr val="dk1"/>
              </a:buClr>
              <a:buSzPts val="1100"/>
              <a:buFont typeface="Arial"/>
              <a:buNone/>
            </a:pPr>
            <a:r>
              <a:rPr lang="es-CO" sz="2550">
                <a:latin typeface="Times New Roman"/>
                <a:ea typeface="Times New Roman"/>
                <a:cs typeface="Times New Roman"/>
                <a:sym typeface="Times New Roman"/>
              </a:rPr>
              <a:t>Fase Postmortem:</a:t>
            </a:r>
            <a:endParaRPr sz="255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1100"/>
              <a:buFont typeface="Arial"/>
              <a:buNone/>
            </a:pPr>
            <a:r>
              <a:rPr lang="es-CO" sz="2550">
                <a:latin typeface="Times New Roman"/>
                <a:ea typeface="Times New Roman"/>
                <a:cs typeface="Times New Roman"/>
                <a:sym typeface="Times New Roman"/>
              </a:rPr>
              <a:t>Trabajo realizado por el LE: 42 actividades</a:t>
            </a:r>
            <a:endParaRPr sz="2550">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a8e20dd7aa_0_24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Fase Postmortem fase 2</a:t>
            </a:r>
            <a:endParaRPr/>
          </a:p>
        </p:txBody>
      </p:sp>
      <p:sp>
        <p:nvSpPr>
          <p:cNvPr id="453" name="Google Shape;453;g3a8e20dd7aa_0_246"/>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Trabajo Realizados:55 Actividades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a8e20dd7aa_0_25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Comparación</a:t>
            </a:r>
            <a:r>
              <a:rPr lang="es-CO"/>
              <a:t> Trabajos total realizados en fase 1 Vs trabajos total realizados en fase 2</a:t>
            </a:r>
            <a:endParaRPr/>
          </a:p>
        </p:txBody>
      </p:sp>
      <p:sp>
        <p:nvSpPr>
          <p:cNvPr id="459" name="Google Shape;459;g3a8e20dd7aa_0_251"/>
          <p:cNvSpPr txBox="1"/>
          <p:nvPr>
            <p:ph idx="1" type="body"/>
          </p:nvPr>
        </p:nvSpPr>
        <p:spPr>
          <a:xfrm>
            <a:off x="680321" y="2336873"/>
            <a:ext cx="9613800" cy="3599400"/>
          </a:xfrm>
          <a:prstGeom prst="rect">
            <a:avLst/>
          </a:prstGeom>
        </p:spPr>
        <p:txBody>
          <a:bodyPr anchorCtr="0" anchor="t" bIns="45700" lIns="91425" spcFirstLastPara="1" rIns="91425" wrap="square" tIns="45700">
            <a:normAutofit fontScale="70000" lnSpcReduction="20000"/>
          </a:bodyPr>
          <a:lstStyle/>
          <a:p>
            <a:pPr indent="0" lvl="0" marL="0" rtl="0" algn="l">
              <a:spcBef>
                <a:spcPts val="1000"/>
              </a:spcBef>
              <a:spcAft>
                <a:spcPts val="0"/>
              </a:spcAft>
              <a:buNone/>
            </a:pPr>
            <a:r>
              <a:rPr lang="es-CO"/>
              <a:t>Fase 1:</a:t>
            </a:r>
            <a:endParaRPr/>
          </a:p>
          <a:p>
            <a:pPr indent="0" lvl="0" marL="0" rtl="0" algn="l">
              <a:lnSpc>
                <a:spcPct val="200000"/>
              </a:lnSpc>
              <a:spcBef>
                <a:spcPts val="0"/>
              </a:spcBef>
              <a:spcAft>
                <a:spcPts val="0"/>
              </a:spcAft>
              <a:buNone/>
            </a:pPr>
            <a:r>
              <a:rPr lang="es-CO">
                <a:latin typeface="Times New Roman"/>
                <a:ea typeface="Times New Roman"/>
                <a:cs typeface="Times New Roman"/>
                <a:sym typeface="Times New Roman"/>
              </a:rPr>
              <a:t>Total:</a:t>
            </a:r>
            <a:endParaRPr>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ct val="45833"/>
              <a:buFont typeface="Arial"/>
              <a:buNone/>
            </a:pPr>
            <a:r>
              <a:rPr lang="es-CO">
                <a:latin typeface="Times New Roman"/>
                <a:ea typeface="Times New Roman"/>
                <a:cs typeface="Times New Roman"/>
                <a:sym typeface="Times New Roman"/>
              </a:rPr>
              <a:t>LE: 168 actividades en total</a:t>
            </a:r>
            <a:endParaRPr>
              <a:latin typeface="Times New Roman"/>
              <a:ea typeface="Times New Roman"/>
              <a:cs typeface="Times New Roman"/>
              <a:sym typeface="Times New Roman"/>
            </a:endParaRPr>
          </a:p>
          <a:p>
            <a:pPr indent="0" lvl="0" marL="0" rtl="0" algn="l">
              <a:lnSpc>
                <a:spcPct val="200000"/>
              </a:lnSpc>
              <a:spcBef>
                <a:spcPts val="1200"/>
              </a:spcBef>
              <a:spcAft>
                <a:spcPts val="0"/>
              </a:spcAft>
              <a:buNone/>
            </a:pPr>
            <a:r>
              <a:rPr lang="es-CO">
                <a:latin typeface="Times New Roman"/>
                <a:ea typeface="Times New Roman"/>
                <a:cs typeface="Times New Roman"/>
                <a:sym typeface="Times New Roman"/>
              </a:rPr>
              <a:t>LD: 44 actividades en total</a:t>
            </a:r>
            <a:endParaRPr>
              <a:latin typeface="Times New Roman"/>
              <a:ea typeface="Times New Roman"/>
              <a:cs typeface="Times New Roman"/>
              <a:sym typeface="Times New Roman"/>
            </a:endParaRPr>
          </a:p>
          <a:p>
            <a:pPr indent="0" lvl="0" marL="0" rtl="0" algn="l">
              <a:lnSpc>
                <a:spcPct val="200000"/>
              </a:lnSpc>
              <a:spcBef>
                <a:spcPts val="1200"/>
              </a:spcBef>
              <a:spcAft>
                <a:spcPts val="0"/>
              </a:spcAft>
              <a:buNone/>
            </a:pPr>
            <a:r>
              <a:rPr lang="es-CO">
                <a:latin typeface="Times New Roman"/>
                <a:ea typeface="Times New Roman"/>
                <a:cs typeface="Times New Roman"/>
                <a:sym typeface="Times New Roman"/>
              </a:rPr>
              <a:t>Fase 2:</a:t>
            </a:r>
            <a:endParaRPr>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ct val="45833"/>
              <a:buFont typeface="Arial"/>
              <a:buNone/>
            </a:pPr>
            <a:r>
              <a:rPr lang="es-CO">
                <a:latin typeface="Times New Roman"/>
                <a:ea typeface="Times New Roman"/>
                <a:cs typeface="Times New Roman"/>
                <a:sym typeface="Times New Roman"/>
              </a:rPr>
              <a:t>Actividades en total: 211 actividades en total</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91190153f5_0_9"/>
          <p:cNvSpPr txBox="1"/>
          <p:nvPr>
            <p:ph type="title"/>
          </p:nvPr>
        </p:nvSpPr>
        <p:spPr>
          <a:xfrm>
            <a:off x="680321" y="753228"/>
            <a:ext cx="9613800" cy="1080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Clr>
                <a:schemeClr val="lt1"/>
              </a:buClr>
              <a:buSzPct val="100000"/>
              <a:buFont typeface="Calibri"/>
              <a:buNone/>
            </a:pPr>
            <a:r>
              <a:rPr lang="es-CO">
                <a:latin typeface="Calibri"/>
                <a:ea typeface="Calibri"/>
                <a:cs typeface="Calibri"/>
                <a:sym typeface="Calibri"/>
              </a:rPr>
              <a:t>Tareas No Planeadas Fase 1</a:t>
            </a:r>
            <a:endParaRPr/>
          </a:p>
          <a:p>
            <a:pPr indent="0" lvl="0" marL="0" rtl="0" algn="l">
              <a:spcBef>
                <a:spcPts val="0"/>
              </a:spcBef>
              <a:spcAft>
                <a:spcPts val="0"/>
              </a:spcAft>
              <a:buClr>
                <a:schemeClr val="lt1"/>
              </a:buClr>
              <a:buSzPct val="100000"/>
              <a:buFont typeface="Trebuchet MS"/>
              <a:buNone/>
            </a:pPr>
            <a:r>
              <a:t/>
            </a:r>
            <a:endParaRPr/>
          </a:p>
          <a:p>
            <a:pPr indent="0" lvl="0" marL="0" rtl="0" algn="l">
              <a:spcBef>
                <a:spcPts val="0"/>
              </a:spcBef>
              <a:spcAft>
                <a:spcPts val="0"/>
              </a:spcAft>
              <a:buNone/>
            </a:pPr>
            <a:r>
              <a:t/>
            </a:r>
            <a:endParaRPr/>
          </a:p>
        </p:txBody>
      </p:sp>
      <p:sp>
        <p:nvSpPr>
          <p:cNvPr id="465" name="Google Shape;465;g391190153f5_0_9"/>
          <p:cNvSpPr txBox="1"/>
          <p:nvPr>
            <p:ph idx="1" type="body"/>
          </p:nvPr>
        </p:nvSpPr>
        <p:spPr>
          <a:xfrm>
            <a:off x="168875" y="1342423"/>
            <a:ext cx="9613800" cy="4917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lang="es-CO" sz="1800">
                <a:latin typeface="Arial"/>
                <a:ea typeface="Arial"/>
                <a:cs typeface="Arial"/>
                <a:sym typeface="Arial"/>
              </a:rPr>
              <a:t>Incremento global del </a:t>
            </a:r>
            <a:r>
              <a:rPr b="1" lang="es-CO" sz="1800">
                <a:latin typeface="Arial"/>
                <a:ea typeface="Arial"/>
                <a:cs typeface="Arial"/>
                <a:sym typeface="Arial"/>
              </a:rPr>
              <a:t>8% en horas invertidas</a:t>
            </a:r>
            <a:r>
              <a:rPr lang="es-CO" sz="1800">
                <a:latin typeface="Arial"/>
                <a:ea typeface="Arial"/>
                <a:cs typeface="Arial"/>
                <a:sym typeface="Arial"/>
              </a:rPr>
              <a:t>, incluyendo:</a:t>
            </a:r>
            <a:endParaRPr/>
          </a:p>
        </p:txBody>
      </p:sp>
      <p:graphicFrame>
        <p:nvGraphicFramePr>
          <p:cNvPr id="466" name="Google Shape;466;g391190153f5_0_9"/>
          <p:cNvGraphicFramePr/>
          <p:nvPr/>
        </p:nvGraphicFramePr>
        <p:xfrm>
          <a:off x="1154525" y="2430650"/>
          <a:ext cx="3000000" cy="3000000"/>
        </p:xfrm>
        <a:graphic>
          <a:graphicData uri="http://schemas.openxmlformats.org/drawingml/2006/table">
            <a:tbl>
              <a:tblPr>
                <a:noFill/>
                <a:tableStyleId>{E60CDD4A-6C10-425E-A22F-08132309E51D}</a:tableStyleId>
              </a:tblPr>
              <a:tblGrid>
                <a:gridCol w="1639275"/>
                <a:gridCol w="7500375"/>
              </a:tblGrid>
              <a:tr h="430175">
                <a:tc>
                  <a:txBody>
                    <a:bodyPr/>
                    <a:lstStyle/>
                    <a:p>
                      <a:pPr indent="0" lvl="0" marL="0" rtl="0" algn="ctr">
                        <a:lnSpc>
                          <a:spcPct val="115000"/>
                        </a:lnSpc>
                        <a:spcBef>
                          <a:spcPts val="0"/>
                        </a:spcBef>
                        <a:spcAft>
                          <a:spcPts val="0"/>
                        </a:spcAft>
                        <a:buNone/>
                      </a:pPr>
                      <a:r>
                        <a:rPr b="1" lang="es-CO" sz="1100">
                          <a:solidFill>
                            <a:srgbClr val="FFFFFF"/>
                          </a:solidFill>
                        </a:rPr>
                        <a:t>Fase</a:t>
                      </a:r>
                      <a:endParaRPr b="1" sz="1100">
                        <a:solidFill>
                          <a:srgbClr val="FFFFFF"/>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rgbClr val="FFFFFF"/>
                          </a:solidFill>
                        </a:rPr>
                        <a:t>Tareas No Planeadas</a:t>
                      </a:r>
                      <a:endParaRPr b="1" sz="1100">
                        <a:solidFill>
                          <a:srgbClr val="FFFFFF"/>
                        </a:solidFill>
                      </a:endParaRPr>
                    </a:p>
                  </a:txBody>
                  <a:tcPr marT="91425" marB="91425" marR="91425" marL="91425"/>
                </a:tc>
              </a:tr>
              <a:tr h="452125">
                <a:tc>
                  <a:txBody>
                    <a:bodyPr/>
                    <a:lstStyle/>
                    <a:p>
                      <a:pPr indent="0" lvl="0" marL="0" rtl="0" algn="l">
                        <a:spcBef>
                          <a:spcPts val="0"/>
                        </a:spcBef>
                        <a:spcAft>
                          <a:spcPts val="0"/>
                        </a:spcAft>
                        <a:buNone/>
                      </a:pPr>
                      <a:r>
                        <a:rPr lang="es-CO">
                          <a:solidFill>
                            <a:srgbClr val="FFFFFF"/>
                          </a:solidFill>
                        </a:rPr>
                        <a:t>Iniciación</a:t>
                      </a:r>
                      <a:endParaRPr>
                        <a:solidFill>
                          <a:srgbClr val="FFFFFF"/>
                        </a:solidFill>
                      </a:endParaRPr>
                    </a:p>
                  </a:txBody>
                  <a:tcPr marT="91425" marB="91425" marR="91425" marL="91425"/>
                </a:tc>
                <a:tc>
                  <a:txBody>
                    <a:bodyPr/>
                    <a:lstStyle/>
                    <a:p>
                      <a:pPr indent="0" lvl="0" marL="0" rtl="0" algn="l">
                        <a:spcBef>
                          <a:spcPts val="0"/>
                        </a:spcBef>
                        <a:spcAft>
                          <a:spcPts val="0"/>
                        </a:spcAft>
                        <a:buNone/>
                      </a:pPr>
                      <a:r>
                        <a:rPr lang="es-CO">
                          <a:solidFill>
                            <a:srgbClr val="FFFFFF"/>
                          </a:solidFill>
                        </a:rPr>
                        <a:t>Corrección control de asignaciones, log de defectos, maestro de documento</a:t>
                      </a:r>
                      <a:endParaRPr>
                        <a:solidFill>
                          <a:srgbClr val="FFFFFF"/>
                        </a:solidFill>
                      </a:endParaRPr>
                    </a:p>
                  </a:txBody>
                  <a:tcPr marT="91425" marB="91425" marR="91425" marL="91425"/>
                </a:tc>
              </a:tr>
              <a:tr h="452125">
                <a:tc>
                  <a:txBody>
                    <a:bodyPr/>
                    <a:lstStyle/>
                    <a:p>
                      <a:pPr indent="0" lvl="0" marL="0" rtl="0" algn="l">
                        <a:spcBef>
                          <a:spcPts val="0"/>
                        </a:spcBef>
                        <a:spcAft>
                          <a:spcPts val="0"/>
                        </a:spcAft>
                        <a:buNone/>
                      </a:pPr>
                      <a:r>
                        <a:rPr lang="es-CO">
                          <a:solidFill>
                            <a:srgbClr val="FFFFFF"/>
                          </a:solidFill>
                        </a:rPr>
                        <a:t>Estrategia</a:t>
                      </a:r>
                      <a:endParaRPr>
                        <a:solidFill>
                          <a:srgbClr val="FFFFFF"/>
                        </a:solidFill>
                      </a:endParaRPr>
                    </a:p>
                  </a:txBody>
                  <a:tcPr marT="91425" marB="91425" marR="91425" marL="91425"/>
                </a:tc>
                <a:tc>
                  <a:txBody>
                    <a:bodyPr/>
                    <a:lstStyle/>
                    <a:p>
                      <a:pPr indent="0" lvl="0" marL="0" rtl="0" algn="l">
                        <a:spcBef>
                          <a:spcPts val="0"/>
                        </a:spcBef>
                        <a:spcAft>
                          <a:spcPts val="0"/>
                        </a:spcAft>
                        <a:buNone/>
                      </a:pPr>
                      <a:r>
                        <a:rPr lang="es-CO">
                          <a:solidFill>
                            <a:srgbClr val="FFFFFF"/>
                          </a:solidFill>
                        </a:rPr>
                        <a:t>Control de asignaciones y Plan de Riesgos</a:t>
                      </a:r>
                      <a:endParaRPr>
                        <a:solidFill>
                          <a:srgbClr val="FFFFFF"/>
                        </a:solidFill>
                      </a:endParaRPr>
                    </a:p>
                  </a:txBody>
                  <a:tcPr marT="91425" marB="91425" marR="91425" marL="91425"/>
                </a:tc>
              </a:tr>
              <a:tr h="452125">
                <a:tc>
                  <a:txBody>
                    <a:bodyPr/>
                    <a:lstStyle/>
                    <a:p>
                      <a:pPr indent="0" lvl="0" marL="0" rtl="0" algn="l">
                        <a:spcBef>
                          <a:spcPts val="0"/>
                        </a:spcBef>
                        <a:spcAft>
                          <a:spcPts val="0"/>
                        </a:spcAft>
                        <a:buNone/>
                      </a:pPr>
                      <a:r>
                        <a:rPr lang="es-CO">
                          <a:solidFill>
                            <a:srgbClr val="FFFFFF"/>
                          </a:solidFill>
                        </a:rPr>
                        <a:t>Requerimientos</a:t>
                      </a:r>
                      <a:endParaRPr>
                        <a:solidFill>
                          <a:srgbClr val="FFFFFF"/>
                        </a:solidFill>
                      </a:endParaRPr>
                    </a:p>
                  </a:txBody>
                  <a:tcPr marT="91425" marB="91425" marR="91425" marL="91425"/>
                </a:tc>
                <a:tc>
                  <a:txBody>
                    <a:bodyPr/>
                    <a:lstStyle/>
                    <a:p>
                      <a:pPr indent="0" lvl="0" marL="0" rtl="0" algn="l">
                        <a:spcBef>
                          <a:spcPts val="0"/>
                        </a:spcBef>
                        <a:spcAft>
                          <a:spcPts val="0"/>
                        </a:spcAft>
                        <a:buNone/>
                      </a:pPr>
                      <a:r>
                        <a:rPr lang="es-CO">
                          <a:solidFill>
                            <a:srgbClr val="FFFFFF"/>
                          </a:solidFill>
                        </a:rPr>
                        <a:t>Diagrama de clase</a:t>
                      </a:r>
                      <a:endParaRPr>
                        <a:solidFill>
                          <a:srgbClr val="FFFFFF"/>
                        </a:solidFill>
                      </a:endParaRPr>
                    </a:p>
                  </a:txBody>
                  <a:tcPr marT="91425" marB="91425" marR="91425" marL="91425"/>
                </a:tc>
              </a:tr>
              <a:tr h="452125">
                <a:tc>
                  <a:txBody>
                    <a:bodyPr/>
                    <a:lstStyle/>
                    <a:p>
                      <a:pPr indent="0" lvl="0" marL="0" rtl="0" algn="l">
                        <a:spcBef>
                          <a:spcPts val="0"/>
                        </a:spcBef>
                        <a:spcAft>
                          <a:spcPts val="0"/>
                        </a:spcAft>
                        <a:buNone/>
                      </a:pPr>
                      <a:r>
                        <a:rPr lang="es-CO">
                          <a:solidFill>
                            <a:srgbClr val="FFFFFF"/>
                          </a:solidFill>
                        </a:rPr>
                        <a:t>Planeación</a:t>
                      </a:r>
                      <a:endParaRPr>
                        <a:solidFill>
                          <a:srgbClr val="FFFFFF"/>
                        </a:solidFill>
                      </a:endParaRPr>
                    </a:p>
                  </a:txBody>
                  <a:tcPr marT="91425" marB="91425" marR="91425" marL="91425"/>
                </a:tc>
                <a:tc>
                  <a:txBody>
                    <a:bodyPr/>
                    <a:lstStyle/>
                    <a:p>
                      <a:pPr indent="0" lvl="0" marL="0" rtl="0" algn="l">
                        <a:spcBef>
                          <a:spcPts val="0"/>
                        </a:spcBef>
                        <a:spcAft>
                          <a:spcPts val="0"/>
                        </a:spcAft>
                        <a:buNone/>
                      </a:pPr>
                      <a:r>
                        <a:rPr lang="es-CO">
                          <a:solidFill>
                            <a:srgbClr val="FFFFFF"/>
                          </a:solidFill>
                        </a:rPr>
                        <a:t>Plantilla de calidad, Maestro de documento</a:t>
                      </a:r>
                      <a:endParaRPr>
                        <a:solidFill>
                          <a:srgbClr val="FFFFFF"/>
                        </a:solidFill>
                      </a:endParaRPr>
                    </a:p>
                  </a:txBody>
                  <a:tcPr marT="91425" marB="91425" marR="91425" marL="91425"/>
                </a:tc>
              </a:tr>
              <a:tr h="452125">
                <a:tc>
                  <a:txBody>
                    <a:bodyPr/>
                    <a:lstStyle/>
                    <a:p>
                      <a:pPr indent="0" lvl="0" marL="0" rtl="0" algn="l">
                        <a:spcBef>
                          <a:spcPts val="0"/>
                        </a:spcBef>
                        <a:spcAft>
                          <a:spcPts val="0"/>
                        </a:spcAft>
                        <a:buNone/>
                      </a:pPr>
                      <a:r>
                        <a:rPr lang="es-CO">
                          <a:solidFill>
                            <a:srgbClr val="FFFFFF"/>
                          </a:solidFill>
                        </a:rPr>
                        <a:t>Diseño</a:t>
                      </a:r>
                      <a:endParaRPr>
                        <a:solidFill>
                          <a:srgbClr val="FFFFFF"/>
                        </a:solidFill>
                      </a:endParaRPr>
                    </a:p>
                  </a:txBody>
                  <a:tcPr marT="91425" marB="91425" marR="91425" marL="91425"/>
                </a:tc>
                <a:tc>
                  <a:txBody>
                    <a:bodyPr/>
                    <a:lstStyle/>
                    <a:p>
                      <a:pPr indent="0" lvl="0" marL="0" rtl="0" algn="l">
                        <a:spcBef>
                          <a:spcPts val="0"/>
                        </a:spcBef>
                        <a:spcAft>
                          <a:spcPts val="0"/>
                        </a:spcAft>
                        <a:buNone/>
                      </a:pPr>
                      <a:r>
                        <a:rPr lang="es-CO">
                          <a:solidFill>
                            <a:srgbClr val="FFFFFF"/>
                          </a:solidFill>
                        </a:rPr>
                        <a:t>Página web, Diagrama de clases</a:t>
                      </a:r>
                      <a:endParaRPr>
                        <a:solidFill>
                          <a:srgbClr val="FFFFFF"/>
                        </a:solidFill>
                      </a:endParaRPr>
                    </a:p>
                  </a:txBody>
                  <a:tcPr marT="91425" marB="91425" marR="91425" marL="91425"/>
                </a:tc>
              </a:tr>
              <a:tr h="452125">
                <a:tc>
                  <a:txBody>
                    <a:bodyPr/>
                    <a:lstStyle/>
                    <a:p>
                      <a:pPr indent="0" lvl="0" marL="0" rtl="0" algn="l">
                        <a:spcBef>
                          <a:spcPts val="0"/>
                        </a:spcBef>
                        <a:spcAft>
                          <a:spcPts val="0"/>
                        </a:spcAft>
                        <a:buNone/>
                      </a:pPr>
                      <a:r>
                        <a:rPr lang="es-CO">
                          <a:solidFill>
                            <a:srgbClr val="FFFFFF"/>
                          </a:solidFill>
                        </a:rPr>
                        <a:t>Implementación</a:t>
                      </a:r>
                      <a:endParaRPr>
                        <a:solidFill>
                          <a:srgbClr val="FFFFFF"/>
                        </a:solidFill>
                      </a:endParaRPr>
                    </a:p>
                  </a:txBody>
                  <a:tcPr marT="91425" marB="91425" marR="91425" marL="91425"/>
                </a:tc>
                <a:tc>
                  <a:txBody>
                    <a:bodyPr/>
                    <a:lstStyle/>
                    <a:p>
                      <a:pPr indent="0" lvl="0" marL="0" rtl="0" algn="l">
                        <a:spcBef>
                          <a:spcPts val="0"/>
                        </a:spcBef>
                        <a:spcAft>
                          <a:spcPts val="0"/>
                        </a:spcAft>
                        <a:buNone/>
                      </a:pPr>
                      <a:r>
                        <a:rPr lang="es-CO">
                          <a:solidFill>
                            <a:srgbClr val="FFFFFF"/>
                          </a:solidFill>
                        </a:rPr>
                        <a:t>Código adicional</a:t>
                      </a:r>
                      <a:endParaRPr>
                        <a:solidFill>
                          <a:srgbClr val="FFFFFF"/>
                        </a:solidFill>
                      </a:endParaRPr>
                    </a:p>
                  </a:txBody>
                  <a:tcPr marT="91425" marB="91425" marR="91425" marL="91425"/>
                </a:tc>
              </a:tr>
              <a:tr h="452125">
                <a:tc>
                  <a:txBody>
                    <a:bodyPr/>
                    <a:lstStyle/>
                    <a:p>
                      <a:pPr indent="0" lvl="0" marL="0" rtl="0" algn="l">
                        <a:spcBef>
                          <a:spcPts val="0"/>
                        </a:spcBef>
                        <a:spcAft>
                          <a:spcPts val="0"/>
                        </a:spcAft>
                        <a:buNone/>
                      </a:pPr>
                      <a:r>
                        <a:rPr lang="es-CO">
                          <a:solidFill>
                            <a:srgbClr val="FFFFFF"/>
                          </a:solidFill>
                        </a:rPr>
                        <a:t>Pruebas</a:t>
                      </a:r>
                      <a:endParaRPr>
                        <a:solidFill>
                          <a:srgbClr val="FFFFFF"/>
                        </a:solidFill>
                      </a:endParaRPr>
                    </a:p>
                  </a:txBody>
                  <a:tcPr marT="91425" marB="91425" marR="91425" marL="91425"/>
                </a:tc>
                <a:tc>
                  <a:txBody>
                    <a:bodyPr/>
                    <a:lstStyle/>
                    <a:p>
                      <a:pPr indent="0" lvl="0" marL="0" rtl="0" algn="l">
                        <a:spcBef>
                          <a:spcPts val="0"/>
                        </a:spcBef>
                        <a:spcAft>
                          <a:spcPts val="0"/>
                        </a:spcAft>
                        <a:buNone/>
                      </a:pPr>
                      <a:r>
                        <a:rPr lang="es-CO">
                          <a:solidFill>
                            <a:srgbClr val="FFFFFF"/>
                          </a:solidFill>
                        </a:rPr>
                        <a:t>Página web</a:t>
                      </a:r>
                      <a:endParaRPr>
                        <a:solidFill>
                          <a:srgbClr val="FFFFFF"/>
                        </a:solidFill>
                      </a:endParaRPr>
                    </a:p>
                  </a:txBody>
                  <a:tcPr marT="91425" marB="91425" marR="91425" marL="91425"/>
                </a:tc>
              </a:tr>
              <a:tr h="452125">
                <a:tc>
                  <a:txBody>
                    <a:bodyPr/>
                    <a:lstStyle/>
                    <a:p>
                      <a:pPr indent="0" lvl="0" marL="0" rtl="0" algn="l">
                        <a:spcBef>
                          <a:spcPts val="0"/>
                        </a:spcBef>
                        <a:spcAft>
                          <a:spcPts val="0"/>
                        </a:spcAft>
                        <a:buNone/>
                      </a:pPr>
                      <a:r>
                        <a:rPr lang="es-CO">
                          <a:solidFill>
                            <a:srgbClr val="FFFFFF"/>
                          </a:solidFill>
                        </a:rPr>
                        <a:t>Postmortem</a:t>
                      </a:r>
                      <a:endParaRPr>
                        <a:solidFill>
                          <a:srgbClr val="FFFFFF"/>
                        </a:solidFill>
                      </a:endParaRPr>
                    </a:p>
                  </a:txBody>
                  <a:tcPr marT="91425" marB="91425" marR="91425" marL="91425"/>
                </a:tc>
                <a:tc>
                  <a:txBody>
                    <a:bodyPr/>
                    <a:lstStyle/>
                    <a:p>
                      <a:pPr indent="0" lvl="0" marL="0" rtl="0" algn="l">
                        <a:spcBef>
                          <a:spcPts val="0"/>
                        </a:spcBef>
                        <a:spcAft>
                          <a:spcPts val="0"/>
                        </a:spcAft>
                        <a:buNone/>
                      </a:pPr>
                      <a:r>
                        <a:rPr lang="es-CO">
                          <a:solidFill>
                            <a:srgbClr val="FFFFFF"/>
                          </a:solidFill>
                        </a:rPr>
                        <a:t>Informe Postmortem</a:t>
                      </a:r>
                      <a:endParaRPr>
                        <a:solidFill>
                          <a:srgbClr val="FFFFFF"/>
                        </a:solidFill>
                      </a:endParaRPr>
                    </a:p>
                  </a:txBody>
                  <a:tcPr marT="91425" marB="91425" marR="91425" marL="91425"/>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3a8e20dd7aa_0_25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Tareas no planeados Fase 2</a:t>
            </a:r>
            <a:endParaRPr/>
          </a:p>
          <a:p>
            <a:pPr indent="0" lvl="0" marL="0" rtl="0" algn="l">
              <a:spcBef>
                <a:spcPts val="0"/>
              </a:spcBef>
              <a:spcAft>
                <a:spcPts val="0"/>
              </a:spcAft>
              <a:buNone/>
            </a:pPr>
            <a:r>
              <a:t/>
            </a:r>
            <a:endParaRPr/>
          </a:p>
        </p:txBody>
      </p:sp>
      <p:sp>
        <p:nvSpPr>
          <p:cNvPr id="472" name="Google Shape;472;g3a8e20dd7aa_0_256"/>
          <p:cNvSpPr txBox="1"/>
          <p:nvPr>
            <p:ph idx="1" type="body"/>
          </p:nvPr>
        </p:nvSpPr>
        <p:spPr>
          <a:xfrm>
            <a:off x="145625" y="1499973"/>
            <a:ext cx="9613800" cy="4683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Incremento global del 7,5% en horas invertidas, incluyendo:</a:t>
            </a:r>
            <a:endParaRPr/>
          </a:p>
        </p:txBody>
      </p:sp>
      <p:graphicFrame>
        <p:nvGraphicFramePr>
          <p:cNvPr id="473" name="Google Shape;473;g3a8e20dd7aa_0_256"/>
          <p:cNvGraphicFramePr/>
          <p:nvPr/>
        </p:nvGraphicFramePr>
        <p:xfrm>
          <a:off x="1128775" y="2189700"/>
          <a:ext cx="3000000" cy="3000000"/>
        </p:xfrm>
        <a:graphic>
          <a:graphicData uri="http://schemas.openxmlformats.org/drawingml/2006/table">
            <a:tbl>
              <a:tblPr>
                <a:noFill/>
                <a:tableStyleId>{E60CDD4A-6C10-425E-A22F-08132309E51D}</a:tableStyleId>
              </a:tblPr>
              <a:tblGrid>
                <a:gridCol w="2450900"/>
                <a:gridCol w="6295475"/>
              </a:tblGrid>
              <a:tr h="317225">
                <a:tc>
                  <a:txBody>
                    <a:bodyPr/>
                    <a:lstStyle/>
                    <a:p>
                      <a:pPr indent="0" lvl="0" marL="0" rtl="0" algn="ctr">
                        <a:lnSpc>
                          <a:spcPct val="115000"/>
                        </a:lnSpc>
                        <a:spcBef>
                          <a:spcPts val="0"/>
                        </a:spcBef>
                        <a:spcAft>
                          <a:spcPts val="0"/>
                        </a:spcAft>
                        <a:buNone/>
                      </a:pPr>
                      <a:r>
                        <a:rPr b="1" lang="es-CO" sz="1100">
                          <a:solidFill>
                            <a:schemeClr val="lt1"/>
                          </a:solidFill>
                        </a:rPr>
                        <a:t>Fase</a:t>
                      </a:r>
                      <a:endParaRPr b="1" sz="1100">
                        <a:solidFill>
                          <a:schemeClr val="lt1"/>
                        </a:solidFill>
                      </a:endParaRPr>
                    </a:p>
                  </a:txBody>
                  <a:tcPr marT="91425" marB="91425" marR="91425" marL="91425"/>
                </a:tc>
                <a:tc>
                  <a:txBody>
                    <a:bodyPr/>
                    <a:lstStyle/>
                    <a:p>
                      <a:pPr indent="0" lvl="0" marL="0" rtl="0" algn="ctr">
                        <a:lnSpc>
                          <a:spcPct val="115000"/>
                        </a:lnSpc>
                        <a:spcBef>
                          <a:spcPts val="0"/>
                        </a:spcBef>
                        <a:spcAft>
                          <a:spcPts val="0"/>
                        </a:spcAft>
                        <a:buNone/>
                      </a:pPr>
                      <a:r>
                        <a:rPr b="1" lang="es-CO" sz="1100">
                          <a:solidFill>
                            <a:schemeClr val="lt1"/>
                          </a:solidFill>
                        </a:rPr>
                        <a:t>Tareas No Planeadas asociadas a defectos</a:t>
                      </a:r>
                      <a:endParaRPr b="1" sz="1100">
                        <a:solidFill>
                          <a:schemeClr val="lt1"/>
                        </a:solidFill>
                      </a:endParaRPr>
                    </a:p>
                  </a:txBody>
                  <a:tcPr marT="91425" marB="91425" marR="91425" marL="91425"/>
                </a:tc>
              </a:tr>
              <a:tr h="333400">
                <a:tc>
                  <a:txBody>
                    <a:bodyPr/>
                    <a:lstStyle/>
                    <a:p>
                      <a:pPr indent="0" lvl="0" marL="0" rtl="0" algn="l">
                        <a:spcBef>
                          <a:spcPts val="0"/>
                        </a:spcBef>
                        <a:spcAft>
                          <a:spcPts val="0"/>
                        </a:spcAft>
                        <a:buNone/>
                      </a:pPr>
                      <a:r>
                        <a:rPr b="1" lang="es-CO" sz="1100">
                          <a:solidFill>
                            <a:schemeClr val="lt1"/>
                          </a:solidFill>
                        </a:rPr>
                        <a:t>Iniciación/Estrategia</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Control de asignaciones, Acta de Iniciación, PlanAdmin</a:t>
                      </a:r>
                      <a:endParaRPr>
                        <a:solidFill>
                          <a:schemeClr val="lt1"/>
                        </a:solidFill>
                      </a:endParaRPr>
                    </a:p>
                  </a:txBody>
                  <a:tcPr marT="91425" marB="91425" marR="91425" marL="91425"/>
                </a:tc>
              </a:tr>
              <a:tr h="333400">
                <a:tc>
                  <a:txBody>
                    <a:bodyPr/>
                    <a:lstStyle/>
                    <a:p>
                      <a:pPr indent="0" lvl="0" marL="0" rtl="0" algn="l">
                        <a:spcBef>
                          <a:spcPts val="0"/>
                        </a:spcBef>
                        <a:spcAft>
                          <a:spcPts val="0"/>
                        </a:spcAft>
                        <a:buNone/>
                      </a:pPr>
                      <a:r>
                        <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t/>
                      </a:r>
                      <a:endParaRPr>
                        <a:solidFill>
                          <a:schemeClr val="lt1"/>
                        </a:solidFill>
                      </a:endParaRPr>
                    </a:p>
                  </a:txBody>
                  <a:tcPr marT="91425" marB="91425" marR="91425" marL="91425"/>
                </a:tc>
              </a:tr>
              <a:tr h="333400">
                <a:tc>
                  <a:txBody>
                    <a:bodyPr/>
                    <a:lstStyle/>
                    <a:p>
                      <a:pPr indent="0" lvl="0" marL="0" rtl="0" algn="l">
                        <a:spcBef>
                          <a:spcPts val="0"/>
                        </a:spcBef>
                        <a:spcAft>
                          <a:spcPts val="0"/>
                        </a:spcAft>
                        <a:buNone/>
                      </a:pPr>
                      <a:r>
                        <a:rPr b="1" lang="es-CO" sz="1100">
                          <a:solidFill>
                            <a:schemeClr val="lt1"/>
                          </a:solidFill>
                        </a:rPr>
                        <a:t>Requerimientos/</a:t>
                      </a:r>
                      <a:r>
                        <a:rPr b="1" lang="es-CO" sz="1100">
                          <a:solidFill>
                            <a:schemeClr val="lt1"/>
                          </a:solidFill>
                        </a:rPr>
                        <a:t>Planeación</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Ajustes al Plan de Calidad</a:t>
                      </a:r>
                      <a:endParaRPr>
                        <a:solidFill>
                          <a:schemeClr val="lt1"/>
                        </a:solidFill>
                      </a:endParaRPr>
                    </a:p>
                  </a:txBody>
                  <a:tcPr marT="91425" marB="91425" marR="91425" marL="91425"/>
                </a:tc>
              </a:tr>
              <a:tr h="333400">
                <a:tc>
                  <a:txBody>
                    <a:bodyPr/>
                    <a:lstStyle/>
                    <a:p>
                      <a:pPr indent="0" lvl="0" marL="0" rtl="0" algn="l">
                        <a:spcBef>
                          <a:spcPts val="0"/>
                        </a:spcBef>
                        <a:spcAft>
                          <a:spcPts val="0"/>
                        </a:spcAft>
                        <a:buNone/>
                      </a:pPr>
                      <a:r>
                        <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t/>
                      </a:r>
                      <a:endParaRPr>
                        <a:solidFill>
                          <a:schemeClr val="lt1"/>
                        </a:solidFill>
                      </a:endParaRPr>
                    </a:p>
                  </a:txBody>
                  <a:tcPr marT="91425" marB="91425" marR="91425" marL="91425"/>
                </a:tc>
              </a:tr>
              <a:tr h="333400">
                <a:tc>
                  <a:txBody>
                    <a:bodyPr/>
                    <a:lstStyle/>
                    <a:p>
                      <a:pPr indent="0" lvl="0" marL="0" rtl="0" algn="l">
                        <a:spcBef>
                          <a:spcPts val="0"/>
                        </a:spcBef>
                        <a:spcAft>
                          <a:spcPts val="0"/>
                        </a:spcAft>
                        <a:buNone/>
                      </a:pPr>
                      <a:r>
                        <a:rPr b="1" lang="es-CO" sz="1100">
                          <a:solidFill>
                            <a:schemeClr val="lt1"/>
                          </a:solidFill>
                        </a:rPr>
                        <a:t>Diseño</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Ajustes a la Plantilla SDS</a:t>
                      </a:r>
                      <a:endParaRPr>
                        <a:solidFill>
                          <a:schemeClr val="lt1"/>
                        </a:solidFill>
                      </a:endParaRPr>
                    </a:p>
                  </a:txBody>
                  <a:tcPr marT="91425" marB="91425" marR="91425" marL="91425"/>
                </a:tc>
              </a:tr>
              <a:tr h="1158825">
                <a:tc>
                  <a:txBody>
                    <a:bodyPr/>
                    <a:lstStyle/>
                    <a:p>
                      <a:pPr indent="0" lvl="0" marL="0" rtl="0" algn="l">
                        <a:spcBef>
                          <a:spcPts val="0"/>
                        </a:spcBef>
                        <a:spcAft>
                          <a:spcPts val="0"/>
                        </a:spcAft>
                        <a:buNone/>
                      </a:pPr>
                      <a:r>
                        <a:rPr b="1" lang="es-CO" sz="1100">
                          <a:solidFill>
                            <a:schemeClr val="lt1"/>
                          </a:solidFill>
                        </a:rPr>
                        <a:t>Implementación/Pruebas</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Pruebas Unitarias,</a:t>
                      </a:r>
                      <a:r>
                        <a:rPr lang="es-CO">
                          <a:solidFill>
                            <a:schemeClr val="lt1"/>
                          </a:solidFill>
                        </a:rPr>
                        <a:t>Código</a:t>
                      </a:r>
                      <a:endParaRPr>
                        <a:solidFill>
                          <a:schemeClr val="lt1"/>
                        </a:solidFill>
                      </a:endParaRPr>
                    </a:p>
                  </a:txBody>
                  <a:tcPr marT="91425" marB="91425" marR="91425" marL="91425"/>
                </a:tc>
              </a:tr>
              <a:tr h="333400">
                <a:tc>
                  <a:txBody>
                    <a:bodyPr/>
                    <a:lstStyle/>
                    <a:p>
                      <a:pPr indent="0" lvl="0" marL="0" rtl="0" algn="l">
                        <a:spcBef>
                          <a:spcPts val="0"/>
                        </a:spcBef>
                        <a:spcAft>
                          <a:spcPts val="0"/>
                        </a:spcAft>
                        <a:buNone/>
                      </a:pPr>
                      <a:r>
                        <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t/>
                      </a:r>
                      <a:endParaRPr>
                        <a:solidFill>
                          <a:schemeClr val="lt1"/>
                        </a:solidFill>
                      </a:endParaRPr>
                    </a:p>
                  </a:txBody>
                  <a:tcPr marT="91425" marB="91425" marR="91425" marL="91425"/>
                </a:tc>
              </a:tr>
              <a:tr h="333400">
                <a:tc>
                  <a:txBody>
                    <a:bodyPr/>
                    <a:lstStyle/>
                    <a:p>
                      <a:pPr indent="0" lvl="0" marL="0" rtl="0" algn="l">
                        <a:spcBef>
                          <a:spcPts val="0"/>
                        </a:spcBef>
                        <a:spcAft>
                          <a:spcPts val="0"/>
                        </a:spcAft>
                        <a:buNone/>
                      </a:pPr>
                      <a:r>
                        <a:rPr b="1" lang="es-CO" sz="1100">
                          <a:solidFill>
                            <a:schemeClr val="lt1"/>
                          </a:solidFill>
                        </a:rPr>
                        <a:t>Postmortem</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s-CO">
                          <a:solidFill>
                            <a:schemeClr val="lt1"/>
                          </a:solidFill>
                        </a:rPr>
                        <a:t>Correcciones a Informe Postmortem F2 y Presentación Postmortem F2</a:t>
                      </a:r>
                      <a:endParaRPr>
                        <a:solidFill>
                          <a:schemeClr val="lt1"/>
                        </a:solidFill>
                      </a:endParaRPr>
                    </a:p>
                  </a:txBody>
                  <a:tcPr marT="91425" marB="91425" marR="91425" marL="91425"/>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91190153f5_0_4"/>
          <p:cNvSpPr txBox="1"/>
          <p:nvPr>
            <p:ph type="title"/>
          </p:nvPr>
        </p:nvSpPr>
        <p:spPr>
          <a:xfrm>
            <a:off x="261850" y="637001"/>
            <a:ext cx="9613800" cy="770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Plan de Calidad fase 1</a:t>
            </a:r>
            <a:endParaRPr/>
          </a:p>
        </p:txBody>
      </p:sp>
      <p:sp>
        <p:nvSpPr>
          <p:cNvPr id="479" name="Google Shape;479;g391190153f5_0_4"/>
          <p:cNvSpPr txBox="1"/>
          <p:nvPr>
            <p:ph idx="1" type="body"/>
          </p:nvPr>
        </p:nvSpPr>
        <p:spPr>
          <a:xfrm>
            <a:off x="261850" y="1220973"/>
            <a:ext cx="9613800" cy="770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CO"/>
              <a:t>Porcentaje libre de defectos: documentos y LOC (gráficas de barras).</a:t>
            </a:r>
            <a:endParaRPr/>
          </a:p>
        </p:txBody>
      </p:sp>
      <p:sp>
        <p:nvSpPr>
          <p:cNvPr id="480" name="Google Shape;480;g391190153f5_0_4"/>
          <p:cNvSpPr txBox="1"/>
          <p:nvPr/>
        </p:nvSpPr>
        <p:spPr>
          <a:xfrm>
            <a:off x="261850" y="2185250"/>
            <a:ext cx="3000000" cy="523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1200"/>
              </a:spcAft>
              <a:buNone/>
            </a:pPr>
            <a:r>
              <a:rPr lang="es-CO" sz="2200">
                <a:solidFill>
                  <a:schemeClr val="lt1"/>
                </a:solidFill>
                <a:latin typeface="Times New Roman"/>
                <a:ea typeface="Times New Roman"/>
                <a:cs typeface="Times New Roman"/>
                <a:sym typeface="Times New Roman"/>
              </a:rPr>
              <a:t>Documentos:</a:t>
            </a:r>
            <a:endParaRPr/>
          </a:p>
        </p:txBody>
      </p:sp>
      <p:pic>
        <p:nvPicPr>
          <p:cNvPr id="481" name="Google Shape;481;g391190153f5_0_4"/>
          <p:cNvPicPr preferRelativeResize="0"/>
          <p:nvPr/>
        </p:nvPicPr>
        <p:blipFill>
          <a:blip r:embed="rId3">
            <a:alphaModFix/>
          </a:blip>
          <a:stretch>
            <a:fillRect/>
          </a:stretch>
        </p:blipFill>
        <p:spPr>
          <a:xfrm>
            <a:off x="374525" y="3044575"/>
            <a:ext cx="10024826" cy="23875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391190153f5_0_18"/>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Gráfica</a:t>
            </a:r>
            <a:endParaRPr/>
          </a:p>
        </p:txBody>
      </p:sp>
      <p:pic>
        <p:nvPicPr>
          <p:cNvPr id="487" name="Google Shape;487;g391190153f5_0_18"/>
          <p:cNvPicPr preferRelativeResize="0"/>
          <p:nvPr/>
        </p:nvPicPr>
        <p:blipFill>
          <a:blip r:embed="rId3">
            <a:alphaModFix/>
          </a:blip>
          <a:stretch>
            <a:fillRect/>
          </a:stretch>
        </p:blipFill>
        <p:spPr>
          <a:xfrm>
            <a:off x="2840250" y="2081175"/>
            <a:ext cx="7453925" cy="464518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91190153f5_0_23"/>
          <p:cNvSpPr txBox="1"/>
          <p:nvPr>
            <p:ph type="title"/>
          </p:nvPr>
        </p:nvSpPr>
        <p:spPr>
          <a:xfrm>
            <a:off x="540850" y="631651"/>
            <a:ext cx="9613800" cy="849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CO"/>
              <a:t>Plan de Calidad fase 2</a:t>
            </a:r>
            <a:endParaRPr/>
          </a:p>
        </p:txBody>
      </p:sp>
      <p:sp>
        <p:nvSpPr>
          <p:cNvPr id="493" name="Google Shape;493;g391190153f5_0_23"/>
          <p:cNvSpPr txBox="1"/>
          <p:nvPr/>
        </p:nvSpPr>
        <p:spPr>
          <a:xfrm>
            <a:off x="116250" y="1317350"/>
            <a:ext cx="76563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000"/>
              </a:spcBef>
              <a:spcAft>
                <a:spcPts val="0"/>
              </a:spcAft>
              <a:buNone/>
            </a:pPr>
            <a:r>
              <a:rPr lang="es-CO" sz="2400">
                <a:solidFill>
                  <a:schemeClr val="lt1"/>
                </a:solidFill>
                <a:latin typeface="Trebuchet MS"/>
                <a:ea typeface="Trebuchet MS"/>
                <a:cs typeface="Trebuchet MS"/>
                <a:sym typeface="Trebuchet MS"/>
              </a:rPr>
              <a:t>Porcentaje libre de defectos: documentos y LOC (gráficas de barras).</a:t>
            </a:r>
            <a:endParaRPr/>
          </a:p>
        </p:txBody>
      </p:sp>
      <p:pic>
        <p:nvPicPr>
          <p:cNvPr id="494" name="Google Shape;494;g391190153f5_0_23"/>
          <p:cNvPicPr preferRelativeResize="0"/>
          <p:nvPr/>
        </p:nvPicPr>
        <p:blipFill>
          <a:blip r:embed="rId3">
            <a:alphaModFix/>
          </a:blip>
          <a:stretch>
            <a:fillRect/>
          </a:stretch>
        </p:blipFill>
        <p:spPr>
          <a:xfrm>
            <a:off x="195263" y="2970275"/>
            <a:ext cx="11801475" cy="17240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91190153f5_0_3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Gráfica</a:t>
            </a:r>
            <a:endParaRPr/>
          </a:p>
        </p:txBody>
      </p:sp>
      <p:pic>
        <p:nvPicPr>
          <p:cNvPr id="500" name="Google Shape;500;g391190153f5_0_31"/>
          <p:cNvPicPr preferRelativeResize="0"/>
          <p:nvPr/>
        </p:nvPicPr>
        <p:blipFill>
          <a:blip r:embed="rId3">
            <a:alphaModFix/>
          </a:blip>
          <a:stretch>
            <a:fillRect/>
          </a:stretch>
        </p:blipFill>
        <p:spPr>
          <a:xfrm>
            <a:off x="779100" y="2080225"/>
            <a:ext cx="9992225" cy="432832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391190153f5_0_38"/>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CO"/>
              <a:t>LOC fase 1:</a:t>
            </a:r>
            <a:endParaRPr/>
          </a:p>
        </p:txBody>
      </p:sp>
      <p:pic>
        <p:nvPicPr>
          <p:cNvPr id="506" name="Google Shape;506;g391190153f5_0_38"/>
          <p:cNvPicPr preferRelativeResize="0"/>
          <p:nvPr/>
        </p:nvPicPr>
        <p:blipFill>
          <a:blip r:embed="rId3">
            <a:alphaModFix/>
          </a:blip>
          <a:stretch>
            <a:fillRect/>
          </a:stretch>
        </p:blipFill>
        <p:spPr>
          <a:xfrm>
            <a:off x="435725" y="2321050"/>
            <a:ext cx="11320550" cy="359932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391190153f5_0_49"/>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LOC fase 2:</a:t>
            </a:r>
            <a:endParaRPr/>
          </a:p>
        </p:txBody>
      </p:sp>
      <p:pic>
        <p:nvPicPr>
          <p:cNvPr id="512" name="Google Shape;512;g391190153f5_0_49"/>
          <p:cNvPicPr preferRelativeResize="0"/>
          <p:nvPr/>
        </p:nvPicPr>
        <p:blipFill>
          <a:blip r:embed="rId3">
            <a:alphaModFix/>
          </a:blip>
          <a:stretch>
            <a:fillRect/>
          </a:stretch>
        </p:blipFill>
        <p:spPr>
          <a:xfrm>
            <a:off x="1311050" y="2738103"/>
            <a:ext cx="7353300" cy="11715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91190153f5_0_54"/>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Gráfica</a:t>
            </a:r>
            <a:r>
              <a:rPr lang="es-CO"/>
              <a:t> fase 1:</a:t>
            </a:r>
            <a:endParaRPr/>
          </a:p>
        </p:txBody>
      </p:sp>
      <p:pic>
        <p:nvPicPr>
          <p:cNvPr id="518" name="Google Shape;518;g391190153f5_0_54"/>
          <p:cNvPicPr preferRelativeResize="0"/>
          <p:nvPr/>
        </p:nvPicPr>
        <p:blipFill>
          <a:blip r:embed="rId3">
            <a:alphaModFix/>
          </a:blip>
          <a:stretch>
            <a:fillRect/>
          </a:stretch>
        </p:blipFill>
        <p:spPr>
          <a:xfrm>
            <a:off x="1449100" y="2163825"/>
            <a:ext cx="9856925" cy="39657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91190153f5_0_10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Gráfica</a:t>
            </a:r>
            <a:r>
              <a:rPr lang="es-CO"/>
              <a:t> fase 2:</a:t>
            </a:r>
            <a:endParaRPr/>
          </a:p>
        </p:txBody>
      </p:sp>
      <p:pic>
        <p:nvPicPr>
          <p:cNvPr id="524" name="Google Shape;524;g391190153f5_0_101"/>
          <p:cNvPicPr preferRelativeResize="0"/>
          <p:nvPr/>
        </p:nvPicPr>
        <p:blipFill>
          <a:blip r:embed="rId3">
            <a:alphaModFix/>
          </a:blip>
          <a:stretch>
            <a:fillRect/>
          </a:stretch>
        </p:blipFill>
        <p:spPr>
          <a:xfrm>
            <a:off x="1910588" y="2049153"/>
            <a:ext cx="7153275" cy="43053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391190153f5_0_59"/>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Comparación</a:t>
            </a:r>
            <a:r>
              <a:rPr lang="es-CO"/>
              <a:t> de tiempos entre fase 1 y fase 2</a:t>
            </a:r>
            <a:endParaRPr/>
          </a:p>
        </p:txBody>
      </p:sp>
      <p:sp>
        <p:nvSpPr>
          <p:cNvPr id="530" name="Google Shape;530;g391190153f5_0_59"/>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Iniciación</a:t>
            </a:r>
            <a:r>
              <a:rPr lang="es-CO"/>
              <a:t> y Estrategia fase 1:</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CO"/>
              <a:t>Iniciación</a:t>
            </a:r>
            <a:r>
              <a:rPr lang="es-CO"/>
              <a:t>/Estrategia fase 2</a:t>
            </a:r>
            <a:endParaRPr/>
          </a:p>
          <a:p>
            <a:pPr indent="0" lvl="0" marL="0" rtl="0" algn="l">
              <a:spcBef>
                <a:spcPts val="1000"/>
              </a:spcBef>
              <a:spcAft>
                <a:spcPts val="0"/>
              </a:spcAft>
              <a:buNone/>
            </a:pPr>
            <a:r>
              <a:t/>
            </a:r>
            <a:endParaRPr/>
          </a:p>
        </p:txBody>
      </p:sp>
      <p:pic>
        <p:nvPicPr>
          <p:cNvPr id="531" name="Google Shape;531;g391190153f5_0_59"/>
          <p:cNvPicPr preferRelativeResize="0"/>
          <p:nvPr/>
        </p:nvPicPr>
        <p:blipFill>
          <a:blip r:embed="rId3">
            <a:alphaModFix/>
          </a:blip>
          <a:stretch>
            <a:fillRect/>
          </a:stretch>
        </p:blipFill>
        <p:spPr>
          <a:xfrm>
            <a:off x="490775" y="2832650"/>
            <a:ext cx="9155699" cy="762975"/>
          </a:xfrm>
          <a:prstGeom prst="rect">
            <a:avLst/>
          </a:prstGeom>
          <a:noFill/>
          <a:ln>
            <a:noFill/>
          </a:ln>
        </p:spPr>
      </p:pic>
      <p:pic>
        <p:nvPicPr>
          <p:cNvPr id="532" name="Google Shape;532;g391190153f5_0_59"/>
          <p:cNvPicPr preferRelativeResize="0"/>
          <p:nvPr/>
        </p:nvPicPr>
        <p:blipFill>
          <a:blip r:embed="rId4">
            <a:alphaModFix/>
          </a:blip>
          <a:stretch>
            <a:fillRect/>
          </a:stretch>
        </p:blipFill>
        <p:spPr>
          <a:xfrm>
            <a:off x="490775" y="3705188"/>
            <a:ext cx="9613849" cy="862781"/>
          </a:xfrm>
          <a:prstGeom prst="rect">
            <a:avLst/>
          </a:prstGeom>
          <a:noFill/>
          <a:ln>
            <a:noFill/>
          </a:ln>
        </p:spPr>
      </p:pic>
      <p:pic>
        <p:nvPicPr>
          <p:cNvPr id="533" name="Google Shape;533;g391190153f5_0_59"/>
          <p:cNvPicPr preferRelativeResize="0"/>
          <p:nvPr/>
        </p:nvPicPr>
        <p:blipFill>
          <a:blip r:embed="rId5">
            <a:alphaModFix/>
          </a:blip>
          <a:stretch>
            <a:fillRect/>
          </a:stretch>
        </p:blipFill>
        <p:spPr>
          <a:xfrm>
            <a:off x="490775" y="5205276"/>
            <a:ext cx="8429625" cy="8627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91190153f5_0_69"/>
          <p:cNvSpPr txBox="1"/>
          <p:nvPr>
            <p:ph idx="1" type="body"/>
          </p:nvPr>
        </p:nvSpPr>
        <p:spPr>
          <a:xfrm>
            <a:off x="680321" y="2336873"/>
            <a:ext cx="9613800" cy="35994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None/>
            </a:pPr>
            <a:r>
              <a:rPr lang="es-CO"/>
              <a:t>Requerimientos y P</a:t>
            </a:r>
            <a:r>
              <a:rPr lang="es-CO"/>
              <a:t>laneación</a:t>
            </a:r>
            <a:r>
              <a:rPr lang="es-CO"/>
              <a:t> fase 1:</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CO"/>
              <a:t>Requerimientos/</a:t>
            </a:r>
            <a:r>
              <a:rPr lang="es-CO"/>
              <a:t>Planeación</a:t>
            </a:r>
            <a:r>
              <a:rPr lang="es-CO"/>
              <a:t> fase 2:</a:t>
            </a:r>
            <a:endParaRPr/>
          </a:p>
          <a:p>
            <a:pPr indent="0" lvl="0" marL="0" rtl="0" algn="l">
              <a:spcBef>
                <a:spcPts val="1000"/>
              </a:spcBef>
              <a:spcAft>
                <a:spcPts val="0"/>
              </a:spcAft>
              <a:buNone/>
            </a:pPr>
            <a:r>
              <a:t/>
            </a:r>
            <a:endParaRPr/>
          </a:p>
        </p:txBody>
      </p:sp>
      <p:pic>
        <p:nvPicPr>
          <p:cNvPr id="539" name="Google Shape;539;g391190153f5_0_69"/>
          <p:cNvPicPr preferRelativeResize="0"/>
          <p:nvPr/>
        </p:nvPicPr>
        <p:blipFill>
          <a:blip r:embed="rId3">
            <a:alphaModFix/>
          </a:blip>
          <a:stretch>
            <a:fillRect/>
          </a:stretch>
        </p:blipFill>
        <p:spPr>
          <a:xfrm>
            <a:off x="680325" y="2792851"/>
            <a:ext cx="8417175" cy="1011675"/>
          </a:xfrm>
          <a:prstGeom prst="rect">
            <a:avLst/>
          </a:prstGeom>
          <a:noFill/>
          <a:ln>
            <a:noFill/>
          </a:ln>
        </p:spPr>
      </p:pic>
      <p:pic>
        <p:nvPicPr>
          <p:cNvPr id="540" name="Google Shape;540;g391190153f5_0_69"/>
          <p:cNvPicPr preferRelativeResize="0"/>
          <p:nvPr/>
        </p:nvPicPr>
        <p:blipFill>
          <a:blip r:embed="rId4">
            <a:alphaModFix/>
          </a:blip>
          <a:stretch>
            <a:fillRect/>
          </a:stretch>
        </p:blipFill>
        <p:spPr>
          <a:xfrm>
            <a:off x="680325" y="4060250"/>
            <a:ext cx="8232175" cy="936674"/>
          </a:xfrm>
          <a:prstGeom prst="rect">
            <a:avLst/>
          </a:prstGeom>
          <a:noFill/>
          <a:ln>
            <a:noFill/>
          </a:ln>
        </p:spPr>
      </p:pic>
      <p:pic>
        <p:nvPicPr>
          <p:cNvPr id="541" name="Google Shape;541;g391190153f5_0_69"/>
          <p:cNvPicPr preferRelativeResize="0"/>
          <p:nvPr/>
        </p:nvPicPr>
        <p:blipFill>
          <a:blip r:embed="rId5">
            <a:alphaModFix/>
          </a:blip>
          <a:stretch>
            <a:fillRect/>
          </a:stretch>
        </p:blipFill>
        <p:spPr>
          <a:xfrm>
            <a:off x="680325" y="5499325"/>
            <a:ext cx="8232175" cy="8394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91190153f5_0_77"/>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Diseño fase 1:</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CO"/>
              <a:t>Diseño fase 2:</a:t>
            </a:r>
            <a:endParaRPr/>
          </a:p>
        </p:txBody>
      </p:sp>
      <p:pic>
        <p:nvPicPr>
          <p:cNvPr id="547" name="Google Shape;547;g391190153f5_0_77"/>
          <p:cNvPicPr preferRelativeResize="0"/>
          <p:nvPr/>
        </p:nvPicPr>
        <p:blipFill>
          <a:blip r:embed="rId3">
            <a:alphaModFix/>
          </a:blip>
          <a:stretch>
            <a:fillRect/>
          </a:stretch>
        </p:blipFill>
        <p:spPr>
          <a:xfrm>
            <a:off x="680325" y="3035075"/>
            <a:ext cx="9881775" cy="902650"/>
          </a:xfrm>
          <a:prstGeom prst="rect">
            <a:avLst/>
          </a:prstGeom>
          <a:noFill/>
          <a:ln>
            <a:noFill/>
          </a:ln>
        </p:spPr>
      </p:pic>
      <p:pic>
        <p:nvPicPr>
          <p:cNvPr id="548" name="Google Shape;548;g391190153f5_0_77"/>
          <p:cNvPicPr preferRelativeResize="0"/>
          <p:nvPr/>
        </p:nvPicPr>
        <p:blipFill>
          <a:blip r:embed="rId4">
            <a:alphaModFix/>
          </a:blip>
          <a:stretch>
            <a:fillRect/>
          </a:stretch>
        </p:blipFill>
        <p:spPr>
          <a:xfrm>
            <a:off x="680325" y="4662400"/>
            <a:ext cx="9881774" cy="74491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91190153f5_0_84"/>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Implementación</a:t>
            </a:r>
            <a:r>
              <a:rPr lang="es-CO"/>
              <a:t> y Pruebas fase 1:</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CO"/>
              <a:t>Implementación</a:t>
            </a:r>
            <a:r>
              <a:rPr lang="es-CO"/>
              <a:t>/Pruebas fase 2:</a:t>
            </a:r>
            <a:endParaRPr/>
          </a:p>
        </p:txBody>
      </p:sp>
      <p:pic>
        <p:nvPicPr>
          <p:cNvPr id="554" name="Google Shape;554;g391190153f5_0_84"/>
          <p:cNvPicPr preferRelativeResize="0"/>
          <p:nvPr/>
        </p:nvPicPr>
        <p:blipFill>
          <a:blip r:embed="rId3">
            <a:alphaModFix/>
          </a:blip>
          <a:stretch>
            <a:fillRect/>
          </a:stretch>
        </p:blipFill>
        <p:spPr>
          <a:xfrm>
            <a:off x="680325" y="2785425"/>
            <a:ext cx="8878793" cy="902650"/>
          </a:xfrm>
          <a:prstGeom prst="rect">
            <a:avLst/>
          </a:prstGeom>
          <a:noFill/>
          <a:ln>
            <a:noFill/>
          </a:ln>
        </p:spPr>
      </p:pic>
      <p:pic>
        <p:nvPicPr>
          <p:cNvPr id="555" name="Google Shape;555;g391190153f5_0_84"/>
          <p:cNvPicPr preferRelativeResize="0"/>
          <p:nvPr/>
        </p:nvPicPr>
        <p:blipFill>
          <a:blip r:embed="rId4">
            <a:alphaModFix/>
          </a:blip>
          <a:stretch>
            <a:fillRect/>
          </a:stretch>
        </p:blipFill>
        <p:spPr>
          <a:xfrm>
            <a:off x="680325" y="3808400"/>
            <a:ext cx="8300950" cy="1130750"/>
          </a:xfrm>
          <a:prstGeom prst="rect">
            <a:avLst/>
          </a:prstGeom>
          <a:noFill/>
          <a:ln>
            <a:noFill/>
          </a:ln>
        </p:spPr>
      </p:pic>
      <p:pic>
        <p:nvPicPr>
          <p:cNvPr id="556" name="Google Shape;556;g391190153f5_0_84"/>
          <p:cNvPicPr preferRelativeResize="0"/>
          <p:nvPr/>
        </p:nvPicPr>
        <p:blipFill>
          <a:blip r:embed="rId5">
            <a:alphaModFix/>
          </a:blip>
          <a:stretch>
            <a:fillRect/>
          </a:stretch>
        </p:blipFill>
        <p:spPr>
          <a:xfrm>
            <a:off x="680325" y="5708550"/>
            <a:ext cx="8114974" cy="6973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91190153f5_0_93"/>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CO"/>
              <a:t>Postmortem fase 1:</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CO"/>
              <a:t>Postmortem fase 2:</a:t>
            </a:r>
            <a:endParaRPr/>
          </a:p>
        </p:txBody>
      </p:sp>
      <p:pic>
        <p:nvPicPr>
          <p:cNvPr id="562" name="Google Shape;562;g391190153f5_0_93"/>
          <p:cNvPicPr preferRelativeResize="0"/>
          <p:nvPr/>
        </p:nvPicPr>
        <p:blipFill>
          <a:blip r:embed="rId3">
            <a:alphaModFix/>
          </a:blip>
          <a:stretch>
            <a:fillRect/>
          </a:stretch>
        </p:blipFill>
        <p:spPr>
          <a:xfrm>
            <a:off x="680325" y="3015700"/>
            <a:ext cx="10526499" cy="826600"/>
          </a:xfrm>
          <a:prstGeom prst="rect">
            <a:avLst/>
          </a:prstGeom>
          <a:noFill/>
          <a:ln>
            <a:noFill/>
          </a:ln>
        </p:spPr>
      </p:pic>
      <p:pic>
        <p:nvPicPr>
          <p:cNvPr id="563" name="Google Shape;563;g391190153f5_0_93"/>
          <p:cNvPicPr preferRelativeResize="0"/>
          <p:nvPr/>
        </p:nvPicPr>
        <p:blipFill>
          <a:blip r:embed="rId4">
            <a:alphaModFix/>
          </a:blip>
          <a:stretch>
            <a:fillRect/>
          </a:stretch>
        </p:blipFill>
        <p:spPr>
          <a:xfrm>
            <a:off x="803325" y="4941375"/>
            <a:ext cx="7026100" cy="8266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91190153f5_0_10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Gestión</a:t>
            </a:r>
            <a:r>
              <a:rPr lang="es-CO"/>
              <a:t> de defectos fase 1</a:t>
            </a:r>
            <a:endParaRPr/>
          </a:p>
        </p:txBody>
      </p:sp>
      <p:sp>
        <p:nvSpPr>
          <p:cNvPr id="569" name="Google Shape;569;g391190153f5_0_106"/>
          <p:cNvSpPr txBox="1"/>
          <p:nvPr>
            <p:ph idx="1" type="body"/>
          </p:nvPr>
        </p:nvSpPr>
        <p:spPr>
          <a:xfrm>
            <a:off x="215375" y="1546454"/>
            <a:ext cx="9613800" cy="10809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lang="es-CO" sz="1400">
                <a:solidFill>
                  <a:srgbClr val="FFFFFF"/>
                </a:solidFill>
                <a:latin typeface="Arial"/>
                <a:ea typeface="Arial"/>
                <a:cs typeface="Arial"/>
                <a:sym typeface="Arial"/>
              </a:rPr>
              <a:t>Gestión de defectos: </a:t>
            </a:r>
            <a:r>
              <a:rPr b="1" lang="es-CO" sz="1400">
                <a:solidFill>
                  <a:srgbClr val="FFFFFF"/>
                </a:solidFill>
                <a:latin typeface="Arial"/>
                <a:ea typeface="Arial"/>
                <a:cs typeface="Arial"/>
                <a:sym typeface="Arial"/>
              </a:rPr>
              <a:t>20h 30min invertidas</a:t>
            </a:r>
            <a:r>
              <a:rPr lang="es-CO" sz="1400">
                <a:solidFill>
                  <a:srgbClr val="FFFFFF"/>
                </a:solidFill>
                <a:latin typeface="Arial"/>
                <a:ea typeface="Arial"/>
                <a:cs typeface="Arial"/>
                <a:sym typeface="Arial"/>
              </a:rPr>
              <a:t> en registro, corrección y seguimiento.</a:t>
            </a:r>
            <a:endParaRPr sz="1700">
              <a:solidFill>
                <a:srgbClr val="FFFFFF"/>
              </a:solidFill>
              <a:latin typeface="Arial"/>
              <a:ea typeface="Arial"/>
              <a:cs typeface="Arial"/>
              <a:sym typeface="Arial"/>
            </a:endParaRPr>
          </a:p>
          <a:p>
            <a:pPr indent="0" lvl="0" marL="0" rtl="0" algn="l">
              <a:spcBef>
                <a:spcPts val="1000"/>
              </a:spcBef>
              <a:spcAft>
                <a:spcPts val="0"/>
              </a:spcAft>
              <a:buNone/>
            </a:pPr>
            <a:r>
              <a:t/>
            </a:r>
            <a:endParaRPr/>
          </a:p>
        </p:txBody>
      </p:sp>
      <p:pic>
        <p:nvPicPr>
          <p:cNvPr id="570" name="Google Shape;570;g391190153f5_0_106"/>
          <p:cNvPicPr preferRelativeResize="0"/>
          <p:nvPr/>
        </p:nvPicPr>
        <p:blipFill>
          <a:blip r:embed="rId3">
            <a:alphaModFix/>
          </a:blip>
          <a:stretch>
            <a:fillRect/>
          </a:stretch>
        </p:blipFill>
        <p:spPr>
          <a:xfrm>
            <a:off x="921425" y="1992262"/>
            <a:ext cx="9372698" cy="45211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91190153f5_0_132"/>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Gestión</a:t>
            </a:r>
            <a:r>
              <a:rPr lang="es-CO"/>
              <a:t> de defectos fase 2</a:t>
            </a:r>
            <a:endParaRPr/>
          </a:p>
        </p:txBody>
      </p:sp>
      <p:sp>
        <p:nvSpPr>
          <p:cNvPr id="576" name="Google Shape;576;g391190153f5_0_132"/>
          <p:cNvSpPr txBox="1"/>
          <p:nvPr/>
        </p:nvSpPr>
        <p:spPr>
          <a:xfrm>
            <a:off x="325475" y="1441350"/>
            <a:ext cx="767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O">
                <a:solidFill>
                  <a:schemeClr val="lt1"/>
                </a:solidFill>
              </a:rPr>
              <a:t>G</a:t>
            </a:r>
            <a:r>
              <a:rPr lang="es-CO">
                <a:solidFill>
                  <a:schemeClr val="lt1"/>
                </a:solidFill>
              </a:rPr>
              <a:t>estión</a:t>
            </a:r>
            <a:r>
              <a:rPr lang="es-CO">
                <a:solidFill>
                  <a:schemeClr val="lt1"/>
                </a:solidFill>
              </a:rPr>
              <a:t> de defectos: </a:t>
            </a:r>
            <a:r>
              <a:rPr b="1" lang="es-CO">
                <a:solidFill>
                  <a:schemeClr val="lt1"/>
                </a:solidFill>
              </a:rPr>
              <a:t>9 horas </a:t>
            </a:r>
            <a:r>
              <a:rPr b="1" lang="es-CO">
                <a:solidFill>
                  <a:schemeClr val="lt1"/>
                </a:solidFill>
              </a:rPr>
              <a:t> invertidas</a:t>
            </a:r>
            <a:r>
              <a:rPr lang="es-CO">
                <a:solidFill>
                  <a:schemeClr val="lt1"/>
                </a:solidFill>
              </a:rPr>
              <a:t> en registro, corrección y seguimiento.</a:t>
            </a:r>
            <a:endParaRPr/>
          </a:p>
        </p:txBody>
      </p:sp>
      <p:pic>
        <p:nvPicPr>
          <p:cNvPr id="577" name="Google Shape;577;g391190153f5_0_132"/>
          <p:cNvPicPr preferRelativeResize="0"/>
          <p:nvPr/>
        </p:nvPicPr>
        <p:blipFill>
          <a:blip r:embed="rId3">
            <a:alphaModFix/>
          </a:blip>
          <a:stretch>
            <a:fillRect/>
          </a:stretch>
        </p:blipFill>
        <p:spPr>
          <a:xfrm>
            <a:off x="152400" y="2784375"/>
            <a:ext cx="11887198" cy="26942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91190153f5_0_11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Analisis General</a:t>
            </a:r>
            <a:endParaRPr/>
          </a:p>
        </p:txBody>
      </p:sp>
      <p:sp>
        <p:nvSpPr>
          <p:cNvPr id="583" name="Google Shape;583;g391190153f5_0_111"/>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s-CO" sz="2000">
                <a:latin typeface="Arial"/>
                <a:ea typeface="Arial"/>
                <a:cs typeface="Arial"/>
                <a:sym typeface="Arial"/>
              </a:rPr>
              <a:t>Esfuerzo:</a:t>
            </a:r>
            <a:r>
              <a:rPr lang="es-CO" sz="2000">
                <a:latin typeface="Arial"/>
                <a:ea typeface="Arial"/>
                <a:cs typeface="Arial"/>
                <a:sym typeface="Arial"/>
              </a:rPr>
              <a:t> Trabajo constante, coordinación con los trabajos y seguimiento de tareas.</a:t>
            </a:r>
            <a:endParaRPr sz="20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1" lang="es-CO" sz="2000">
                <a:latin typeface="Arial"/>
                <a:ea typeface="Arial"/>
                <a:cs typeface="Arial"/>
                <a:sym typeface="Arial"/>
              </a:rPr>
              <a:t>Producto:</a:t>
            </a:r>
            <a:r>
              <a:rPr lang="es-CO" sz="2000">
                <a:latin typeface="Arial"/>
                <a:ea typeface="Arial"/>
                <a:cs typeface="Arial"/>
                <a:sym typeface="Arial"/>
              </a:rPr>
              <a:t> Sistema funcional, estable, escalable y con buena arquitectura.</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91190153f5_0_11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CO"/>
              <a:t>DOFA</a:t>
            </a:r>
            <a:endParaRPr/>
          </a:p>
        </p:txBody>
      </p:sp>
      <p:sp>
        <p:nvSpPr>
          <p:cNvPr id="589" name="Google Shape;589;g391190153f5_0_116"/>
          <p:cNvSpPr txBox="1"/>
          <p:nvPr>
            <p:ph idx="1" type="body"/>
          </p:nvPr>
        </p:nvSpPr>
        <p:spPr>
          <a:xfrm>
            <a:off x="680325" y="2336875"/>
            <a:ext cx="9613800" cy="4136100"/>
          </a:xfrm>
          <a:prstGeom prst="rect">
            <a:avLst/>
          </a:prstGeom>
        </p:spPr>
        <p:txBody>
          <a:bodyPr anchorCtr="0" anchor="t" bIns="45700" lIns="91425" spcFirstLastPara="1" rIns="91425" wrap="square" tIns="45700">
            <a:normAutofit fontScale="25000" lnSpcReduction="20000"/>
          </a:bodyPr>
          <a:lstStyle/>
          <a:p>
            <a:pPr indent="0" lvl="0" marL="0" rtl="0" algn="l">
              <a:lnSpc>
                <a:spcPct val="200000"/>
              </a:lnSpc>
              <a:spcBef>
                <a:spcPts val="0"/>
              </a:spcBef>
              <a:spcAft>
                <a:spcPts val="0"/>
              </a:spcAft>
              <a:buNone/>
            </a:pPr>
            <a:r>
              <a:rPr lang="es-CO" sz="5200">
                <a:latin typeface="Calibri"/>
                <a:ea typeface="Calibri"/>
                <a:cs typeface="Calibri"/>
                <a:sym typeface="Calibri"/>
              </a:rPr>
              <a:t>Debilidades:</a:t>
            </a:r>
            <a:endParaRPr sz="5200">
              <a:latin typeface="Calibri"/>
              <a:ea typeface="Calibri"/>
              <a:cs typeface="Calibri"/>
              <a:sym typeface="Calibri"/>
            </a:endParaRPr>
          </a:p>
          <a:p>
            <a:pPr indent="0" lvl="0" marL="0" rtl="0" algn="l">
              <a:lnSpc>
                <a:spcPct val="200000"/>
              </a:lnSpc>
              <a:spcBef>
                <a:spcPts val="1200"/>
              </a:spcBef>
              <a:spcAft>
                <a:spcPts val="0"/>
              </a:spcAft>
              <a:buClr>
                <a:schemeClr val="dk1"/>
              </a:buClr>
              <a:buSzPts val="275"/>
              <a:buFont typeface="Arial"/>
              <a:buNone/>
            </a:pPr>
            <a:r>
              <a:rPr lang="es-CO" sz="4800">
                <a:latin typeface="Calibri"/>
                <a:ea typeface="Calibri"/>
                <a:cs typeface="Calibri"/>
                <a:sym typeface="Calibri"/>
              </a:rPr>
              <a:t>1. Sobrecarga de tareas, ya que un solo integrante debe asumir el desarrollo del programa y la elaboración de todos los trabajos del curso, lo que limita el tiempo disponible.</a:t>
            </a:r>
            <a:br>
              <a:rPr lang="es-CO" sz="4800">
                <a:latin typeface="Calibri"/>
                <a:ea typeface="Calibri"/>
                <a:cs typeface="Calibri"/>
                <a:sym typeface="Calibri"/>
              </a:rPr>
            </a:br>
            <a:r>
              <a:rPr lang="es-CO" sz="4800">
                <a:latin typeface="Calibri"/>
                <a:ea typeface="Calibri"/>
                <a:cs typeface="Calibri"/>
                <a:sym typeface="Calibri"/>
              </a:rPr>
              <a:t>2.Riesgo de desmotivación debido a la presión por cumplir resultados dentro de los tiempos establecidos, especialmente al trabajar solo.</a:t>
            </a:r>
            <a:br>
              <a:rPr lang="es-CO" sz="4800">
                <a:latin typeface="Calibri"/>
                <a:ea typeface="Calibri"/>
                <a:cs typeface="Calibri"/>
                <a:sym typeface="Calibri"/>
              </a:rPr>
            </a:br>
            <a:r>
              <a:rPr lang="es-CO" sz="4800">
                <a:latin typeface="Calibri"/>
                <a:ea typeface="Calibri"/>
                <a:cs typeface="Calibri"/>
                <a:sym typeface="Calibri"/>
              </a:rPr>
              <a:t>3.Probables fallos técnicos durante la construcción del software, derivados de la complejidad de las funciones implementadas y la falta de apoyo inmediato para revisión.</a:t>
            </a:r>
            <a:br>
              <a:rPr lang="es-CO" sz="4000">
                <a:latin typeface="Calibri"/>
                <a:ea typeface="Calibri"/>
                <a:cs typeface="Calibri"/>
                <a:sym typeface="Calibri"/>
              </a:rPr>
            </a:br>
            <a:r>
              <a:rPr lang="es-CO" sz="4227">
                <a:latin typeface="Times New Roman"/>
                <a:ea typeface="Times New Roman"/>
                <a:cs typeface="Times New Roman"/>
                <a:sym typeface="Times New Roman"/>
              </a:rPr>
              <a:t>O</a:t>
            </a:r>
            <a:r>
              <a:rPr lang="es-CO" sz="5200">
                <a:latin typeface="Times New Roman"/>
                <a:ea typeface="Times New Roman"/>
                <a:cs typeface="Times New Roman"/>
                <a:sym typeface="Times New Roman"/>
              </a:rPr>
              <a:t>portunidades:</a:t>
            </a:r>
            <a:endParaRPr sz="5200">
              <a:latin typeface="Times New Roman"/>
              <a:ea typeface="Times New Roman"/>
              <a:cs typeface="Times New Roman"/>
              <a:sym typeface="Times New Roman"/>
            </a:endParaRPr>
          </a:p>
          <a:p>
            <a:pPr indent="0" lvl="0" marL="0" rtl="0" algn="l">
              <a:lnSpc>
                <a:spcPct val="200000"/>
              </a:lnSpc>
              <a:spcBef>
                <a:spcPts val="1200"/>
              </a:spcBef>
              <a:spcAft>
                <a:spcPts val="0"/>
              </a:spcAft>
              <a:buClr>
                <a:schemeClr val="dk1"/>
              </a:buClr>
              <a:buSzPts val="275"/>
              <a:buFont typeface="Arial"/>
              <a:buNone/>
            </a:pPr>
            <a:r>
              <a:rPr lang="es-CO" sz="4927">
                <a:latin typeface="Calibri"/>
                <a:ea typeface="Calibri"/>
                <a:cs typeface="Calibri"/>
                <a:sym typeface="Calibri"/>
              </a:rPr>
              <a:t>1.Fortalecimiento de habilidades técnicas y de gestión, ya que asumir múltiples roles permite dominar todas las etapas del proyecto.</a:t>
            </a:r>
            <a:br>
              <a:rPr lang="es-CO" sz="4927">
                <a:latin typeface="Calibri"/>
                <a:ea typeface="Calibri"/>
                <a:cs typeface="Calibri"/>
                <a:sym typeface="Calibri"/>
              </a:rPr>
            </a:br>
            <a:r>
              <a:rPr lang="es-CO" sz="4927">
                <a:latin typeface="Calibri"/>
                <a:ea typeface="Calibri"/>
                <a:cs typeface="Calibri"/>
                <a:sym typeface="Calibri"/>
              </a:rPr>
              <a:t>2.Posibilidad de mejorar la planificación personal, identificando mejores estrategias para distribuir el tiempo y priorizar tareas.</a:t>
            </a:r>
            <a:br>
              <a:rPr lang="es-CO" sz="4927">
                <a:latin typeface="Calibri"/>
                <a:ea typeface="Calibri"/>
                <a:cs typeface="Calibri"/>
                <a:sym typeface="Calibri"/>
              </a:rPr>
            </a:br>
            <a:r>
              <a:rPr lang="es-CO" sz="4927">
                <a:latin typeface="Calibri"/>
                <a:ea typeface="Calibri"/>
                <a:cs typeface="Calibri"/>
                <a:sym typeface="Calibri"/>
              </a:rPr>
              <a:t>3.Aprendizaje profundo del sistema, lo cual facilita detectar errores con mayor rapidez y optimizar futuras versiones.</a:t>
            </a:r>
            <a:br>
              <a:rPr lang="es-CO" sz="4927">
                <a:latin typeface="Calibri"/>
                <a:ea typeface="Calibri"/>
                <a:cs typeface="Calibri"/>
                <a:sym typeface="Calibri"/>
              </a:rPr>
            </a:br>
            <a:r>
              <a:rPr lang="es-CO" sz="4927">
                <a:latin typeface="Calibri"/>
                <a:ea typeface="Calibri"/>
                <a:cs typeface="Calibri"/>
                <a:sym typeface="Calibri"/>
              </a:rPr>
              <a:t>4.Desarrollo de documentación sólida, que puede convertirse en una guía para uno mismo.</a:t>
            </a:r>
            <a:endParaRPr sz="4927">
              <a:latin typeface="Calibri"/>
              <a:ea typeface="Calibri"/>
              <a:cs typeface="Calibri"/>
              <a:sym typeface="Calibri"/>
            </a:endParaRPr>
          </a:p>
          <a:p>
            <a:pPr indent="0" lvl="0" marL="0" rtl="0" algn="l">
              <a:spcBef>
                <a:spcPts val="120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a9c0be0ffa_0_2"/>
          <p:cNvSpPr txBox="1"/>
          <p:nvPr>
            <p:ph idx="1" type="body"/>
          </p:nvPr>
        </p:nvSpPr>
        <p:spPr>
          <a:xfrm>
            <a:off x="680325" y="2336875"/>
            <a:ext cx="9613800" cy="4010700"/>
          </a:xfrm>
          <a:prstGeom prst="rect">
            <a:avLst/>
          </a:prstGeom>
        </p:spPr>
        <p:txBody>
          <a:bodyPr anchorCtr="0" anchor="t" bIns="45700" lIns="91425" spcFirstLastPara="1" rIns="91425" wrap="square" tIns="45700">
            <a:noAutofit/>
          </a:bodyPr>
          <a:lstStyle/>
          <a:p>
            <a:pPr indent="0" lvl="0" marL="0" rtl="0" algn="l">
              <a:lnSpc>
                <a:spcPct val="190000"/>
              </a:lnSpc>
              <a:spcBef>
                <a:spcPts val="0"/>
              </a:spcBef>
              <a:spcAft>
                <a:spcPts val="0"/>
              </a:spcAft>
              <a:buClr>
                <a:schemeClr val="dk1"/>
              </a:buClr>
              <a:buSzPts val="688"/>
              <a:buFont typeface="Arial"/>
              <a:buNone/>
            </a:pPr>
            <a:r>
              <a:rPr lang="es-CO" sz="1300">
                <a:latin typeface="Calibri"/>
                <a:ea typeface="Calibri"/>
                <a:cs typeface="Calibri"/>
                <a:sym typeface="Calibri"/>
              </a:rPr>
              <a:t>Fortalezas:</a:t>
            </a:r>
            <a:endParaRPr sz="1300">
              <a:latin typeface="Calibri"/>
              <a:ea typeface="Calibri"/>
              <a:cs typeface="Calibri"/>
              <a:sym typeface="Calibri"/>
            </a:endParaRPr>
          </a:p>
          <a:p>
            <a:pPr indent="0" lvl="0" marL="0" rtl="0" algn="l">
              <a:lnSpc>
                <a:spcPct val="190000"/>
              </a:lnSpc>
              <a:spcBef>
                <a:spcPts val="1200"/>
              </a:spcBef>
              <a:spcAft>
                <a:spcPts val="0"/>
              </a:spcAft>
              <a:buClr>
                <a:schemeClr val="dk1"/>
              </a:buClr>
              <a:buSzPts val="688"/>
              <a:buFont typeface="Arial"/>
              <a:buNone/>
            </a:pPr>
            <a:r>
              <a:rPr lang="es-CO" sz="1200">
                <a:latin typeface="Calibri"/>
                <a:ea typeface="Calibri"/>
                <a:cs typeface="Calibri"/>
                <a:sym typeface="Calibri"/>
              </a:rPr>
              <a:t>1.Alta dedicación y constancia, reflejada en el avance continuo del proyecto a pesar de la carga de trabajo.</a:t>
            </a:r>
            <a:br>
              <a:rPr lang="es-CO" sz="1200">
                <a:latin typeface="Calibri"/>
                <a:ea typeface="Calibri"/>
                <a:cs typeface="Calibri"/>
                <a:sym typeface="Calibri"/>
              </a:rPr>
            </a:br>
            <a:r>
              <a:rPr lang="es-CO" sz="1200">
                <a:latin typeface="Calibri"/>
                <a:ea typeface="Calibri"/>
                <a:cs typeface="Calibri"/>
                <a:sym typeface="Calibri"/>
              </a:rPr>
              <a:t>2.Control total del código y las decisiones técnicas, evitando conflictos de integración entre múltiples desarrolladores.</a:t>
            </a:r>
            <a:br>
              <a:rPr lang="es-CO" sz="1200">
                <a:latin typeface="Calibri"/>
                <a:ea typeface="Calibri"/>
                <a:cs typeface="Calibri"/>
                <a:sym typeface="Calibri"/>
              </a:rPr>
            </a:br>
            <a:r>
              <a:rPr lang="es-CO" sz="1200">
                <a:latin typeface="Calibri"/>
                <a:ea typeface="Calibri"/>
                <a:cs typeface="Calibri"/>
                <a:sym typeface="Calibri"/>
              </a:rPr>
              <a:t>3.Capacidad de adaptación, corrigiendo errores y ajustando el sistema conforme se avanza.</a:t>
            </a:r>
            <a:br>
              <a:rPr lang="es-CO" sz="1200">
                <a:latin typeface="Calibri"/>
                <a:ea typeface="Calibri"/>
                <a:cs typeface="Calibri"/>
                <a:sym typeface="Calibri"/>
              </a:rPr>
            </a:br>
            <a:r>
              <a:rPr lang="es-CO" sz="1200">
                <a:latin typeface="Calibri"/>
                <a:ea typeface="Calibri"/>
                <a:cs typeface="Calibri"/>
                <a:sym typeface="Calibri"/>
              </a:rPr>
              <a:t>4.Compromiso fuerte con la calidad, evidenciado en las pruebas, revisiones y mejoras aplicadas.</a:t>
            </a:r>
            <a:endParaRPr sz="1200">
              <a:latin typeface="Calibri"/>
              <a:ea typeface="Calibri"/>
              <a:cs typeface="Calibri"/>
              <a:sym typeface="Calibri"/>
            </a:endParaRPr>
          </a:p>
          <a:p>
            <a:pPr indent="0" lvl="0" marL="0" rtl="0" algn="l">
              <a:lnSpc>
                <a:spcPct val="190000"/>
              </a:lnSpc>
              <a:spcBef>
                <a:spcPts val="1200"/>
              </a:spcBef>
              <a:spcAft>
                <a:spcPts val="0"/>
              </a:spcAft>
              <a:buClr>
                <a:schemeClr val="dk1"/>
              </a:buClr>
              <a:buSzPts val="688"/>
              <a:buFont typeface="Arial"/>
              <a:buNone/>
            </a:pPr>
            <a:r>
              <a:rPr lang="es-CO" sz="1337">
                <a:latin typeface="Calibri"/>
                <a:ea typeface="Calibri"/>
                <a:cs typeface="Calibri"/>
                <a:sym typeface="Calibri"/>
              </a:rPr>
              <a:t>Amenazas:</a:t>
            </a:r>
            <a:endParaRPr sz="1337">
              <a:latin typeface="Calibri"/>
              <a:ea typeface="Calibri"/>
              <a:cs typeface="Calibri"/>
              <a:sym typeface="Calibri"/>
            </a:endParaRPr>
          </a:p>
          <a:p>
            <a:pPr indent="0" lvl="0" marL="0" rtl="0" algn="l">
              <a:lnSpc>
                <a:spcPct val="190000"/>
              </a:lnSpc>
              <a:spcBef>
                <a:spcPts val="1200"/>
              </a:spcBef>
              <a:spcAft>
                <a:spcPts val="0"/>
              </a:spcAft>
              <a:buClr>
                <a:schemeClr val="dk1"/>
              </a:buClr>
              <a:buSzPts val="688"/>
              <a:buFont typeface="Arial"/>
              <a:buNone/>
            </a:pPr>
            <a:r>
              <a:rPr lang="es-CO" sz="1200">
                <a:latin typeface="Calibri"/>
                <a:ea typeface="Calibri"/>
                <a:cs typeface="Calibri"/>
                <a:sym typeface="Calibri"/>
              </a:rPr>
              <a:t>1.Retrasos por carga excesiva, que pueden impactar el cumplimiento de entregas críticas.</a:t>
            </a:r>
            <a:br>
              <a:rPr lang="es-CO" sz="1200">
                <a:latin typeface="Calibri"/>
                <a:ea typeface="Calibri"/>
                <a:cs typeface="Calibri"/>
                <a:sym typeface="Calibri"/>
              </a:rPr>
            </a:br>
            <a:r>
              <a:rPr lang="es-CO" sz="1200">
                <a:latin typeface="Calibri"/>
                <a:ea typeface="Calibri"/>
                <a:cs typeface="Calibri"/>
                <a:sym typeface="Calibri"/>
              </a:rPr>
              <a:t>2.Incremento del estrés o agotamiento, afectando la productividad y la motivación.</a:t>
            </a:r>
            <a:br>
              <a:rPr lang="es-CO" sz="1200">
                <a:latin typeface="Calibri"/>
                <a:ea typeface="Calibri"/>
                <a:cs typeface="Calibri"/>
                <a:sym typeface="Calibri"/>
              </a:rPr>
            </a:br>
            <a:r>
              <a:rPr lang="es-CO" sz="1200">
                <a:latin typeface="Calibri"/>
                <a:ea typeface="Calibri"/>
                <a:cs typeface="Calibri"/>
                <a:sym typeface="Calibri"/>
              </a:rPr>
              <a:t>3.Errores no detectados a tiempo, que podrían generar reprocesos o fallos en funcionalidades clave.</a:t>
            </a:r>
            <a:br>
              <a:rPr lang="es-CO" sz="1200">
                <a:latin typeface="Calibri"/>
                <a:ea typeface="Calibri"/>
                <a:cs typeface="Calibri"/>
                <a:sym typeface="Calibri"/>
              </a:rPr>
            </a:br>
            <a:r>
              <a:rPr lang="es-CO" sz="1200">
                <a:latin typeface="Calibri"/>
                <a:ea typeface="Calibri"/>
                <a:cs typeface="Calibri"/>
                <a:sym typeface="Calibri"/>
              </a:rPr>
              <a:t>4.Dependencia total de un solo integrante, lo que implica riesgo si surge un imprevisto personal o académico.</a:t>
            </a:r>
            <a:endParaRPr sz="1200">
              <a:latin typeface="Calibri"/>
              <a:ea typeface="Calibri"/>
              <a:cs typeface="Calibri"/>
              <a:sym typeface="Calibri"/>
            </a:endParaRPr>
          </a:p>
          <a:p>
            <a:pPr indent="0" lvl="0" marL="0" rtl="0" algn="l">
              <a:lnSpc>
                <a:spcPct val="80000"/>
              </a:lnSpc>
              <a:spcBef>
                <a:spcPts val="1200"/>
              </a:spcBef>
              <a:spcAft>
                <a:spcPts val="0"/>
              </a:spcAft>
              <a:buSzPts val="688"/>
              <a:buNone/>
            </a:pPr>
            <a:r>
              <a:t/>
            </a:r>
            <a:endParaRPr sz="15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391190153f5_0_121"/>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CO"/>
              <a:t>Propuesta de mejora</a:t>
            </a:r>
            <a:endParaRPr/>
          </a:p>
        </p:txBody>
      </p:sp>
      <p:sp>
        <p:nvSpPr>
          <p:cNvPr id="600" name="Google Shape;600;g391190153f5_0_121"/>
          <p:cNvSpPr txBox="1"/>
          <p:nvPr>
            <p:ph idx="1" type="body"/>
          </p:nvPr>
        </p:nvSpPr>
        <p:spPr>
          <a:xfrm>
            <a:off x="680321" y="2336873"/>
            <a:ext cx="9613800" cy="3599400"/>
          </a:xfrm>
          <a:prstGeom prst="rect">
            <a:avLst/>
          </a:prstGeom>
        </p:spPr>
        <p:txBody>
          <a:bodyPr anchorCtr="0" anchor="t" bIns="45700" lIns="91425" spcFirstLastPara="1" rIns="91425" wrap="square" tIns="45700">
            <a:normAutofit/>
          </a:bodyPr>
          <a:lstStyle/>
          <a:p>
            <a:pPr indent="0" lvl="0" marL="0" rtl="0" algn="l">
              <a:lnSpc>
                <a:spcPct val="200000"/>
              </a:lnSpc>
              <a:spcBef>
                <a:spcPts val="0"/>
              </a:spcBef>
              <a:spcAft>
                <a:spcPts val="0"/>
              </a:spcAft>
              <a:buClr>
                <a:schemeClr val="dk1"/>
              </a:buClr>
              <a:buSzPts val="1100"/>
              <a:buFont typeface="Arial"/>
              <a:buNone/>
            </a:pPr>
            <a:r>
              <a:rPr lang="es-CO" sz="2100">
                <a:latin typeface="Calibri"/>
                <a:ea typeface="Calibri"/>
                <a:cs typeface="Calibri"/>
                <a:sym typeface="Calibri"/>
              </a:rPr>
              <a:t>1.Mejorar el orden.</a:t>
            </a:r>
            <a:endParaRPr sz="2100">
              <a:latin typeface="Calibri"/>
              <a:ea typeface="Calibri"/>
              <a:cs typeface="Calibri"/>
              <a:sym typeface="Calibri"/>
            </a:endParaRPr>
          </a:p>
          <a:p>
            <a:pPr indent="0" lvl="0" marL="0" rtl="0" algn="l">
              <a:lnSpc>
                <a:spcPct val="200000"/>
              </a:lnSpc>
              <a:spcBef>
                <a:spcPts val="1200"/>
              </a:spcBef>
              <a:spcAft>
                <a:spcPts val="0"/>
              </a:spcAft>
              <a:buClr>
                <a:schemeClr val="dk1"/>
              </a:buClr>
              <a:buSzPts val="1100"/>
              <a:buFont typeface="Arial"/>
              <a:buNone/>
            </a:pPr>
            <a:r>
              <a:rPr lang="es-CO" sz="2100">
                <a:latin typeface="Calibri"/>
                <a:ea typeface="Calibri"/>
                <a:cs typeface="Calibri"/>
                <a:sym typeface="Calibri"/>
              </a:rPr>
              <a:t>2.Tener en cuenta las fechas de las entregas.</a:t>
            </a:r>
            <a:endParaRPr sz="2100">
              <a:latin typeface="Calibri"/>
              <a:ea typeface="Calibri"/>
              <a:cs typeface="Calibri"/>
              <a:sym typeface="Calibri"/>
            </a:endParaRPr>
          </a:p>
          <a:p>
            <a:pPr indent="0" lvl="0" marL="0" rtl="0" algn="l">
              <a:lnSpc>
                <a:spcPct val="200000"/>
              </a:lnSpc>
              <a:spcBef>
                <a:spcPts val="1200"/>
              </a:spcBef>
              <a:spcAft>
                <a:spcPts val="0"/>
              </a:spcAft>
              <a:buClr>
                <a:schemeClr val="dk1"/>
              </a:buClr>
              <a:buSzPts val="1100"/>
              <a:buFont typeface="Arial"/>
              <a:buNone/>
            </a:pPr>
            <a:r>
              <a:rPr lang="es-CO" sz="2100">
                <a:latin typeface="Calibri"/>
                <a:ea typeface="Calibri"/>
                <a:cs typeface="Calibri"/>
                <a:sym typeface="Calibri"/>
              </a:rPr>
              <a:t>3.Manejar bien los tiempos para evitar los retrasos.</a:t>
            </a:r>
            <a:endParaRPr sz="2100">
              <a:latin typeface="Calibri"/>
              <a:ea typeface="Calibri"/>
              <a:cs typeface="Calibri"/>
              <a:sym typeface="Calibri"/>
            </a:endParaRPr>
          </a:p>
          <a:p>
            <a:pPr indent="0" lvl="0" marL="0" rtl="0" algn="l">
              <a:spcBef>
                <a:spcPts val="1200"/>
              </a:spcBef>
              <a:spcAft>
                <a:spcPts val="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91190153f5_0_126"/>
          <p:cNvSpPr txBox="1"/>
          <p:nvPr>
            <p:ph type="title"/>
          </p:nvPr>
        </p:nvSpPr>
        <p:spPr>
          <a:xfrm>
            <a:off x="680321" y="753228"/>
            <a:ext cx="9613800" cy="1080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CO"/>
              <a:t>Conclusiones</a:t>
            </a:r>
            <a:endParaRPr/>
          </a:p>
        </p:txBody>
      </p:sp>
      <p:sp>
        <p:nvSpPr>
          <p:cNvPr id="606" name="Google Shape;606;g391190153f5_0_126"/>
          <p:cNvSpPr txBox="1"/>
          <p:nvPr>
            <p:ph idx="1" type="body"/>
          </p:nvPr>
        </p:nvSpPr>
        <p:spPr>
          <a:xfrm>
            <a:off x="109825" y="2014775"/>
            <a:ext cx="11079900" cy="4680600"/>
          </a:xfrm>
          <a:prstGeom prst="rect">
            <a:avLst/>
          </a:prstGeom>
        </p:spPr>
        <p:txBody>
          <a:bodyPr anchorCtr="0" anchor="t" bIns="45700" lIns="91425" spcFirstLastPara="1" rIns="91425" wrap="square" tIns="45700">
            <a:normAutofit fontScale="40000" lnSpcReduction="20000"/>
          </a:bodyPr>
          <a:lstStyle/>
          <a:p>
            <a:pPr indent="0" lvl="0" marL="0" rtl="0" algn="l">
              <a:lnSpc>
                <a:spcPct val="115000"/>
              </a:lnSpc>
              <a:spcBef>
                <a:spcPts val="1200"/>
              </a:spcBef>
              <a:spcAft>
                <a:spcPts val="0"/>
              </a:spcAft>
              <a:buNone/>
            </a:pPr>
            <a:r>
              <a:rPr lang="es-CO" sz="5428">
                <a:latin typeface="Calibri"/>
                <a:ea typeface="Calibri"/>
                <a:cs typeface="Calibri"/>
                <a:sym typeface="Calibri"/>
              </a:rPr>
              <a:t>LogiApp cumplió plenamente los objetivos del proyecto, consolidándose como una herramienta funcional, estable y fácil de usar. Desde las primeras fases, se aseguró que el sistema respondiera a los requerimientos técnicos y operativos, mostrando confiabilidad y solidez durante las pruebas. La interfaz intuitiva y la correcta implementación de servicios, notificaciones y seguimiento de envíos confirman que el sistema satisface las expectativas del cliente y los criterios de calidad definidos.</a:t>
            </a:r>
            <a:endParaRPr sz="5428">
              <a:latin typeface="Calibri"/>
              <a:ea typeface="Calibri"/>
              <a:cs typeface="Calibri"/>
              <a:sym typeface="Calibri"/>
            </a:endParaRPr>
          </a:p>
          <a:p>
            <a:pPr indent="0" lvl="0" marL="0" rtl="0" algn="l">
              <a:lnSpc>
                <a:spcPct val="115000"/>
              </a:lnSpc>
              <a:spcBef>
                <a:spcPts val="1200"/>
              </a:spcBef>
              <a:spcAft>
                <a:spcPts val="0"/>
              </a:spcAft>
              <a:buNone/>
            </a:pPr>
            <a:r>
              <a:rPr lang="es-CO" sz="5428">
                <a:latin typeface="Calibri"/>
                <a:ea typeface="Calibri"/>
                <a:cs typeface="Calibri"/>
                <a:sym typeface="Calibri"/>
              </a:rPr>
              <a:t>Su arquitectura modular facilita mantenimiento, escalabilidad e integración con componentes externos, permitiendo la incorporación de nuevas funcionalidades sin afectar la estabilidad. Esto asegura que LogiApp pueda adaptarse a futuras necesidades y evoluciones tecnológicas, garantizando su utilidad y vigencia a largo plazo.</a:t>
            </a:r>
            <a:endParaRPr sz="5428">
              <a:latin typeface="Calibri"/>
              <a:ea typeface="Calibri"/>
              <a:cs typeface="Calibri"/>
              <a:sym typeface="Calibri"/>
            </a:endParaRPr>
          </a:p>
          <a:p>
            <a:pPr indent="0" lvl="0" marL="0" rtl="0" algn="l">
              <a:lnSpc>
                <a:spcPct val="200000"/>
              </a:lnSpc>
              <a:spcBef>
                <a:spcPts val="1200"/>
              </a:spcBef>
              <a:spcAft>
                <a:spcPts val="0"/>
              </a:spcAft>
              <a:buNone/>
            </a:pPr>
            <a:r>
              <a:t/>
            </a:r>
            <a:endParaRPr sz="5428">
              <a:latin typeface="Calibri"/>
              <a:ea typeface="Calibri"/>
              <a:cs typeface="Calibri"/>
              <a:sym typeface="Calibri"/>
            </a:endParaRPr>
          </a:p>
          <a:p>
            <a:pPr indent="0" lvl="0" marL="0" rtl="0" algn="l">
              <a:spcBef>
                <a:spcPts val="1200"/>
              </a:spcBef>
              <a:spcAft>
                <a:spcPts val="0"/>
              </a:spcAft>
              <a:buClr>
                <a:schemeClr val="dk1"/>
              </a:buClr>
              <a:buSzPct val="45833"/>
              <a:buFont typeface="Arial"/>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rlín">
  <a:themeElements>
    <a:clrScheme name="Berlin">
      <a:dk1>
        <a:srgbClr val="000000"/>
      </a:dk1>
      <a:lt1>
        <a:srgbClr val="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2025-11-21T00:31:35Z</dcterms:created>
  <dc:creator>NICOLAS ESTEBAN CALVO OSPINA</dc:creator>
</cp:coreProperties>
</file>